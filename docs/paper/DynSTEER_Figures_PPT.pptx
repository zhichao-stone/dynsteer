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cf9fc99ff4b69" /><Relationship Type="http://schemas.openxmlformats.org/officeDocument/2006/relationships/extended-properties" Target="/docProps/app.xml" Id="R34e9e90672d3488a" /><Relationship Type="http://schemas.openxmlformats.org/officeDocument/2006/relationships/officeDocument" Target="/ppt/presentation.xml" Id="R4f375bc9348741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008e920f4f412f"/>
  </p:sldMasterIdLst>
  <p:notesMasterIdLst>
    <p:notesMasterId xmlns:r="http://schemas.openxmlformats.org/officeDocument/2006/relationships" r:id="Rf1fe7da3e3c0439c"/>
  </p:notesMasterIdLst>
  <p:sldIdLst>
    <p:sldId xmlns:r="http://schemas.openxmlformats.org/officeDocument/2006/relationships" id="256" r:id="R96b228dc2193420f"/>
    <p:sldId xmlns:r="http://schemas.openxmlformats.org/officeDocument/2006/relationships" id="257" r:id="R3515928ef73d483c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31574d5eb44453" /><Relationship Type="http://schemas.openxmlformats.org/officeDocument/2006/relationships/slideMaster" Target="/ppt/slideMasters/slideMaster1.xml" Id="Rd8008e920f4f412f" /><Relationship Type="http://schemas.openxmlformats.org/officeDocument/2006/relationships/notesMaster" Target="/ppt/notesMasters/notesMaster1.xml" Id="Rf1fe7da3e3c0439c" /><Relationship Type="http://schemas.openxmlformats.org/officeDocument/2006/relationships/presProps" Target="/ppt/presProps.xml" Id="Re5e20d2d3b2d462e" /><Relationship Type="http://schemas.openxmlformats.org/officeDocument/2006/relationships/viewProps" Target="/ppt/viewProps.xml" Id="Rda7b9be149314824" /><Relationship Type="http://schemas.openxmlformats.org/officeDocument/2006/relationships/tableStyles" Target="/ppt/tableStyles.xml" Id="R04ee23146ec54eb6" /><Relationship Type="http://schemas.openxmlformats.org/officeDocument/2006/relationships/slide" Target="/ppt/slides/slide1.xml" Id="R96b228dc2193420f" /><Relationship Type="http://schemas.openxmlformats.org/officeDocument/2006/relationships/slide" Target="/ppt/slides/slide2.xml" Id="R3515928ef73d48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778106a38e40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8100" dir="5400000">
              <a:srgbClr val="0F172A">
                <a:alpha val="6000"/>
              </a:srgbClr>
            </a:outerShdw>
          </a:effectLst>
        </a:effectStyle>
        <a:effectStyle>
          <a:effectLst>
            <a:outerShdw blurRad="114300" dist="51294" dir="4091915">
              <a:srgbClr val="0F172A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69897a73c34070" /><Relationship Type="http://schemas.openxmlformats.org/officeDocument/2006/relationships/notesMaster" Target="/ppt/notesMasters/notesMaster1.xml" Id="R0f351d84ca354a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776367a0614106" /><Relationship Type="http://schemas.openxmlformats.org/officeDocument/2006/relationships/notesMaster" Target="/ppt/notesMasters/notesMaster1.xml" Id="R2b631931b5814e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conversion of docs/paper/iclr2027/figures/overall-framework.svg. Geometry, colors, labels, font scale, and icon placements follow the finalized PNG at 1600 x 1000.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4b0a7e8d14f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cb9e0787cb485b" /><Relationship Type="http://schemas.openxmlformats.org/officeDocument/2006/relationships/slideLayout" Target="/ppt/slideLayouts/slideLayout1.xml" Id="Ra1887148ae8648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887148ae8648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8100" dir="5400000">
              <a:srgbClr val="0F172A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01221315f4433" /><Relationship Type="http://schemas.openxmlformats.org/officeDocument/2006/relationships/image" Target="/ppt/media/image.png" Id="R0190d530b0f2432d" /><Relationship Type="http://schemas.openxmlformats.org/officeDocument/2006/relationships/image" Target="/ppt/media/image2.png" Id="R370aabe57fcf4db0" /><Relationship Type="http://schemas.openxmlformats.org/officeDocument/2006/relationships/image" Target="/ppt/media/image3.png" Id="R398418a8d6224113" /><Relationship Type="http://schemas.openxmlformats.org/officeDocument/2006/relationships/image" Target="/ppt/media/image4.png" Id="R9976f43384ea4064" /><Relationship Type="http://schemas.openxmlformats.org/officeDocument/2006/relationships/image" Target="/ppt/media/image5.png" Id="Reeaae0c7622f4877" /><Relationship Type="http://schemas.openxmlformats.org/officeDocument/2006/relationships/image" Target="/ppt/media/image6.png" Id="R8cb2551a75b84877" /><Relationship Type="http://schemas.openxmlformats.org/officeDocument/2006/relationships/image" Target="/ppt/media/image7.png" Id="R6a67cd4aef9141e6" /><Relationship Type="http://schemas.openxmlformats.org/officeDocument/2006/relationships/image" Target="/ppt/media/image8.png" Id="R4e31486197ee4d9a" /><Relationship Type="http://schemas.openxmlformats.org/officeDocument/2006/relationships/image" Target="/ppt/media/image9.png" Id="R74b339c9059a4c65" /><Relationship Type="http://schemas.openxmlformats.org/officeDocument/2006/relationships/image" Target="/ppt/media/image10.png" Id="Ra1ae15c4a3944e75" /><Relationship Type="http://schemas.openxmlformats.org/officeDocument/2006/relationships/image" Target="/ppt/media/image11.png" Id="Rc3b5e17e7bb3442f" /><Relationship Type="http://schemas.openxmlformats.org/officeDocument/2006/relationships/image" Target="/ppt/media/image12.png" Id="Rdbbb05858aca4fc8" /><Relationship Type="http://schemas.openxmlformats.org/officeDocument/2006/relationships/image" Target="/ppt/media/image13.png" Id="Rff781c986dae48cf" /><Relationship Type="http://schemas.openxmlformats.org/officeDocument/2006/relationships/notesSlide" Target="/ppt/notesSlides/notesSlide1.xml" Id="R6a66d79339314e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8c4f9f2ae40e7" /><Relationship Type="http://schemas.openxmlformats.org/officeDocument/2006/relationships/notesSlide" Target="/ppt/notesSlides/notesSlide2.xml" Id="R3bf3a6d1c3144c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5" name="rect-1">
            <a:extLst xmlns:a="http://schemas.openxmlformats.org/drawingml/2006/main">
              <a:ext uri="{FF2B5EF4-FFF2-40B4-BE49-F238E27FC236}">
                <a16:creationId xmlns:a16="http://schemas.microsoft.com/office/drawing/2014/main" id="{5EB0E0D3-4A1D-4F90-9CA1-D7A6ABEB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4573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" name="rect-2">
            <a:extLst xmlns:a="http://schemas.openxmlformats.org/drawingml/2006/main">
              <a:ext uri="{FF2B5EF4-FFF2-40B4-BE49-F238E27FC236}">
                <a16:creationId xmlns:a16="http://schemas.microsoft.com/office/drawing/2014/main" id="{1B02108A-6864-4FDF-A05B-6721F7E4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0500"/>
            <a:ext cx="1457325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" name="circle-3">
            <a:extLst xmlns:a="http://schemas.openxmlformats.org/drawingml/2006/main">
              <a:ext uri="{FF2B5EF4-FFF2-40B4-BE49-F238E27FC236}">
                <a16:creationId xmlns:a16="http://schemas.microsoft.com/office/drawing/2014/main" id="{5CF45A7A-4702-4DE7-9D8D-603DE5F7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6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26E2404-6202-4A4A-BAC2-177238F5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2608"/>
            <a:ext cx="342900" cy="202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16D2EAD-54CF-475A-9D5D-C7177CBF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3840"/>
            <a:ext cx="5791200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Milestone Graph Generation and Consensus Merge</a:t>
            </a:r>
          </a:p>
        </p:txBody>
      </p:sp>
      <p:sp>
        <p:nvSpPr>
          <p:cNvPr id="6" name="rect-6">
            <a:extLst xmlns:a="http://schemas.openxmlformats.org/drawingml/2006/main">
              <a:ext uri="{FF2B5EF4-FFF2-40B4-BE49-F238E27FC236}">
                <a16:creationId xmlns:a16="http://schemas.microsoft.com/office/drawing/2014/main" id="{4C5B6EF1-3D02-4D78-A3A8-D2A67772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257175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0d530b0f2432d"/>
          <a:stretch xmlns:a="http://schemas.openxmlformats.org/drawingml/2006/main"/>
        </p:blipFill>
        <p:spPr>
          <a:xfrm xmlns:a="http://schemas.openxmlformats.org/drawingml/2006/main">
            <a:off x="704850" y="762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EDC0C85D-FA02-4427-B377-F1646822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9143"/>
            <a:ext cx="15811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Public task view</a:t>
            </a:r>
          </a:p>
        </p:txBody>
      </p:sp>
      <p:sp>
        <p:nvSpPr>
          <p:cNvPr id="9" name="rect-9">
            <a:extLst xmlns:a="http://schemas.openxmlformats.org/drawingml/2006/main">
              <a:ext uri="{FF2B5EF4-FFF2-40B4-BE49-F238E27FC236}">
                <a16:creationId xmlns:a16="http://schemas.microsoft.com/office/drawing/2014/main" id="{ED967509-274F-4D42-848A-33C09E0E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2305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aabe57fcf4db0"/>
          <a:stretch xmlns:a="http://schemas.openxmlformats.org/drawingml/2006/main"/>
        </p:blipFill>
        <p:spPr>
          <a:xfrm xmlns:a="http://schemas.openxmlformats.org/drawingml/2006/main">
            <a:off x="800100" y="10858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B17F51F-DFF5-4723-9860-2AFC0F31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83374"/>
            <a:ext cx="980599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Instruction</a:t>
            </a:r>
          </a:p>
        </p:txBody>
      </p:sp>
      <p:sp>
        <p:nvSpPr>
          <p:cNvPr id="12" name="rect-12">
            <a:extLst xmlns:a="http://schemas.openxmlformats.org/drawingml/2006/main">
              <a:ext uri="{FF2B5EF4-FFF2-40B4-BE49-F238E27FC236}">
                <a16:creationId xmlns:a16="http://schemas.microsoft.com/office/drawing/2014/main" id="{F6696307-C4A6-488D-820E-FAA8E3CB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2305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418a8d6224113"/>
          <a:stretch xmlns:a="http://schemas.openxmlformats.org/drawingml/2006/main"/>
        </p:blipFill>
        <p:spPr>
          <a:xfrm xmlns:a="http://schemas.openxmlformats.org/drawingml/2006/main">
            <a:off x="800100" y="14859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F6C0BA7F-3B4D-4D10-B6A7-EB799B38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83424"/>
            <a:ext cx="1061085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Tool schemas</a:t>
            </a:r>
          </a:p>
        </p:txBody>
      </p:sp>
      <p:sp>
        <p:nvSpPr>
          <p:cNvPr id="15" name="rect-15">
            <a:extLst xmlns:a="http://schemas.openxmlformats.org/drawingml/2006/main">
              <a:ext uri="{FF2B5EF4-FFF2-40B4-BE49-F238E27FC236}">
                <a16:creationId xmlns:a16="http://schemas.microsoft.com/office/drawing/2014/main" id="{943CE4AD-9DC9-4618-9E7D-96135897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305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6f43384ea4064"/>
          <a:stretch xmlns:a="http://schemas.openxmlformats.org/drawingml/2006/main"/>
        </p:blipFill>
        <p:spPr>
          <a:xfrm xmlns:a="http://schemas.openxmlformats.org/drawingml/2006/main">
            <a:off x="800100" y="18859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4D54368E-42F7-4BFC-B572-0C8F47BB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3474"/>
            <a:ext cx="1383030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Initial metadata</a:t>
            </a:r>
          </a:p>
        </p:txBody>
      </p:sp>
      <p:sp>
        <p:nvSpPr>
          <p:cNvPr id="18" name="rect-18">
            <a:extLst xmlns:a="http://schemas.openxmlformats.org/drawingml/2006/main">
              <a:ext uri="{FF2B5EF4-FFF2-40B4-BE49-F238E27FC236}">
                <a16:creationId xmlns:a16="http://schemas.microsoft.com/office/drawing/2014/main" id="{1447DBB5-4A12-4A74-AA92-0F80A3C8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30505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897FBF53-937F-4489-A99D-01535A74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6564"/>
            <a:ext cx="1804035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No gold path / no tests</a:t>
            </a:r>
          </a:p>
        </p:txBody>
      </p:sp>
      <p:sp>
        <p:nvSpPr>
          <p:cNvPr id="20" name="poly-332-168">
            <a:extLst xmlns:a="http://schemas.openxmlformats.org/drawingml/2006/main">
              <a:ext uri="{FF2B5EF4-FFF2-40B4-BE49-F238E27FC236}">
                <a16:creationId xmlns:a16="http://schemas.microsoft.com/office/drawing/2014/main" id="{415134FE-B120-48BA-B269-312FEDFA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0200"/>
            <a:ext cx="142875" cy="9525"/>
          </a:xfrm>
          <a:custGeom xmlns:a="http://schemas.openxmlformats.org/drawingml/2006/main"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563EB"/>
            </a:solidFill>
            <a:prstDash val="solid"/>
          </a:ln>
        </p:spPr>
      </p:sp>
      <p:sp>
        <p:nvSpPr>
          <p:cNvPr id="21" name="poly-338-164">
            <a:extLst xmlns:a="http://schemas.openxmlformats.org/drawingml/2006/main">
              <a:ext uri="{FF2B5EF4-FFF2-40B4-BE49-F238E27FC236}">
                <a16:creationId xmlns:a16="http://schemas.microsoft.com/office/drawing/2014/main" id="{8F6B8490-71C8-47E0-836E-5E99A6D5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831" y="1557338"/>
            <a:ext cx="83344" cy="85725"/>
          </a:xfrm>
          <a:custGeom xmlns:a="http://schemas.openxmlformats.org/drawingml/2006/main">
            <a:pathLst>
              <a:path w="83344" h="85725">
                <a:moveTo>
                  <a:pt x="83344" y="42863"/>
                </a:moveTo>
                <a:lnTo>
                  <a:pt x="0" y="85725"/>
                </a:lnTo>
                <a:lnTo>
                  <a:pt x="0" y="0"/>
                </a:lnTo>
                <a:lnTo>
                  <a:pt x="83344" y="42863"/>
                </a:lnTo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4763">
            <a:solidFill>
              <a:srgbClr val="2563EB"/>
            </a:solidFill>
            <a:prstDash val="solid"/>
          </a:ln>
        </p:spPr>
      </p:sp>
      <p:sp>
        <p:nvSpPr>
          <p:cNvPr id="22" name="rect-21">
            <a:extLst xmlns:a="http://schemas.openxmlformats.org/drawingml/2006/main">
              <a:ext uri="{FF2B5EF4-FFF2-40B4-BE49-F238E27FC236}">
                <a16:creationId xmlns:a16="http://schemas.microsoft.com/office/drawing/2014/main" id="{06F2325E-1B6D-42F3-921A-5D1D633F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85800"/>
            <a:ext cx="476250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</p:sp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ae0c7622f4877"/>
          <a:stretch xmlns:a="http://schemas.openxmlformats.org/drawingml/2006/main"/>
        </p:blipFill>
        <p:spPr>
          <a:xfrm xmlns:a="http://schemas.openxmlformats.org/drawingml/2006/main">
            <a:off x="3467100" y="762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2ED593E3-2346-40B4-90B9-FD1C4814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59143"/>
            <a:ext cx="2509838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Simulated candidate graphs</a:t>
            </a:r>
          </a:p>
        </p:txBody>
      </p:sp>
      <p:sp>
        <p:nvSpPr>
          <p:cNvPr id="25" name="rect-24">
            <a:extLst xmlns:a="http://schemas.openxmlformats.org/drawingml/2006/main">
              <a:ext uri="{FF2B5EF4-FFF2-40B4-BE49-F238E27FC236}">
                <a16:creationId xmlns:a16="http://schemas.microsoft.com/office/drawing/2014/main" id="{1792FFB7-C846-4CB8-B1B0-5CEC8163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990600"/>
            <a:ext cx="1333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B7F164BC-1896-47AD-9456-A8FE62EB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35749"/>
            <a:ext cx="342900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C1</a:t>
            </a:r>
          </a:p>
        </p:txBody>
      </p:sp>
      <p:sp>
        <p:nvSpPr>
          <p:cNvPr id="27" name="rect-26">
            <a:extLst xmlns:a="http://schemas.openxmlformats.org/drawingml/2006/main">
              <a:ext uri="{FF2B5EF4-FFF2-40B4-BE49-F238E27FC236}">
                <a16:creationId xmlns:a16="http://schemas.microsoft.com/office/drawing/2014/main" id="{FBA3F0E0-64ED-4D6F-9554-18A0DE40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257300"/>
            <a:ext cx="4953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C288F7D3-2B6F-453E-B638-F0945655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28378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M0</a:t>
            </a:r>
          </a:p>
        </p:txBody>
      </p:sp>
      <p:sp>
        <p:nvSpPr>
          <p:cNvPr id="29" name="rect-28">
            <a:extLst xmlns:a="http://schemas.openxmlformats.org/drawingml/2006/main">
              <a:ext uri="{FF2B5EF4-FFF2-40B4-BE49-F238E27FC236}">
                <a16:creationId xmlns:a16="http://schemas.microsoft.com/office/drawing/2014/main" id="{99881713-020C-48B6-9378-6F5AB41B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43050"/>
            <a:ext cx="4953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15EF2E33-9101-46D3-A918-3E14B666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56953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M1a</a:t>
            </a:r>
          </a:p>
        </p:txBody>
      </p:sp>
      <p:sp>
        <p:nvSpPr>
          <p:cNvPr id="31" name="rect-30">
            <a:extLst xmlns:a="http://schemas.openxmlformats.org/drawingml/2006/main">
              <a:ext uri="{FF2B5EF4-FFF2-40B4-BE49-F238E27FC236}">
                <a16:creationId xmlns:a16="http://schemas.microsoft.com/office/drawing/2014/main" id="{A0B69F53-52C9-4313-B99C-B7FBCC48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28800"/>
            <a:ext cx="4953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3F7D7B4B-6717-49BA-826C-50545FB0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5528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M2</a:t>
            </a:r>
          </a:p>
        </p:txBody>
      </p:sp>
      <p:sp>
        <p:nvSpPr>
          <p:cNvPr id="33" name="poly-451-152">
            <a:extLst xmlns:a="http://schemas.openxmlformats.org/drawingml/2006/main">
              <a:ext uri="{FF2B5EF4-FFF2-40B4-BE49-F238E27FC236}">
                <a16:creationId xmlns:a16="http://schemas.microsoft.com/office/drawing/2014/main" id="{19B02C98-C75C-4EA8-9C90-80844E9E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4780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0A5FA"/>
            </a:solidFill>
            <a:prstDash val="solid"/>
          </a:ln>
        </p:spPr>
      </p:sp>
      <p:sp>
        <p:nvSpPr>
          <p:cNvPr id="34" name="poly-451-182">
            <a:extLst xmlns:a="http://schemas.openxmlformats.org/drawingml/2006/main">
              <a:ext uri="{FF2B5EF4-FFF2-40B4-BE49-F238E27FC236}">
                <a16:creationId xmlns:a16="http://schemas.microsoft.com/office/drawing/2014/main" id="{928DE52E-E44B-40E6-884E-C2ABD038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0A5FA"/>
            </a:solidFill>
            <a:prstDash val="solid"/>
          </a:ln>
        </p:spPr>
      </p:sp>
      <p:sp>
        <p:nvSpPr>
          <p:cNvPr id="35" name="rect-33">
            <a:extLst xmlns:a="http://schemas.openxmlformats.org/drawingml/2006/main">
              <a:ext uri="{FF2B5EF4-FFF2-40B4-BE49-F238E27FC236}">
                <a16:creationId xmlns:a16="http://schemas.microsoft.com/office/drawing/2014/main" id="{5B0DE7D6-24FD-42E5-8FB7-FB64BA2D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90600"/>
            <a:ext cx="1333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text-34">
            <a:extLst xmlns:a="http://schemas.openxmlformats.org/drawingml/2006/main">
              <a:ext uri="{FF2B5EF4-FFF2-40B4-BE49-F238E27FC236}">
                <a16:creationId xmlns:a16="http://schemas.microsoft.com/office/drawing/2014/main" id="{56C2FFD9-D1B7-4D75-A19D-BCB5E28B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035749"/>
            <a:ext cx="342900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C2</a:t>
            </a:r>
          </a:p>
        </p:txBody>
      </p:sp>
      <p:sp>
        <p:nvSpPr>
          <p:cNvPr id="37" name="rect-35">
            <a:extLst xmlns:a="http://schemas.openxmlformats.org/drawingml/2006/main">
              <a:ext uri="{FF2B5EF4-FFF2-40B4-BE49-F238E27FC236}">
                <a16:creationId xmlns:a16="http://schemas.microsoft.com/office/drawing/2014/main" id="{E9DAE501-79B4-4FB4-AAA8-FEEE39C2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257300"/>
            <a:ext cx="4953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38" name="text-36">
            <a:extLst xmlns:a="http://schemas.openxmlformats.org/drawingml/2006/main">
              <a:ext uri="{FF2B5EF4-FFF2-40B4-BE49-F238E27FC236}">
                <a16:creationId xmlns:a16="http://schemas.microsoft.com/office/drawing/2014/main" id="{35C010BF-3536-48F4-9CD7-04D45FD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28378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5F46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M0</a:t>
            </a:r>
          </a:p>
        </p:txBody>
      </p:sp>
      <p:sp>
        <p:nvSpPr>
          <p:cNvPr id="39" name="rect-37">
            <a:extLst xmlns:a="http://schemas.openxmlformats.org/drawingml/2006/main">
              <a:ext uri="{FF2B5EF4-FFF2-40B4-BE49-F238E27FC236}">
                <a16:creationId xmlns:a16="http://schemas.microsoft.com/office/drawing/2014/main" id="{01F3F8EB-E160-4EFA-B041-31EB8FB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43050"/>
            <a:ext cx="4953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40" name="text-38">
            <a:extLst xmlns:a="http://schemas.openxmlformats.org/drawingml/2006/main">
              <a:ext uri="{FF2B5EF4-FFF2-40B4-BE49-F238E27FC236}">
                <a16:creationId xmlns:a16="http://schemas.microsoft.com/office/drawing/2014/main" id="{9B834F3A-4A35-4668-9526-BADFAE24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6953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5F46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M1b</a:t>
            </a:r>
          </a:p>
        </p:txBody>
      </p:sp>
      <p:sp>
        <p:nvSpPr>
          <p:cNvPr id="41" name="rect-39">
            <a:extLst xmlns:a="http://schemas.openxmlformats.org/drawingml/2006/main">
              <a:ext uri="{FF2B5EF4-FFF2-40B4-BE49-F238E27FC236}">
                <a16:creationId xmlns:a16="http://schemas.microsoft.com/office/drawing/2014/main" id="{BB7F394A-4D8A-48EE-81F0-D695A267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28800"/>
            <a:ext cx="4953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42" name="text-40">
            <a:extLst xmlns:a="http://schemas.openxmlformats.org/drawingml/2006/main">
              <a:ext uri="{FF2B5EF4-FFF2-40B4-BE49-F238E27FC236}">
                <a16:creationId xmlns:a16="http://schemas.microsoft.com/office/drawing/2014/main" id="{E08FCBF6-AA41-4BB4-8C24-0A64E612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5528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5F46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M2</a:t>
            </a:r>
          </a:p>
        </p:txBody>
      </p:sp>
      <p:sp>
        <p:nvSpPr>
          <p:cNvPr id="43" name="poly-611-152">
            <a:extLst xmlns:a="http://schemas.openxmlformats.org/drawingml/2006/main">
              <a:ext uri="{FF2B5EF4-FFF2-40B4-BE49-F238E27FC236}">
                <a16:creationId xmlns:a16="http://schemas.microsoft.com/office/drawing/2014/main" id="{CA0E35E0-013E-4807-9550-3934D5FC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44780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4D399"/>
            </a:solidFill>
            <a:prstDash val="solid"/>
          </a:ln>
        </p:spPr>
      </p:sp>
      <p:sp>
        <p:nvSpPr>
          <p:cNvPr id="44" name="poly-611-182">
            <a:extLst xmlns:a="http://schemas.openxmlformats.org/drawingml/2006/main">
              <a:ext uri="{FF2B5EF4-FFF2-40B4-BE49-F238E27FC236}">
                <a16:creationId xmlns:a16="http://schemas.microsoft.com/office/drawing/2014/main" id="{56158321-3A63-4B60-8128-CEFF8D7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73355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4D399"/>
            </a:solidFill>
            <a:prstDash val="solid"/>
          </a:ln>
        </p:spPr>
      </p:sp>
      <p:sp>
        <p:nvSpPr>
          <p:cNvPr id="45" name="rect-42">
            <a:extLst xmlns:a="http://schemas.openxmlformats.org/drawingml/2006/main">
              <a:ext uri="{FF2B5EF4-FFF2-40B4-BE49-F238E27FC236}">
                <a16:creationId xmlns:a16="http://schemas.microsoft.com/office/drawing/2014/main" id="{7ECA8BCA-9DB6-40A6-9507-3E83DB93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1333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46" name="text-43">
            <a:extLst xmlns:a="http://schemas.openxmlformats.org/drawingml/2006/main">
              <a:ext uri="{FF2B5EF4-FFF2-40B4-BE49-F238E27FC236}">
                <a16:creationId xmlns:a16="http://schemas.microsoft.com/office/drawing/2014/main" id="{2CECF43B-CC0D-4C40-B50A-E012A9A1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035749"/>
            <a:ext cx="342900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2400E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92400E"/>
                </a:solidFill>
                <a:latin typeface="Segoe UI"/>
                <a:ea typeface="Segoe UI"/>
                <a:cs typeface="Segoe UI"/>
              </a:rPr>
              <a:t>C3</a:t>
            </a:r>
          </a:p>
        </p:txBody>
      </p:sp>
      <p:sp>
        <p:nvSpPr>
          <p:cNvPr id="47" name="rect-44">
            <a:extLst xmlns:a="http://schemas.openxmlformats.org/drawingml/2006/main">
              <a:ext uri="{FF2B5EF4-FFF2-40B4-BE49-F238E27FC236}">
                <a16:creationId xmlns:a16="http://schemas.microsoft.com/office/drawing/2014/main" id="{228B6634-0998-4C5E-B782-15070993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57300"/>
            <a:ext cx="4953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EF9C3"/>
          </a:solidFill>
          <a:ln xmlns:a="http://schemas.openxmlformats.org/drawingml/2006/main" w="9525">
            <a:solidFill>
              <a:srgbClr val="FACC15"/>
            </a:solidFill>
            <a:prstDash val="solid"/>
          </a:ln>
        </p:spPr>
      </p:sp>
      <p:sp>
        <p:nvSpPr>
          <p:cNvPr id="48" name="text-45">
            <a:extLst xmlns:a="http://schemas.openxmlformats.org/drawingml/2006/main">
              <a:ext uri="{FF2B5EF4-FFF2-40B4-BE49-F238E27FC236}">
                <a16:creationId xmlns:a16="http://schemas.microsoft.com/office/drawing/2014/main" id="{F48455AB-01C2-4832-9BFA-2A3E9AFE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28378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54D0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54D0E"/>
                </a:solidFill>
                <a:latin typeface="Segoe UI"/>
                <a:ea typeface="Segoe UI"/>
                <a:cs typeface="Segoe UI"/>
              </a:rPr>
              <a:t>M0</a:t>
            </a:r>
          </a:p>
        </p:txBody>
      </p:sp>
      <p:sp>
        <p:nvSpPr>
          <p:cNvPr id="49" name="rect-46">
            <a:extLst xmlns:a="http://schemas.openxmlformats.org/drawingml/2006/main">
              <a:ext uri="{FF2B5EF4-FFF2-40B4-BE49-F238E27FC236}">
                <a16:creationId xmlns:a16="http://schemas.microsoft.com/office/drawing/2014/main" id="{517C605B-FEC8-45A0-B41F-E9DC5CA5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43050"/>
            <a:ext cx="4953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EF9C3"/>
          </a:solidFill>
          <a:ln xmlns:a="http://schemas.openxmlformats.org/drawingml/2006/main" w="9525">
            <a:solidFill>
              <a:srgbClr val="FACC15"/>
            </a:solidFill>
            <a:prstDash val="solid"/>
          </a:ln>
        </p:spPr>
      </p:sp>
      <p:sp>
        <p:nvSpPr>
          <p:cNvPr id="50" name="text-47">
            <a:extLst xmlns:a="http://schemas.openxmlformats.org/drawingml/2006/main">
              <a:ext uri="{FF2B5EF4-FFF2-40B4-BE49-F238E27FC236}">
                <a16:creationId xmlns:a16="http://schemas.microsoft.com/office/drawing/2014/main" id="{849130AD-36A8-4C98-BD29-EBDABFAF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6953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54D0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54D0E"/>
                </a:solidFill>
                <a:latin typeface="Segoe UI"/>
                <a:ea typeface="Segoe UI"/>
                <a:cs typeface="Segoe UI"/>
              </a:rPr>
              <a:t>M1c</a:t>
            </a:r>
          </a:p>
        </p:txBody>
      </p:sp>
      <p:sp>
        <p:nvSpPr>
          <p:cNvPr id="51" name="rect-48">
            <a:extLst xmlns:a="http://schemas.openxmlformats.org/drawingml/2006/main">
              <a:ext uri="{FF2B5EF4-FFF2-40B4-BE49-F238E27FC236}">
                <a16:creationId xmlns:a16="http://schemas.microsoft.com/office/drawing/2014/main" id="{19164D5B-9C6A-4EA4-A974-B551F548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28800"/>
            <a:ext cx="4953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EF9C3"/>
          </a:solidFill>
          <a:ln xmlns:a="http://schemas.openxmlformats.org/drawingml/2006/main" w="9525">
            <a:solidFill>
              <a:srgbClr val="FACC15"/>
            </a:solidFill>
            <a:prstDash val="solid"/>
          </a:ln>
        </p:spPr>
      </p:sp>
      <p:sp>
        <p:nvSpPr>
          <p:cNvPr id="52" name="text-49">
            <a:extLst xmlns:a="http://schemas.openxmlformats.org/drawingml/2006/main">
              <a:ext uri="{FF2B5EF4-FFF2-40B4-BE49-F238E27FC236}">
                <a16:creationId xmlns:a16="http://schemas.microsoft.com/office/drawing/2014/main" id="{23166E7E-6944-4FB2-A159-3CFE15A3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5528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54D0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854D0E"/>
                </a:solidFill>
                <a:latin typeface="Segoe UI"/>
                <a:ea typeface="Segoe UI"/>
                <a:cs typeface="Segoe UI"/>
              </a:rPr>
              <a:t>M2</a:t>
            </a:r>
          </a:p>
        </p:txBody>
      </p:sp>
      <p:sp>
        <p:nvSpPr>
          <p:cNvPr id="53" name="poly-771-152">
            <a:extLst xmlns:a="http://schemas.openxmlformats.org/drawingml/2006/main">
              <a:ext uri="{FF2B5EF4-FFF2-40B4-BE49-F238E27FC236}">
                <a16:creationId xmlns:a16="http://schemas.microsoft.com/office/drawing/2014/main" id="{EA5D288A-D55A-448B-961E-79268295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44780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AB308"/>
            </a:solidFill>
            <a:prstDash val="solid"/>
          </a:ln>
        </p:spPr>
      </p:sp>
      <p:sp>
        <p:nvSpPr>
          <p:cNvPr id="54" name="poly-771-182">
            <a:extLst xmlns:a="http://schemas.openxmlformats.org/drawingml/2006/main">
              <a:ext uri="{FF2B5EF4-FFF2-40B4-BE49-F238E27FC236}">
                <a16:creationId xmlns:a16="http://schemas.microsoft.com/office/drawing/2014/main" id="{FFBA42F1-4BA1-483B-A951-455F3C1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3355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AB308"/>
            </a:solidFill>
            <a:prstDash val="solid"/>
          </a:ln>
        </p:spPr>
      </p:sp>
      <p:sp>
        <p:nvSpPr>
          <p:cNvPr id="55" name="rect-51">
            <a:extLst xmlns:a="http://schemas.openxmlformats.org/drawingml/2006/main">
              <a:ext uri="{FF2B5EF4-FFF2-40B4-BE49-F238E27FC236}">
                <a16:creationId xmlns:a16="http://schemas.microsoft.com/office/drawing/2014/main" id="{A3638533-7CBD-4CE8-BD8A-8BB6C49E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438150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6" name="text-52">
            <a:extLst xmlns:a="http://schemas.openxmlformats.org/drawingml/2006/main">
              <a:ext uri="{FF2B5EF4-FFF2-40B4-BE49-F238E27FC236}">
                <a16:creationId xmlns:a16="http://schemas.microsoft.com/office/drawing/2014/main" id="{FA3FF9E8-29A9-46EA-8C51-FF27508F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26564"/>
            <a:ext cx="32156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Contract check: schema - acyclic - binding</a:t>
            </a:r>
          </a:p>
        </p:txBody>
      </p:sp>
      <p:sp>
        <p:nvSpPr>
          <p:cNvPr id="57" name="poly-852-168">
            <a:extLst xmlns:a="http://schemas.openxmlformats.org/drawingml/2006/main">
              <a:ext uri="{FF2B5EF4-FFF2-40B4-BE49-F238E27FC236}">
                <a16:creationId xmlns:a16="http://schemas.microsoft.com/office/drawing/2014/main" id="{4E9B95B8-ED2D-4984-80A0-D95B1CB0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142875" cy="9525"/>
          </a:xfrm>
          <a:custGeom xmlns:a="http://schemas.openxmlformats.org/drawingml/2006/main"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563EB"/>
            </a:solidFill>
            <a:prstDash val="solid"/>
          </a:ln>
        </p:spPr>
      </p:sp>
      <p:sp>
        <p:nvSpPr>
          <p:cNvPr id="58" name="poly-858-164">
            <a:extLst xmlns:a="http://schemas.openxmlformats.org/drawingml/2006/main">
              <a:ext uri="{FF2B5EF4-FFF2-40B4-BE49-F238E27FC236}">
                <a16:creationId xmlns:a16="http://schemas.microsoft.com/office/drawing/2014/main" id="{53EA2CE4-82E9-4FDA-A759-66AB2F51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831" y="1557338"/>
            <a:ext cx="83344" cy="85725"/>
          </a:xfrm>
          <a:custGeom xmlns:a="http://schemas.openxmlformats.org/drawingml/2006/main">
            <a:pathLst>
              <a:path w="83344" h="85725">
                <a:moveTo>
                  <a:pt x="83344" y="42863"/>
                </a:moveTo>
                <a:lnTo>
                  <a:pt x="0" y="85725"/>
                </a:lnTo>
                <a:lnTo>
                  <a:pt x="0" y="0"/>
                </a:lnTo>
                <a:lnTo>
                  <a:pt x="83344" y="42863"/>
                </a:lnTo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4763">
            <a:solidFill>
              <a:srgbClr val="2563EB"/>
            </a:solidFill>
            <a:prstDash val="solid"/>
          </a:ln>
        </p:spPr>
      </p:sp>
      <p:sp>
        <p:nvSpPr>
          <p:cNvPr id="59" name="rect-54">
            <a:extLst xmlns:a="http://schemas.openxmlformats.org/drawingml/2006/main">
              <a:ext uri="{FF2B5EF4-FFF2-40B4-BE49-F238E27FC236}">
                <a16:creationId xmlns:a16="http://schemas.microsoft.com/office/drawing/2014/main" id="{F34E7B0E-1358-4500-8A8B-A81204CC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85800"/>
            <a:ext cx="257175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6EFAC"/>
            </a:solidFill>
            <a:prstDash val="solid"/>
          </a:ln>
        </p:spPr>
      </p:sp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2551a75b84877"/>
          <a:stretch xmlns:a="http://schemas.openxmlformats.org/drawingml/2006/main"/>
        </p:blipFill>
        <p:spPr>
          <a:xfrm xmlns:a="http://schemas.openxmlformats.org/drawingml/2006/main">
            <a:off x="8420100" y="762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1" name="text-56">
            <a:extLst xmlns:a="http://schemas.openxmlformats.org/drawingml/2006/main">
              <a:ext uri="{FF2B5EF4-FFF2-40B4-BE49-F238E27FC236}">
                <a16:creationId xmlns:a16="http://schemas.microsoft.com/office/drawing/2014/main" id="{0F956773-4336-41CE-9632-9AC2B3AC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59143"/>
            <a:ext cx="1395413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Semantic merge</a:t>
            </a:r>
          </a:p>
        </p:txBody>
      </p:sp>
      <p:sp>
        <p:nvSpPr>
          <p:cNvPr id="62" name="rect-57">
            <a:extLst xmlns:a="http://schemas.openxmlformats.org/drawingml/2006/main">
              <a:ext uri="{FF2B5EF4-FFF2-40B4-BE49-F238E27FC236}">
                <a16:creationId xmlns:a16="http://schemas.microsoft.com/office/drawing/2014/main" id="{D9393B04-DB2E-4228-9CBA-F69837F1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990600"/>
            <a:ext cx="230505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63" name="text-58">
            <a:extLst xmlns:a="http://schemas.openxmlformats.org/drawingml/2006/main">
              <a:ext uri="{FF2B5EF4-FFF2-40B4-BE49-F238E27FC236}">
                <a16:creationId xmlns:a16="http://schemas.microsoft.com/office/drawing/2014/main" id="{D8646BCC-90E2-40E3-87F8-DF7E8441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035939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M0</a:t>
            </a:r>
          </a:p>
        </p:txBody>
      </p:sp>
      <p:sp>
        <p:nvSpPr>
          <p:cNvPr id="64" name="text-59">
            <a:extLst xmlns:a="http://schemas.openxmlformats.org/drawingml/2006/main">
              <a:ext uri="{FF2B5EF4-FFF2-40B4-BE49-F238E27FC236}">
                <a16:creationId xmlns:a16="http://schemas.microsoft.com/office/drawing/2014/main" id="{14E2462A-63D9-4B13-876F-7AF6A4E4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035939"/>
            <a:ext cx="466725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3 / 3</a:t>
            </a:r>
          </a:p>
        </p:txBody>
      </p:sp>
      <p:sp>
        <p:nvSpPr>
          <p:cNvPr id="65" name="rect-60">
            <a:extLst xmlns:a="http://schemas.openxmlformats.org/drawingml/2006/main">
              <a:ext uri="{FF2B5EF4-FFF2-40B4-BE49-F238E27FC236}">
                <a16:creationId xmlns:a16="http://schemas.microsoft.com/office/drawing/2014/main" id="{D630D046-7973-4DAC-B0FA-48425636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57300"/>
            <a:ext cx="230505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66" name="text-61">
            <a:extLst xmlns:a="http://schemas.openxmlformats.org/drawingml/2006/main">
              <a:ext uri="{FF2B5EF4-FFF2-40B4-BE49-F238E27FC236}">
                <a16:creationId xmlns:a16="http://schemas.microsoft.com/office/drawing/2014/main" id="{41DE31CA-06F4-483E-A979-F28F6CC5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02639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M1a</a:t>
            </a:r>
          </a:p>
        </p:txBody>
      </p:sp>
      <p:sp>
        <p:nvSpPr>
          <p:cNvPr id="67" name="text-62">
            <a:extLst xmlns:a="http://schemas.openxmlformats.org/drawingml/2006/main">
              <a:ext uri="{FF2B5EF4-FFF2-40B4-BE49-F238E27FC236}">
                <a16:creationId xmlns:a16="http://schemas.microsoft.com/office/drawing/2014/main" id="{801C1567-457E-4678-9B03-ED14CFA7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302639"/>
            <a:ext cx="466725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2 / 3</a:t>
            </a:r>
          </a:p>
        </p:txBody>
      </p:sp>
      <p:sp>
        <p:nvSpPr>
          <p:cNvPr id="68" name="rect-63">
            <a:extLst xmlns:a="http://schemas.openxmlformats.org/drawingml/2006/main">
              <a:ext uri="{FF2B5EF4-FFF2-40B4-BE49-F238E27FC236}">
                <a16:creationId xmlns:a16="http://schemas.microsoft.com/office/drawing/2014/main" id="{7345CEBD-71BC-47B3-BC6A-432DFAEC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230505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69" name="text-64">
            <a:extLst xmlns:a="http://schemas.openxmlformats.org/drawingml/2006/main">
              <a:ext uri="{FF2B5EF4-FFF2-40B4-BE49-F238E27FC236}">
                <a16:creationId xmlns:a16="http://schemas.microsoft.com/office/drawing/2014/main" id="{6D6ACA2E-B66A-4596-864B-84CEA5D0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69339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M1b</a:t>
            </a:r>
          </a:p>
        </p:txBody>
      </p:sp>
      <p:sp>
        <p:nvSpPr>
          <p:cNvPr id="70" name="text-65">
            <a:extLst xmlns:a="http://schemas.openxmlformats.org/drawingml/2006/main">
              <a:ext uri="{FF2B5EF4-FFF2-40B4-BE49-F238E27FC236}">
                <a16:creationId xmlns:a16="http://schemas.microsoft.com/office/drawing/2014/main" id="{F6A440AA-46D0-42E2-872B-E28DCDAF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569339"/>
            <a:ext cx="466725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2 / 3</a:t>
            </a:r>
          </a:p>
        </p:txBody>
      </p:sp>
      <p:sp>
        <p:nvSpPr>
          <p:cNvPr id="71" name="rect-66">
            <a:extLst xmlns:a="http://schemas.openxmlformats.org/drawingml/2006/main">
              <a:ext uri="{FF2B5EF4-FFF2-40B4-BE49-F238E27FC236}">
                <a16:creationId xmlns:a16="http://schemas.microsoft.com/office/drawing/2014/main" id="{CAE41EB7-7076-4B30-B162-53B75E93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90700"/>
            <a:ext cx="230505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72" name="text-67">
            <a:extLst xmlns:a="http://schemas.openxmlformats.org/drawingml/2006/main">
              <a:ext uri="{FF2B5EF4-FFF2-40B4-BE49-F238E27FC236}">
                <a16:creationId xmlns:a16="http://schemas.microsoft.com/office/drawing/2014/main" id="{D2C1F21B-A26B-4F2C-9F49-AC310626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36039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1B1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M1c</a:t>
            </a:r>
          </a:p>
        </p:txBody>
      </p:sp>
      <p:sp>
        <p:nvSpPr>
          <p:cNvPr id="73" name="text-68">
            <a:extLst xmlns:a="http://schemas.openxmlformats.org/drawingml/2006/main">
              <a:ext uri="{FF2B5EF4-FFF2-40B4-BE49-F238E27FC236}">
                <a16:creationId xmlns:a16="http://schemas.microsoft.com/office/drawing/2014/main" id="{8892B9A1-7CB6-48AD-B63B-CD88BD8D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836039"/>
            <a:ext cx="466725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1 / 3</a:t>
            </a:r>
          </a:p>
        </p:txBody>
      </p:sp>
      <p:sp>
        <p:nvSpPr>
          <p:cNvPr id="74" name="rect-69">
            <a:extLst xmlns:a="http://schemas.openxmlformats.org/drawingml/2006/main">
              <a:ext uri="{FF2B5EF4-FFF2-40B4-BE49-F238E27FC236}">
                <a16:creationId xmlns:a16="http://schemas.microsoft.com/office/drawing/2014/main" id="{E917D675-05A5-4C29-839A-6AD08A61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30505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75" name="text-70">
            <a:extLst xmlns:a="http://schemas.openxmlformats.org/drawingml/2006/main">
              <a:ext uri="{FF2B5EF4-FFF2-40B4-BE49-F238E27FC236}">
                <a16:creationId xmlns:a16="http://schemas.microsoft.com/office/drawing/2014/main" id="{BF78D6A1-5C25-444B-B687-19CDF1C1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02739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M2</a:t>
            </a:r>
          </a:p>
        </p:txBody>
      </p:sp>
      <p:sp>
        <p:nvSpPr>
          <p:cNvPr id="76" name="text-71">
            <a:extLst xmlns:a="http://schemas.openxmlformats.org/drawingml/2006/main">
              <a:ext uri="{FF2B5EF4-FFF2-40B4-BE49-F238E27FC236}">
                <a16:creationId xmlns:a16="http://schemas.microsoft.com/office/drawing/2014/main" id="{E0AC5D93-A915-4D43-B3F8-DE61FC0E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102739"/>
            <a:ext cx="466725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3 / 3</a:t>
            </a:r>
          </a:p>
        </p:txBody>
      </p:sp>
      <p:sp>
        <p:nvSpPr>
          <p:cNvPr id="77" name="text-72">
            <a:extLst xmlns:a="http://schemas.openxmlformats.org/drawingml/2006/main">
              <a:ext uri="{FF2B5EF4-FFF2-40B4-BE49-F238E27FC236}">
                <a16:creationId xmlns:a16="http://schemas.microsoft.com/office/drawing/2014/main" id="{CC4FE828-D9BF-45F3-8392-EFC3D084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0864"/>
            <a:ext cx="2398395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Majority + transitive reduction</a:t>
            </a:r>
          </a:p>
        </p:txBody>
      </p:sp>
      <p:sp>
        <p:nvSpPr>
          <p:cNvPr id="78" name="poly-1142-168">
            <a:extLst xmlns:a="http://schemas.openxmlformats.org/drawingml/2006/main">
              <a:ext uri="{FF2B5EF4-FFF2-40B4-BE49-F238E27FC236}">
                <a16:creationId xmlns:a16="http://schemas.microsoft.com/office/drawing/2014/main" id="{B26D42E1-00C6-4A94-9BBF-0546F941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600200"/>
            <a:ext cx="142875" cy="9525"/>
          </a:xfrm>
          <a:custGeom xmlns:a="http://schemas.openxmlformats.org/drawingml/2006/main"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563EB"/>
            </a:solidFill>
            <a:prstDash val="solid"/>
          </a:ln>
        </p:spPr>
      </p:sp>
      <p:sp>
        <p:nvSpPr>
          <p:cNvPr id="79" name="poly-1148-164">
            <a:extLst xmlns:a="http://schemas.openxmlformats.org/drawingml/2006/main">
              <a:ext uri="{FF2B5EF4-FFF2-40B4-BE49-F238E27FC236}">
                <a16:creationId xmlns:a16="http://schemas.microsoft.com/office/drawing/2014/main" id="{0025A649-AE64-4B30-BA34-DE22A727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7081" y="1557338"/>
            <a:ext cx="83344" cy="85725"/>
          </a:xfrm>
          <a:custGeom xmlns:a="http://schemas.openxmlformats.org/drawingml/2006/main">
            <a:pathLst>
              <a:path w="83344" h="85725">
                <a:moveTo>
                  <a:pt x="83344" y="42863"/>
                </a:moveTo>
                <a:lnTo>
                  <a:pt x="0" y="85725"/>
                </a:lnTo>
                <a:lnTo>
                  <a:pt x="0" y="0"/>
                </a:lnTo>
                <a:lnTo>
                  <a:pt x="83344" y="42863"/>
                </a:lnTo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4763">
            <a:solidFill>
              <a:srgbClr val="2563EB"/>
            </a:solidFill>
            <a:prstDash val="solid"/>
          </a:ln>
        </p:spPr>
      </p:sp>
      <p:sp>
        <p:nvSpPr>
          <p:cNvPr id="80" name="rect-74">
            <a:extLst xmlns:a="http://schemas.openxmlformats.org/drawingml/2006/main">
              <a:ext uri="{FF2B5EF4-FFF2-40B4-BE49-F238E27FC236}">
                <a16:creationId xmlns:a16="http://schemas.microsoft.com/office/drawing/2014/main" id="{83ABD48B-DEFC-4084-8F3E-C17DC19F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85800"/>
            <a:ext cx="361950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6EFAC"/>
            </a:solidFill>
            <a:prstDash val="solid"/>
          </a:ln>
        </p:spPr>
      </p:sp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7cd4aef9141e6"/>
          <a:stretch xmlns:a="http://schemas.openxmlformats.org/drawingml/2006/main"/>
        </p:blipFill>
        <p:spPr>
          <a:xfrm xmlns:a="http://schemas.openxmlformats.org/drawingml/2006/main">
            <a:off x="11182350" y="762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82" name="text-76">
            <a:extLst xmlns:a="http://schemas.openxmlformats.org/drawingml/2006/main">
              <a:ext uri="{FF2B5EF4-FFF2-40B4-BE49-F238E27FC236}">
                <a16:creationId xmlns:a16="http://schemas.microsoft.com/office/drawing/2014/main" id="{A3FB1A3B-BC35-4DD1-B3A3-C51C60A5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759143"/>
            <a:ext cx="2602706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Path-tolerant Milestone DAG</a:t>
            </a:r>
          </a:p>
        </p:txBody>
      </p:sp>
      <p:sp>
        <p:nvSpPr>
          <p:cNvPr id="83" name="rect-77">
            <a:extLst xmlns:a="http://schemas.openxmlformats.org/drawingml/2006/main">
              <a:ext uri="{FF2B5EF4-FFF2-40B4-BE49-F238E27FC236}">
                <a16:creationId xmlns:a16="http://schemas.microsoft.com/office/drawing/2014/main" id="{6D08AA56-B6BB-4D43-B045-FF5B722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990600"/>
            <a:ext cx="762000" cy="1143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FF6FF">
              <a:alpha val="4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rect-78">
            <a:extLst xmlns:a="http://schemas.openxmlformats.org/drawingml/2006/main">
              <a:ext uri="{FF2B5EF4-FFF2-40B4-BE49-F238E27FC236}">
                <a16:creationId xmlns:a16="http://schemas.microsoft.com/office/drawing/2014/main" id="{92C8C393-D3EE-49AD-B47A-9F93DFDF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990600"/>
            <a:ext cx="1333500" cy="1143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ECFDF5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rect-79">
            <a:extLst xmlns:a="http://schemas.openxmlformats.org/drawingml/2006/main">
              <a:ext uri="{FF2B5EF4-FFF2-40B4-BE49-F238E27FC236}">
                <a16:creationId xmlns:a16="http://schemas.microsoft.com/office/drawing/2014/main" id="{ADBC342C-7A2B-4C68-9BF4-57D3415F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90600"/>
            <a:ext cx="1095375" cy="114300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EF9C3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text-80">
            <a:extLst xmlns:a="http://schemas.openxmlformats.org/drawingml/2006/main">
              <a:ext uri="{FF2B5EF4-FFF2-40B4-BE49-F238E27FC236}">
                <a16:creationId xmlns:a16="http://schemas.microsoft.com/office/drawing/2014/main" id="{FE43AA29-310B-49CC-8C8E-9234EB0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026414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S1</a:t>
            </a:r>
          </a:p>
        </p:txBody>
      </p:sp>
      <p:sp>
        <p:nvSpPr>
          <p:cNvPr id="87" name="text-81">
            <a:extLst xmlns:a="http://schemas.openxmlformats.org/drawingml/2006/main">
              <a:ext uri="{FF2B5EF4-FFF2-40B4-BE49-F238E27FC236}">
                <a16:creationId xmlns:a16="http://schemas.microsoft.com/office/drawing/2014/main" id="{AE53FF45-C153-4C0E-933C-FED1BFD4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026414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S2</a:t>
            </a:r>
          </a:p>
        </p:txBody>
      </p:sp>
      <p:sp>
        <p:nvSpPr>
          <p:cNvPr id="88" name="text-82">
            <a:extLst xmlns:a="http://schemas.openxmlformats.org/drawingml/2006/main">
              <a:ext uri="{FF2B5EF4-FFF2-40B4-BE49-F238E27FC236}">
                <a16:creationId xmlns:a16="http://schemas.microsoft.com/office/drawing/2014/main" id="{F03612DD-C35D-4BCB-B20E-0FA43585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026414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620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A16207"/>
                </a:solidFill>
                <a:latin typeface="Segoe UI"/>
                <a:ea typeface="Segoe UI"/>
                <a:cs typeface="Segoe UI"/>
              </a:rPr>
              <a:t>S3</a:t>
            </a:r>
          </a:p>
        </p:txBody>
      </p:sp>
      <p:sp>
        <p:nvSpPr>
          <p:cNvPr id="89" name="rect-83">
            <a:extLst xmlns:a="http://schemas.openxmlformats.org/drawingml/2006/main">
              <a:ext uri="{FF2B5EF4-FFF2-40B4-BE49-F238E27FC236}">
                <a16:creationId xmlns:a16="http://schemas.microsoft.com/office/drawing/2014/main" id="{F9A4A604-7408-44CA-9C87-24AF7BF5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619250"/>
            <a:ext cx="61912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90" name="text-84">
            <a:extLst xmlns:a="http://schemas.openxmlformats.org/drawingml/2006/main">
              <a:ext uri="{FF2B5EF4-FFF2-40B4-BE49-F238E27FC236}">
                <a16:creationId xmlns:a16="http://schemas.microsoft.com/office/drawing/2014/main" id="{C133AA19-4AFE-4A69-9105-9A691D23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1674114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M0</a:t>
            </a:r>
          </a:p>
        </p:txBody>
      </p:sp>
      <p:sp>
        <p:nvSpPr>
          <p:cNvPr id="91" name="rect-85">
            <a:extLst xmlns:a="http://schemas.openxmlformats.org/drawingml/2006/main">
              <a:ext uri="{FF2B5EF4-FFF2-40B4-BE49-F238E27FC236}">
                <a16:creationId xmlns:a16="http://schemas.microsoft.com/office/drawing/2014/main" id="{B0F9AB0A-5A22-471F-8203-1AFA883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314450"/>
            <a:ext cx="6667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92" name="text-86">
            <a:extLst xmlns:a="http://schemas.openxmlformats.org/drawingml/2006/main">
              <a:ext uri="{FF2B5EF4-FFF2-40B4-BE49-F238E27FC236}">
                <a16:creationId xmlns:a16="http://schemas.microsoft.com/office/drawing/2014/main" id="{3AE958EF-6A26-4560-9B70-67A51ABC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135998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M1a</a:t>
            </a:r>
          </a:p>
        </p:txBody>
      </p:sp>
      <p:sp>
        <p:nvSpPr>
          <p:cNvPr id="93" name="rect-87">
            <a:extLst xmlns:a="http://schemas.openxmlformats.org/drawingml/2006/main">
              <a:ext uri="{FF2B5EF4-FFF2-40B4-BE49-F238E27FC236}">
                <a16:creationId xmlns:a16="http://schemas.microsoft.com/office/drawing/2014/main" id="{962FE607-E53A-42A0-8A0A-FF1D03EF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847850"/>
            <a:ext cx="6667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94" name="text-88">
            <a:extLst xmlns:a="http://schemas.openxmlformats.org/drawingml/2006/main">
              <a:ext uri="{FF2B5EF4-FFF2-40B4-BE49-F238E27FC236}">
                <a16:creationId xmlns:a16="http://schemas.microsoft.com/office/drawing/2014/main" id="{CD96025C-1AB5-4880-9155-60EA48C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1893380"/>
            <a:ext cx="34290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5F46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M1b</a:t>
            </a:r>
          </a:p>
        </p:txBody>
      </p:sp>
      <p:sp>
        <p:nvSpPr>
          <p:cNvPr id="95" name="rect-89">
            <a:extLst xmlns:a="http://schemas.openxmlformats.org/drawingml/2006/main">
              <a:ext uri="{FF2B5EF4-FFF2-40B4-BE49-F238E27FC236}">
                <a16:creationId xmlns:a16="http://schemas.microsoft.com/office/drawing/2014/main" id="{2C66A4A7-4AC6-4F7E-83F2-D27DF55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619250"/>
            <a:ext cx="61912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EF9C3"/>
          </a:solidFill>
          <a:ln xmlns:a="http://schemas.openxmlformats.org/drawingml/2006/main" w="9525">
            <a:solidFill>
              <a:srgbClr val="EAB308"/>
            </a:solidFill>
            <a:prstDash val="solid"/>
          </a:ln>
        </p:spPr>
      </p:sp>
      <p:sp>
        <p:nvSpPr>
          <p:cNvPr id="96" name="text-90">
            <a:extLst xmlns:a="http://schemas.openxmlformats.org/drawingml/2006/main">
              <a:ext uri="{FF2B5EF4-FFF2-40B4-BE49-F238E27FC236}">
                <a16:creationId xmlns:a16="http://schemas.microsoft.com/office/drawing/2014/main" id="{98902400-D2D8-4DB0-854F-135093E9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1674114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54D0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854D0E"/>
                </a:solidFill>
                <a:latin typeface="Segoe UI"/>
                <a:ea typeface="Segoe UI"/>
                <a:cs typeface="Segoe UI"/>
              </a:rPr>
              <a:t>M2</a:t>
            </a:r>
          </a:p>
        </p:txBody>
      </p:sp>
      <p:sp>
        <p:nvSpPr>
          <p:cNvPr id="97" name="poly-1260-150">
            <a:extLst xmlns:a="http://schemas.openxmlformats.org/drawingml/2006/main">
              <a:ext uri="{FF2B5EF4-FFF2-40B4-BE49-F238E27FC236}">
                <a16:creationId xmlns:a16="http://schemas.microsoft.com/office/drawing/2014/main" id="{D83B4EAA-ED40-434B-A591-3210D1AE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428750"/>
            <a:ext cx="314325" cy="323850"/>
          </a:xfrm>
          <a:custGeom xmlns:a="http://schemas.openxmlformats.org/drawingml/2006/main">
            <a:pathLst>
              <a:path w="314325" h="323850">
                <a:moveTo>
                  <a:pt x="0" y="323850"/>
                </a:moveTo>
                <a:lnTo>
                  <a:pt x="28377" y="292497"/>
                </a:lnTo>
                <a:lnTo>
                  <a:pt x="56356" y="261938"/>
                </a:lnTo>
                <a:lnTo>
                  <a:pt x="83939" y="232172"/>
                </a:lnTo>
                <a:lnTo>
                  <a:pt x="111125" y="203200"/>
                </a:lnTo>
                <a:lnTo>
                  <a:pt x="137914" y="175022"/>
                </a:lnTo>
                <a:lnTo>
                  <a:pt x="164306" y="147638"/>
                </a:lnTo>
                <a:lnTo>
                  <a:pt x="190302" y="121047"/>
                </a:lnTo>
                <a:lnTo>
                  <a:pt x="215900" y="95250"/>
                </a:lnTo>
                <a:lnTo>
                  <a:pt x="241102" y="70247"/>
                </a:lnTo>
                <a:lnTo>
                  <a:pt x="265906" y="46037"/>
                </a:lnTo>
                <a:lnTo>
                  <a:pt x="290314" y="22622"/>
                </a:ln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4A3B8"/>
            </a:solidFill>
            <a:prstDash val="solid"/>
          </a:ln>
        </p:spPr>
      </p:sp>
      <p:sp>
        <p:nvSpPr>
          <p:cNvPr id="98" name="poly-1260-184">
            <a:extLst xmlns:a="http://schemas.openxmlformats.org/drawingml/2006/main">
              <a:ext uri="{FF2B5EF4-FFF2-40B4-BE49-F238E27FC236}">
                <a16:creationId xmlns:a16="http://schemas.microsoft.com/office/drawing/2014/main" id="{623F3298-3B73-4E58-8F6B-F3067DCB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752600"/>
            <a:ext cx="314325" cy="323850"/>
          </a:xfrm>
          <a:custGeom xmlns:a="http://schemas.openxmlformats.org/drawingml/2006/main">
            <a:pathLst>
              <a:path w="314325" h="323850">
                <a:moveTo>
                  <a:pt x="0" y="0"/>
                </a:moveTo>
                <a:lnTo>
                  <a:pt x="28377" y="31353"/>
                </a:lnTo>
                <a:lnTo>
                  <a:pt x="56356" y="61913"/>
                </a:lnTo>
                <a:lnTo>
                  <a:pt x="83939" y="91678"/>
                </a:lnTo>
                <a:lnTo>
                  <a:pt x="111125" y="120650"/>
                </a:lnTo>
                <a:lnTo>
                  <a:pt x="137914" y="148828"/>
                </a:lnTo>
                <a:lnTo>
                  <a:pt x="164306" y="176213"/>
                </a:lnTo>
                <a:lnTo>
                  <a:pt x="190302" y="202803"/>
                </a:lnTo>
                <a:lnTo>
                  <a:pt x="215900" y="228600"/>
                </a:lnTo>
                <a:lnTo>
                  <a:pt x="241102" y="253603"/>
                </a:lnTo>
                <a:lnTo>
                  <a:pt x="265906" y="277813"/>
                </a:lnTo>
                <a:lnTo>
                  <a:pt x="290314" y="301228"/>
                </a:lnTo>
                <a:lnTo>
                  <a:pt x="314325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4A3B8"/>
            </a:solidFill>
            <a:prstDash val="solid"/>
          </a:ln>
        </p:spPr>
      </p:sp>
      <p:sp>
        <p:nvSpPr>
          <p:cNvPr id="99" name="poly-1365-150">
            <a:extLst xmlns:a="http://schemas.openxmlformats.org/drawingml/2006/main">
              <a:ext uri="{FF2B5EF4-FFF2-40B4-BE49-F238E27FC236}">
                <a16:creationId xmlns:a16="http://schemas.microsoft.com/office/drawing/2014/main" id="{6DA27DBE-9B3E-41CD-AD67-4E1F0B92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428750"/>
            <a:ext cx="600075" cy="247650"/>
          </a:xfrm>
          <a:custGeom xmlns:a="http://schemas.openxmlformats.org/drawingml/2006/main">
            <a:pathLst>
              <a:path w="600075" h="247650">
                <a:moveTo>
                  <a:pt x="0" y="0"/>
                </a:moveTo>
                <a:lnTo>
                  <a:pt x="52189" y="22093"/>
                </a:lnTo>
                <a:lnTo>
                  <a:pt x="103981" y="43921"/>
                </a:lnTo>
                <a:lnTo>
                  <a:pt x="155377" y="65484"/>
                </a:lnTo>
                <a:lnTo>
                  <a:pt x="206375" y="86783"/>
                </a:lnTo>
                <a:lnTo>
                  <a:pt x="256977" y="107818"/>
                </a:lnTo>
                <a:lnTo>
                  <a:pt x="307181" y="128588"/>
                </a:lnTo>
                <a:lnTo>
                  <a:pt x="356989" y="149093"/>
                </a:lnTo>
                <a:lnTo>
                  <a:pt x="406400" y="169333"/>
                </a:lnTo>
                <a:lnTo>
                  <a:pt x="455414" y="189309"/>
                </a:lnTo>
                <a:lnTo>
                  <a:pt x="504031" y="209021"/>
                </a:lnTo>
                <a:lnTo>
                  <a:pt x="552252" y="228468"/>
                </a:lnTo>
                <a:lnTo>
                  <a:pt x="600075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4A3B8"/>
            </a:solidFill>
            <a:prstDash val="solid"/>
          </a:ln>
        </p:spPr>
      </p:sp>
      <p:sp>
        <p:nvSpPr>
          <p:cNvPr id="100" name="poly-1365-184">
            <a:extLst xmlns:a="http://schemas.openxmlformats.org/drawingml/2006/main">
              <a:ext uri="{FF2B5EF4-FFF2-40B4-BE49-F238E27FC236}">
                <a16:creationId xmlns:a16="http://schemas.microsoft.com/office/drawing/2014/main" id="{F5F95D99-D4BF-42E3-B479-1B84C8B6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752600"/>
            <a:ext cx="600075" cy="209550"/>
          </a:xfrm>
          <a:custGeom xmlns:a="http://schemas.openxmlformats.org/drawingml/2006/main">
            <a:pathLst>
              <a:path w="600075" h="209550">
                <a:moveTo>
                  <a:pt x="0" y="209550"/>
                </a:moveTo>
                <a:lnTo>
                  <a:pt x="52189" y="190632"/>
                </a:lnTo>
                <a:lnTo>
                  <a:pt x="103981" y="171979"/>
                </a:lnTo>
                <a:lnTo>
                  <a:pt x="155377" y="153591"/>
                </a:lnTo>
                <a:lnTo>
                  <a:pt x="206375" y="135467"/>
                </a:lnTo>
                <a:lnTo>
                  <a:pt x="256977" y="117607"/>
                </a:lnTo>
                <a:lnTo>
                  <a:pt x="307181" y="100013"/>
                </a:lnTo>
                <a:lnTo>
                  <a:pt x="356989" y="82682"/>
                </a:lnTo>
                <a:lnTo>
                  <a:pt x="406400" y="65617"/>
                </a:lnTo>
                <a:lnTo>
                  <a:pt x="455414" y="48816"/>
                </a:lnTo>
                <a:lnTo>
                  <a:pt x="504031" y="32279"/>
                </a:lnTo>
                <a:lnTo>
                  <a:pt x="552252" y="16007"/>
                </a:ln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4A3B8"/>
            </a:solidFill>
            <a:prstDash val="solid"/>
          </a:ln>
        </p:spPr>
      </p:sp>
      <p:sp>
        <p:nvSpPr>
          <p:cNvPr id="101" name="text-92">
            <a:extLst xmlns:a="http://schemas.openxmlformats.org/drawingml/2006/main">
              <a:ext uri="{FF2B5EF4-FFF2-40B4-BE49-F238E27FC236}">
                <a16:creationId xmlns:a16="http://schemas.microsoft.com/office/drawing/2014/main" id="{BA3EDDB1-401D-4299-ADB8-963EB95A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26564"/>
            <a:ext cx="23241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Alternative paths remain valid</a:t>
            </a:r>
          </a:p>
        </p:txBody>
      </p:sp>
      <p:sp>
        <p:nvSpPr>
          <p:cNvPr id="102" name="poly-800-304">
            <a:extLst xmlns:a="http://schemas.openxmlformats.org/drawingml/2006/main">
              <a:ext uri="{FF2B5EF4-FFF2-40B4-BE49-F238E27FC236}">
                <a16:creationId xmlns:a16="http://schemas.microsoft.com/office/drawing/2014/main" id="{AA153950-4036-4F60-ACE4-AFEA28D0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59669"/>
            </a:solidFill>
            <a:prstDash val="dash"/>
          </a:ln>
        </p:spPr>
      </p:sp>
      <p:sp>
        <p:nvSpPr>
          <p:cNvPr id="103" name="poly-796-311">
            <a:extLst xmlns:a="http://schemas.openxmlformats.org/drawingml/2006/main">
              <a:ext uri="{FF2B5EF4-FFF2-40B4-BE49-F238E27FC236}">
                <a16:creationId xmlns:a16="http://schemas.microsoft.com/office/drawing/2014/main" id="{37FF41E1-2E60-40A6-8535-CB5C3EC8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2964656"/>
            <a:ext cx="85725" cy="83344"/>
          </a:xfrm>
          <a:custGeom xmlns:a="http://schemas.openxmlformats.org/drawingml/2006/main">
            <a:pathLst>
              <a:path w="85725" h="83344">
                <a:moveTo>
                  <a:pt x="42863" y="83344"/>
                </a:moveTo>
                <a:lnTo>
                  <a:pt x="0" y="0"/>
                </a:lnTo>
                <a:lnTo>
                  <a:pt x="85725" y="0"/>
                </a:lnTo>
                <a:lnTo>
                  <a:pt x="42863" y="83344"/>
                </a:lnTo>
              </a:path>
            </a:pathLst>
          </a:custGeom>
          <a:solidFill xmlns:a="http://schemas.openxmlformats.org/drawingml/2006/main">
            <a:srgbClr val="059669"/>
          </a:solidFill>
          <a:ln xmlns:a="http://schemas.openxmlformats.org/drawingml/2006/main" w="4763">
            <a:solidFill>
              <a:srgbClr val="059669"/>
            </a:solidFill>
            <a:prstDash val="solid"/>
          </a:ln>
        </p:spPr>
      </p:sp>
      <p:sp>
        <p:nvSpPr>
          <p:cNvPr id="104" name="rect-94">
            <a:extLst xmlns:a="http://schemas.openxmlformats.org/drawingml/2006/main">
              <a:ext uri="{FF2B5EF4-FFF2-40B4-BE49-F238E27FC236}">
                <a16:creationId xmlns:a16="http://schemas.microsoft.com/office/drawing/2014/main" id="{AFA9F81A-E8E6-44B1-BD1F-25CD8028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0"/>
            <a:ext cx="14573250" cy="5905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9050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05" name="rect-95">
            <a:extLst xmlns:a="http://schemas.openxmlformats.org/drawingml/2006/main">
              <a:ext uri="{FF2B5EF4-FFF2-40B4-BE49-F238E27FC236}">
                <a16:creationId xmlns:a16="http://schemas.microsoft.com/office/drawing/2014/main" id="{4199656B-C7AF-4963-BD09-85A9EC1E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0"/>
            <a:ext cx="1457325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06" name="circle-96">
            <a:extLst xmlns:a="http://schemas.openxmlformats.org/drawingml/2006/main">
              <a:ext uri="{FF2B5EF4-FFF2-40B4-BE49-F238E27FC236}">
                <a16:creationId xmlns:a16="http://schemas.microsoft.com/office/drawing/2014/main" id="{EF4E2CE2-45F7-409E-93AB-7069C658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text-97">
            <a:extLst xmlns:a="http://schemas.openxmlformats.org/drawingml/2006/main">
              <a:ext uri="{FF2B5EF4-FFF2-40B4-BE49-F238E27FC236}">
                <a16:creationId xmlns:a16="http://schemas.microsoft.com/office/drawing/2014/main" id="{B122B1C9-36E2-45AC-A8C7-DF799C79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40608"/>
            <a:ext cx="342900" cy="202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08" name="text-98">
            <a:extLst xmlns:a="http://schemas.openxmlformats.org/drawingml/2006/main">
              <a:ext uri="{FF2B5EF4-FFF2-40B4-BE49-F238E27FC236}">
                <a16:creationId xmlns:a16="http://schemas.microsoft.com/office/drawing/2014/main" id="{F8630C55-F4B7-4D30-B15C-3EFCEEE6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91840"/>
            <a:ext cx="6534150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Stage-wise Trajectory Evaluation and Dynamic Control</a:t>
            </a:r>
          </a:p>
        </p:txBody>
      </p:sp>
      <p:sp>
        <p:nvSpPr>
          <p:cNvPr id="109" name="rect-99">
            <a:extLst xmlns:a="http://schemas.openxmlformats.org/drawingml/2006/main">
              <a:ext uri="{FF2B5EF4-FFF2-40B4-BE49-F238E27FC236}">
                <a16:creationId xmlns:a16="http://schemas.microsoft.com/office/drawing/2014/main" id="{49EB1D51-5AD1-4686-9E8F-E2AC70A0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7239000" cy="51435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F7D0"/>
            </a:solidFill>
            <a:prstDash val="solid"/>
          </a:ln>
        </p:spPr>
      </p:sp>
      <p:pic>
        <p:nvPicPr>
          <p:cNvPr id="3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1486197ee4d9a"/>
          <a:stretch xmlns:a="http://schemas.openxmlformats.org/drawingml/2006/main"/>
        </p:blipFill>
        <p:spPr>
          <a:xfrm xmlns:a="http://schemas.openxmlformats.org/drawingml/2006/main">
            <a:off x="704850" y="3695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11" name="text-101">
            <a:extLst xmlns:a="http://schemas.openxmlformats.org/drawingml/2006/main">
              <a:ext uri="{FF2B5EF4-FFF2-40B4-BE49-F238E27FC236}">
                <a16:creationId xmlns:a16="http://schemas.microsoft.com/office/drawing/2014/main" id="{97301DC3-9239-43E2-AE02-E503A031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83127"/>
            <a:ext cx="2868930" cy="231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Stage-aligned execution view</a:t>
            </a:r>
          </a:p>
        </p:txBody>
      </p:sp>
      <p:sp>
        <p:nvSpPr>
          <p:cNvPr id="112" name="text-102">
            <a:extLst xmlns:a="http://schemas.openxmlformats.org/drawingml/2006/main">
              <a:ext uri="{FF2B5EF4-FFF2-40B4-BE49-F238E27FC236}">
                <a16:creationId xmlns:a16="http://schemas.microsoft.com/office/drawing/2014/main" id="{AE31EF89-25DE-4BDD-8E70-3EF33C60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1539"/>
            <a:ext cx="514731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DAG, closed actions, and decisions share the same stage coordinates.</a:t>
            </a:r>
          </a:p>
        </p:txBody>
      </p:sp>
      <p:sp>
        <p:nvSpPr>
          <p:cNvPr id="113" name="rect-103">
            <a:extLst xmlns:a="http://schemas.openxmlformats.org/drawingml/2006/main">
              <a:ext uri="{FF2B5EF4-FFF2-40B4-BE49-F238E27FC236}">
                <a16:creationId xmlns:a16="http://schemas.microsoft.com/office/drawing/2014/main" id="{846A5EFF-C838-4733-8AC8-919F3A95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914525" cy="4171950"/>
          </a:xfrm>
          <a:prstGeom xmlns:a="http://schemas.openxmlformats.org/drawingml/2006/main" prst="roundRect">
            <a:avLst>
              <a:gd name="adj" fmla="val 3483"/>
            </a:avLst>
          </a:prstGeom>
          <a:solidFill xmlns:a="http://schemas.openxmlformats.org/drawingml/2006/main">
            <a:srgbClr val="EFF6FF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rect-104">
            <a:extLst xmlns:a="http://schemas.openxmlformats.org/drawingml/2006/main">
              <a:ext uri="{FF2B5EF4-FFF2-40B4-BE49-F238E27FC236}">
                <a16:creationId xmlns:a16="http://schemas.microsoft.com/office/drawing/2014/main" id="{1120E6C0-9CF3-4F36-B876-04541EDF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52900"/>
            <a:ext cx="2762250" cy="4171950"/>
          </a:xfrm>
          <a:prstGeom xmlns:a="http://schemas.openxmlformats.org/drawingml/2006/main" prst="roundRect">
            <a:avLst>
              <a:gd name="adj" fmla="val 2414"/>
            </a:avLst>
          </a:prstGeom>
          <a:solidFill xmlns:a="http://schemas.openxmlformats.org/drawingml/2006/main">
            <a:srgbClr val="ECFDF5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rect-105">
            <a:extLst xmlns:a="http://schemas.openxmlformats.org/drawingml/2006/main">
              <a:ext uri="{FF2B5EF4-FFF2-40B4-BE49-F238E27FC236}">
                <a16:creationId xmlns:a16="http://schemas.microsoft.com/office/drawing/2014/main" id="{92D05B3E-703E-460D-B9C1-CB684A1F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52900"/>
            <a:ext cx="2295525" cy="4171950"/>
          </a:xfrm>
          <a:prstGeom xmlns:a="http://schemas.openxmlformats.org/drawingml/2006/main" prst="roundRect">
            <a:avLst>
              <a:gd name="adj" fmla="val 2905"/>
            </a:avLst>
          </a:prstGeom>
          <a:solidFill xmlns:a="http://schemas.openxmlformats.org/drawingml/2006/main">
            <a:srgbClr val="FEF9C3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oly-275-438">
            <a:extLst xmlns:a="http://schemas.openxmlformats.org/drawingml/2006/main">
              <a:ext uri="{FF2B5EF4-FFF2-40B4-BE49-F238E27FC236}">
                <a16:creationId xmlns:a16="http://schemas.microsoft.com/office/drawing/2014/main" id="{74D2EFF7-5538-44D3-ADD6-6B3C1186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71950"/>
            <a:ext cx="9525" cy="4152900"/>
          </a:xfrm>
          <a:custGeom xmlns:a="http://schemas.openxmlformats.org/drawingml/2006/main">
            <a:pathLst>
              <a:path w="9525" h="4152900">
                <a:moveTo>
                  <a:pt x="0" y="0"/>
                </a:moveTo>
                <a:lnTo>
                  <a:pt x="0" y="4152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dash"/>
          </a:ln>
        </p:spPr>
      </p:sp>
      <p:sp>
        <p:nvSpPr>
          <p:cNvPr id="117" name="poly-565-438">
            <a:extLst xmlns:a="http://schemas.openxmlformats.org/drawingml/2006/main">
              <a:ext uri="{FF2B5EF4-FFF2-40B4-BE49-F238E27FC236}">
                <a16:creationId xmlns:a16="http://schemas.microsoft.com/office/drawing/2014/main" id="{BE1C025A-E025-49A8-999A-7496017C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71950"/>
            <a:ext cx="9525" cy="4152900"/>
          </a:xfrm>
          <a:custGeom xmlns:a="http://schemas.openxmlformats.org/drawingml/2006/main">
            <a:pathLst>
              <a:path w="9525" h="4152900">
                <a:moveTo>
                  <a:pt x="0" y="0"/>
                </a:moveTo>
                <a:lnTo>
                  <a:pt x="0" y="4152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dash"/>
          </a:ln>
        </p:spPr>
      </p:sp>
      <p:sp>
        <p:nvSpPr>
          <p:cNvPr id="118" name="text-108">
            <a:extLst xmlns:a="http://schemas.openxmlformats.org/drawingml/2006/main">
              <a:ext uri="{FF2B5EF4-FFF2-40B4-BE49-F238E27FC236}">
                <a16:creationId xmlns:a16="http://schemas.microsoft.com/office/drawing/2014/main" id="{5461CB84-1CFC-49C8-AFE0-9AD12F23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5580"/>
            <a:ext cx="980599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MILESTONE DAG</a:t>
            </a:r>
          </a:p>
        </p:txBody>
      </p:sp>
      <p:sp>
        <p:nvSpPr>
          <p:cNvPr id="119" name="text-109">
            <a:extLst xmlns:a="http://schemas.openxmlformats.org/drawingml/2006/main">
              <a:ext uri="{FF2B5EF4-FFF2-40B4-BE49-F238E27FC236}">
                <a16:creationId xmlns:a16="http://schemas.microsoft.com/office/drawing/2014/main" id="{B89F11F0-38A5-4019-9F1D-7E5A5FC1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45864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S1</a:t>
            </a:r>
          </a:p>
        </p:txBody>
      </p:sp>
      <p:sp>
        <p:nvSpPr>
          <p:cNvPr id="120" name="text-110">
            <a:extLst xmlns:a="http://schemas.openxmlformats.org/drawingml/2006/main">
              <a:ext uri="{FF2B5EF4-FFF2-40B4-BE49-F238E27FC236}">
                <a16:creationId xmlns:a16="http://schemas.microsoft.com/office/drawing/2014/main" id="{49ACAF69-125B-41D6-81F5-27C57007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45864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S2</a:t>
            </a:r>
          </a:p>
        </p:txBody>
      </p:sp>
      <p:sp>
        <p:nvSpPr>
          <p:cNvPr id="121" name="text-111">
            <a:extLst xmlns:a="http://schemas.openxmlformats.org/drawingml/2006/main">
              <a:ext uri="{FF2B5EF4-FFF2-40B4-BE49-F238E27FC236}">
                <a16:creationId xmlns:a16="http://schemas.microsoft.com/office/drawing/2014/main" id="{BE94EFB1-155A-44E2-8F0C-BC13BF94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45864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1620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A16207"/>
                </a:solidFill>
                <a:latin typeface="Segoe UI"/>
                <a:ea typeface="Segoe UI"/>
                <a:cs typeface="Segoe UI"/>
              </a:rPr>
              <a:t>S3</a:t>
            </a:r>
          </a:p>
        </p:txBody>
      </p:sp>
      <p:sp>
        <p:nvSpPr>
          <p:cNvPr id="122" name="rect-112">
            <a:extLst xmlns:a="http://schemas.openxmlformats.org/drawingml/2006/main">
              <a:ext uri="{FF2B5EF4-FFF2-40B4-BE49-F238E27FC236}">
                <a16:creationId xmlns:a16="http://schemas.microsoft.com/office/drawing/2014/main" id="{2F794921-44F6-47C1-8093-5D8E2300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666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5240">
            <a:solidFill>
              <a:srgbClr val="22C55E"/>
            </a:solidFill>
            <a:prstDash val="solid"/>
          </a:ln>
        </p:spPr>
      </p:sp>
      <p:sp>
        <p:nvSpPr>
          <p:cNvPr id="123" name="text-113">
            <a:extLst xmlns:a="http://schemas.openxmlformats.org/drawingml/2006/main">
              <a:ext uri="{FF2B5EF4-FFF2-40B4-BE49-F238E27FC236}">
                <a16:creationId xmlns:a16="http://schemas.microsoft.com/office/drawing/2014/main" id="{DB37C423-54E4-4206-BDC0-C9DC7D74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7149"/>
            <a:ext cx="342900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M0</a:t>
            </a:r>
          </a:p>
        </p:txBody>
      </p:sp>
      <p:sp>
        <p:nvSpPr>
          <p:cNvPr id="124" name="rect-114">
            <a:extLst xmlns:a="http://schemas.openxmlformats.org/drawingml/2006/main">
              <a:ext uri="{FF2B5EF4-FFF2-40B4-BE49-F238E27FC236}">
                <a16:creationId xmlns:a16="http://schemas.microsoft.com/office/drawing/2014/main" id="{21E1B9B3-E5BA-4441-9B4B-331742F2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762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60A5FA"/>
            </a:solidFill>
            <a:prstDash val="solid"/>
          </a:ln>
        </p:spPr>
      </p:sp>
      <p:sp>
        <p:nvSpPr>
          <p:cNvPr id="125" name="text-115">
            <a:extLst xmlns:a="http://schemas.openxmlformats.org/drawingml/2006/main">
              <a:ext uri="{FF2B5EF4-FFF2-40B4-BE49-F238E27FC236}">
                <a16:creationId xmlns:a16="http://schemas.microsoft.com/office/drawing/2014/main" id="{8C589B1F-479C-4B60-BB3F-2253CB9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41139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M1a</a:t>
            </a:r>
          </a:p>
        </p:txBody>
      </p:sp>
      <p:sp>
        <p:nvSpPr>
          <p:cNvPr id="126" name="rect-116">
            <a:extLst xmlns:a="http://schemas.openxmlformats.org/drawingml/2006/main">
              <a:ext uri="{FF2B5EF4-FFF2-40B4-BE49-F238E27FC236}">
                <a16:creationId xmlns:a16="http://schemas.microsoft.com/office/drawing/2014/main" id="{C41248BB-0135-47AE-8200-FDAEF9F4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00625"/>
            <a:ext cx="762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3335">
            <a:solidFill>
              <a:srgbClr val="34D399"/>
            </a:solidFill>
            <a:prstDash val="solid"/>
          </a:ln>
        </p:spPr>
      </p:sp>
      <p:sp>
        <p:nvSpPr>
          <p:cNvPr id="127" name="text-117">
            <a:extLst xmlns:a="http://schemas.openxmlformats.org/drawingml/2006/main">
              <a:ext uri="{FF2B5EF4-FFF2-40B4-BE49-F238E27FC236}">
                <a16:creationId xmlns:a16="http://schemas.microsoft.com/office/drawing/2014/main" id="{600E1CCC-D2F5-4647-A749-EE84607F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65014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5F4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M1b</a:t>
            </a:r>
          </a:p>
        </p:txBody>
      </p:sp>
      <p:sp>
        <p:nvSpPr>
          <p:cNvPr id="128" name="rect-118">
            <a:extLst xmlns:a="http://schemas.openxmlformats.org/drawingml/2006/main">
              <a:ext uri="{FF2B5EF4-FFF2-40B4-BE49-F238E27FC236}">
                <a16:creationId xmlns:a16="http://schemas.microsoft.com/office/drawing/2014/main" id="{59037C04-32AF-4E14-927D-5AAD651E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4375"/>
            <a:ext cx="762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EF9C3"/>
          </a:solidFill>
          <a:ln xmlns:a="http://schemas.openxmlformats.org/drawingml/2006/main" w="14288">
            <a:solidFill>
              <a:srgbClr val="EAB308"/>
            </a:solidFill>
            <a:prstDash val="solid"/>
          </a:ln>
        </p:spPr>
      </p:sp>
      <p:sp>
        <p:nvSpPr>
          <p:cNvPr id="129" name="text-119">
            <a:extLst xmlns:a="http://schemas.openxmlformats.org/drawingml/2006/main">
              <a:ext uri="{FF2B5EF4-FFF2-40B4-BE49-F238E27FC236}">
                <a16:creationId xmlns:a16="http://schemas.microsoft.com/office/drawing/2014/main" id="{AB4267AB-A489-4D02-9FB9-E29FB49F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617149"/>
            <a:ext cx="342900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54D0E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854D0E"/>
                </a:solidFill>
                <a:latin typeface="Segoe UI"/>
                <a:ea typeface="Segoe UI"/>
                <a:cs typeface="Segoe UI"/>
              </a:rPr>
              <a:t>M2</a:t>
            </a:r>
          </a:p>
        </p:txBody>
      </p:sp>
      <p:sp>
        <p:nvSpPr>
          <p:cNvPr id="130" name="poly-215-480">
            <a:extLst xmlns:a="http://schemas.openxmlformats.org/drawingml/2006/main">
              <a:ext uri="{FF2B5EF4-FFF2-40B4-BE49-F238E27FC236}">
                <a16:creationId xmlns:a16="http://schemas.microsoft.com/office/drawing/2014/main" id="{820B5767-CD5A-4B3C-91A2-98E1967D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1802"/>
            <a:ext cx="981075" cy="76398"/>
          </a:xfrm>
          <a:custGeom xmlns:a="http://schemas.openxmlformats.org/drawingml/2006/main">
            <a:pathLst>
              <a:path w="981075" h="76398">
                <a:moveTo>
                  <a:pt x="0" y="76398"/>
                </a:moveTo>
                <a:lnTo>
                  <a:pt x="79573" y="57150"/>
                </a:lnTo>
                <a:lnTo>
                  <a:pt x="159544" y="40680"/>
                </a:lnTo>
                <a:lnTo>
                  <a:pt x="239911" y="26987"/>
                </a:lnTo>
                <a:lnTo>
                  <a:pt x="320675" y="16073"/>
                </a:lnTo>
                <a:lnTo>
                  <a:pt x="401836" y="7937"/>
                </a:lnTo>
                <a:lnTo>
                  <a:pt x="483394" y="2580"/>
                </a:lnTo>
                <a:lnTo>
                  <a:pt x="565348" y="0"/>
                </a:lnTo>
                <a:lnTo>
                  <a:pt x="647700" y="198"/>
                </a:lnTo>
                <a:lnTo>
                  <a:pt x="730448" y="3175"/>
                </a:lnTo>
                <a:lnTo>
                  <a:pt x="813594" y="8930"/>
                </a:lnTo>
                <a:lnTo>
                  <a:pt x="897136" y="17462"/>
                </a:lnTo>
                <a:lnTo>
                  <a:pt x="981075" y="2877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4A3B8"/>
            </a:solidFill>
            <a:prstDash val="solid"/>
          </a:ln>
        </p:spPr>
      </p:sp>
      <p:sp>
        <p:nvSpPr>
          <p:cNvPr id="131" name="poly-215-502">
            <a:extLst xmlns:a="http://schemas.openxmlformats.org/drawingml/2006/main">
              <a:ext uri="{FF2B5EF4-FFF2-40B4-BE49-F238E27FC236}">
                <a16:creationId xmlns:a16="http://schemas.microsoft.com/office/drawing/2014/main" id="{CF877B83-3196-4CC8-AAE7-0164ED68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81550"/>
            <a:ext cx="981075" cy="352425"/>
          </a:xfrm>
          <a:custGeom xmlns:a="http://schemas.openxmlformats.org/drawingml/2006/main">
            <a:pathLst>
              <a:path w="981075" h="352425">
                <a:moveTo>
                  <a:pt x="0" y="0"/>
                </a:moveTo>
                <a:lnTo>
                  <a:pt x="79573" y="25731"/>
                </a:lnTo>
                <a:lnTo>
                  <a:pt x="159544" y="52123"/>
                </a:lnTo>
                <a:lnTo>
                  <a:pt x="239911" y="79177"/>
                </a:lnTo>
                <a:lnTo>
                  <a:pt x="320675" y="106892"/>
                </a:lnTo>
                <a:lnTo>
                  <a:pt x="401836" y="135268"/>
                </a:lnTo>
                <a:lnTo>
                  <a:pt x="483394" y="164306"/>
                </a:lnTo>
                <a:lnTo>
                  <a:pt x="565348" y="194006"/>
                </a:lnTo>
                <a:lnTo>
                  <a:pt x="647700" y="224367"/>
                </a:lnTo>
                <a:lnTo>
                  <a:pt x="730448" y="255389"/>
                </a:lnTo>
                <a:lnTo>
                  <a:pt x="813594" y="287073"/>
                </a:lnTo>
                <a:lnTo>
                  <a:pt x="897136" y="319418"/>
                </a:lnTo>
                <a:lnTo>
                  <a:pt x="981075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4A3B8"/>
            </a:solidFill>
            <a:prstDash val="solid"/>
          </a:ln>
        </p:spPr>
      </p:sp>
      <p:sp>
        <p:nvSpPr>
          <p:cNvPr id="132" name="poly-400-483">
            <a:extLst xmlns:a="http://schemas.openxmlformats.org/drawingml/2006/main">
              <a:ext uri="{FF2B5EF4-FFF2-40B4-BE49-F238E27FC236}">
                <a16:creationId xmlns:a16="http://schemas.microsoft.com/office/drawing/2014/main" id="{CE2711E3-4391-42F4-A139-658B282E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01435"/>
            <a:ext cx="2600325" cy="46765"/>
          </a:xfrm>
          <a:custGeom xmlns:a="http://schemas.openxmlformats.org/drawingml/2006/main">
            <a:pathLst>
              <a:path w="2600325" h="46765">
                <a:moveTo>
                  <a:pt x="0" y="18190"/>
                </a:moveTo>
                <a:lnTo>
                  <a:pt x="221787" y="11113"/>
                </a:lnTo>
                <a:lnTo>
                  <a:pt x="442648" y="5755"/>
                </a:lnTo>
                <a:lnTo>
                  <a:pt x="662583" y="2117"/>
                </a:lnTo>
                <a:lnTo>
                  <a:pt x="881592" y="198"/>
                </a:lnTo>
                <a:lnTo>
                  <a:pt x="1099674" y="0"/>
                </a:lnTo>
                <a:lnTo>
                  <a:pt x="1316831" y="1521"/>
                </a:lnTo>
                <a:lnTo>
                  <a:pt x="1533062" y="4763"/>
                </a:lnTo>
                <a:lnTo>
                  <a:pt x="1748367" y="9723"/>
                </a:lnTo>
                <a:lnTo>
                  <a:pt x="1962745" y="16404"/>
                </a:lnTo>
                <a:lnTo>
                  <a:pt x="2176198" y="24805"/>
                </a:lnTo>
                <a:lnTo>
                  <a:pt x="2388724" y="34925"/>
                </a:lnTo>
                <a:lnTo>
                  <a:pt x="2600325" y="4676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4A3B8"/>
            </a:solidFill>
            <a:prstDash val="solid"/>
          </a:ln>
        </p:spPr>
      </p:sp>
      <p:sp>
        <p:nvSpPr>
          <p:cNvPr id="133" name="poly-400-500">
            <a:extLst xmlns:a="http://schemas.openxmlformats.org/drawingml/2006/main">
              <a:ext uri="{FF2B5EF4-FFF2-40B4-BE49-F238E27FC236}">
                <a16:creationId xmlns:a16="http://schemas.microsoft.com/office/drawing/2014/main" id="{DBB5C4E8-638A-4132-890C-0ACDB033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2600325" cy="381000"/>
          </a:xfrm>
          <a:custGeom xmlns:a="http://schemas.openxmlformats.org/drawingml/2006/main">
            <a:pathLst>
              <a:path w="2600325" h="381000">
                <a:moveTo>
                  <a:pt x="0" y="381000"/>
                </a:moveTo>
                <a:lnTo>
                  <a:pt x="221787" y="331787"/>
                </a:lnTo>
                <a:lnTo>
                  <a:pt x="442648" y="285750"/>
                </a:lnTo>
                <a:lnTo>
                  <a:pt x="662583" y="242888"/>
                </a:lnTo>
                <a:lnTo>
                  <a:pt x="881592" y="203200"/>
                </a:lnTo>
                <a:lnTo>
                  <a:pt x="1099674" y="166688"/>
                </a:lnTo>
                <a:lnTo>
                  <a:pt x="1316831" y="133350"/>
                </a:lnTo>
                <a:lnTo>
                  <a:pt x="1533062" y="103188"/>
                </a:lnTo>
                <a:lnTo>
                  <a:pt x="1748367" y="76200"/>
                </a:lnTo>
                <a:lnTo>
                  <a:pt x="1962745" y="52388"/>
                </a:lnTo>
                <a:lnTo>
                  <a:pt x="2176198" y="31750"/>
                </a:lnTo>
                <a:lnTo>
                  <a:pt x="2388724" y="14288"/>
                </a:lnTo>
                <a:lnTo>
                  <a:pt x="2600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4A3B8"/>
            </a:solidFill>
            <a:prstDash val="solid"/>
          </a:ln>
        </p:spPr>
      </p:sp>
      <p:sp>
        <p:nvSpPr>
          <p:cNvPr id="134" name="text-121">
            <a:extLst xmlns:a="http://schemas.openxmlformats.org/drawingml/2006/main">
              <a:ext uri="{FF2B5EF4-FFF2-40B4-BE49-F238E27FC236}">
                <a16:creationId xmlns:a16="http://schemas.microsoft.com/office/drawing/2014/main" id="{2BD8708C-3770-45D7-9244-96B2AAD8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93880"/>
            <a:ext cx="1048703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CLOSED ACTIONS</a:t>
            </a:r>
          </a:p>
        </p:txBody>
      </p:sp>
      <p:sp>
        <p:nvSpPr>
          <p:cNvPr id="135" name="poly-360-555">
            <a:extLst xmlns:a="http://schemas.openxmlformats.org/drawingml/2006/main">
              <a:ext uri="{FF2B5EF4-FFF2-40B4-BE49-F238E27FC236}">
                <a16:creationId xmlns:a16="http://schemas.microsoft.com/office/drawing/2014/main" id="{69294EFB-4C4A-4CB3-A869-22030B7E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C2626"/>
            </a:solidFill>
            <a:prstDash val="dash"/>
          </a:ln>
        </p:spPr>
      </p:sp>
      <p:sp>
        <p:nvSpPr>
          <p:cNvPr id="136" name="rect-123">
            <a:extLst xmlns:a="http://schemas.openxmlformats.org/drawingml/2006/main">
              <a:ext uri="{FF2B5EF4-FFF2-40B4-BE49-F238E27FC236}">
                <a16:creationId xmlns:a16="http://schemas.microsoft.com/office/drawing/2014/main" id="{ABA8D6E3-5334-4489-B9AD-8D2522DB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715000"/>
            <a:ext cx="1714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text-124">
            <a:extLst xmlns:a="http://schemas.openxmlformats.org/drawingml/2006/main">
              <a:ext uri="{FF2B5EF4-FFF2-40B4-BE49-F238E27FC236}">
                <a16:creationId xmlns:a16="http://schemas.microsoft.com/office/drawing/2014/main" id="{FC2E8DE1-4E75-4C1F-B1C4-3A7492DD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557" y="5550980"/>
            <a:ext cx="1661636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does not settle M1a/M1b</a:t>
            </a:r>
          </a:p>
        </p:txBody>
      </p:sp>
      <p:sp>
        <p:nvSpPr>
          <p:cNvPr id="138" name="circle-125">
            <a:extLst xmlns:a="http://schemas.openxmlformats.org/drawingml/2006/main">
              <a:ext uri="{FF2B5EF4-FFF2-40B4-BE49-F238E27FC236}">
                <a16:creationId xmlns:a16="http://schemas.microsoft.com/office/drawing/2014/main" id="{E4BD6D4D-65D7-48DA-A364-C8B44B0A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276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20955">
            <a:solidFill>
              <a:srgbClr val="22C55E"/>
            </a:solidFill>
            <a:prstDash val="solid"/>
          </a:ln>
        </p:spPr>
      </p:sp>
      <p:sp>
        <p:nvSpPr>
          <p:cNvPr id="139" name="text-126">
            <a:extLst xmlns:a="http://schemas.openxmlformats.org/drawingml/2006/main">
              <a:ext uri="{FF2B5EF4-FFF2-40B4-BE49-F238E27FC236}">
                <a16:creationId xmlns:a16="http://schemas.microsoft.com/office/drawing/2014/main" id="{EBBF0134-FEC0-4C4F-8CA4-140CEE66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08039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t1</a:t>
            </a:r>
          </a:p>
        </p:txBody>
      </p:sp>
      <p:sp>
        <p:nvSpPr>
          <p:cNvPr id="140" name="circle-127">
            <a:extLst xmlns:a="http://schemas.openxmlformats.org/drawingml/2006/main">
              <a:ext uri="{FF2B5EF4-FFF2-40B4-BE49-F238E27FC236}">
                <a16:creationId xmlns:a16="http://schemas.microsoft.com/office/drawing/2014/main" id="{147800FE-FC1A-4AE1-B585-9A2E8712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296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41" name="text-128">
            <a:extLst xmlns:a="http://schemas.openxmlformats.org/drawingml/2006/main">
              <a:ext uri="{FF2B5EF4-FFF2-40B4-BE49-F238E27FC236}">
                <a16:creationId xmlns:a16="http://schemas.microsoft.com/office/drawing/2014/main" id="{5440CC6C-39D0-461A-A210-7AC2102C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408039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t2</a:t>
            </a:r>
          </a:p>
        </p:txBody>
      </p:sp>
      <p:sp>
        <p:nvSpPr>
          <p:cNvPr id="142" name="circle-129">
            <a:extLst xmlns:a="http://schemas.openxmlformats.org/drawingml/2006/main">
              <a:ext uri="{FF2B5EF4-FFF2-40B4-BE49-F238E27FC236}">
                <a16:creationId xmlns:a16="http://schemas.microsoft.com/office/drawing/2014/main" id="{290818B8-C19B-4BA6-BE6B-F26DE83B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296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43" name="text-130">
            <a:extLst xmlns:a="http://schemas.openxmlformats.org/drawingml/2006/main">
              <a:ext uri="{FF2B5EF4-FFF2-40B4-BE49-F238E27FC236}">
                <a16:creationId xmlns:a16="http://schemas.microsoft.com/office/drawing/2014/main" id="{C5FFB081-2292-425F-B4E4-8059827E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408039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t3</a:t>
            </a:r>
          </a:p>
        </p:txBody>
      </p:sp>
      <p:sp>
        <p:nvSpPr>
          <p:cNvPr id="144" name="circle-131">
            <a:extLst xmlns:a="http://schemas.openxmlformats.org/drawingml/2006/main">
              <a:ext uri="{FF2B5EF4-FFF2-40B4-BE49-F238E27FC236}">
                <a16:creationId xmlns:a16="http://schemas.microsoft.com/office/drawing/2014/main" id="{1497D127-8A85-4E55-88EC-924568A4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6296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45" name="text-132">
            <a:extLst xmlns:a="http://schemas.openxmlformats.org/drawingml/2006/main">
              <a:ext uri="{FF2B5EF4-FFF2-40B4-BE49-F238E27FC236}">
                <a16:creationId xmlns:a16="http://schemas.microsoft.com/office/drawing/2014/main" id="{EDA11C94-4365-485E-AFAF-2989AED8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408039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t4</a:t>
            </a:r>
          </a:p>
        </p:txBody>
      </p:sp>
      <p:sp>
        <p:nvSpPr>
          <p:cNvPr id="146" name="circle-133">
            <a:extLst xmlns:a="http://schemas.openxmlformats.org/drawingml/2006/main">
              <a:ext uri="{FF2B5EF4-FFF2-40B4-BE49-F238E27FC236}">
                <a16:creationId xmlns:a16="http://schemas.microsoft.com/office/drawing/2014/main" id="{7A223BA0-74EE-4BD9-B03A-B6B77319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276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20955">
            <a:solidFill>
              <a:srgbClr val="EF4444"/>
            </a:solidFill>
            <a:prstDash val="solid"/>
          </a:ln>
        </p:spPr>
      </p:sp>
      <p:sp>
        <p:nvSpPr>
          <p:cNvPr id="147" name="text-134">
            <a:extLst xmlns:a="http://schemas.openxmlformats.org/drawingml/2006/main">
              <a:ext uri="{FF2B5EF4-FFF2-40B4-BE49-F238E27FC236}">
                <a16:creationId xmlns:a16="http://schemas.microsoft.com/office/drawing/2014/main" id="{D6ED7D34-BD95-4938-BF37-47F78078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427470"/>
            <a:ext cx="34290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91B1B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STOP</a:t>
            </a:r>
          </a:p>
        </p:txBody>
      </p:sp>
      <p:sp>
        <p:nvSpPr>
          <p:cNvPr id="148" name="poly-201-680">
            <a:extLst xmlns:a="http://schemas.openxmlformats.org/drawingml/2006/main">
              <a:ext uri="{FF2B5EF4-FFF2-40B4-BE49-F238E27FC236}">
                <a16:creationId xmlns:a16="http://schemas.microsoft.com/office/drawing/2014/main" id="{851C0F19-0D12-4CAC-8C4E-8BF25C15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477000"/>
            <a:ext cx="1314450" cy="9525"/>
          </a:xfrm>
          <a:custGeom xmlns:a="http://schemas.openxmlformats.org/drawingml/2006/main">
            <a:pathLst>
              <a:path w="1314450" h="9525">
                <a:moveTo>
                  <a:pt x="0" y="0"/>
                </a:moveTo>
                <a:lnTo>
                  <a:pt x="131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4748B"/>
            </a:solidFill>
            <a:prstDash val="solid"/>
          </a:ln>
        </p:spPr>
      </p:sp>
      <p:sp>
        <p:nvSpPr>
          <p:cNvPr id="149" name="poly-380-680">
            <a:extLst xmlns:a="http://schemas.openxmlformats.org/drawingml/2006/main">
              <a:ext uri="{FF2B5EF4-FFF2-40B4-BE49-F238E27FC236}">
                <a16:creationId xmlns:a16="http://schemas.microsoft.com/office/drawing/2014/main" id="{2A8A5C05-42F6-48C9-B09A-F4015906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4770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4748B"/>
            </a:solidFill>
            <a:prstDash val="solid"/>
          </a:ln>
        </p:spPr>
      </p:sp>
      <p:sp>
        <p:nvSpPr>
          <p:cNvPr id="150" name="poly-450-680">
            <a:extLst xmlns:a="http://schemas.openxmlformats.org/drawingml/2006/main">
              <a:ext uri="{FF2B5EF4-FFF2-40B4-BE49-F238E27FC236}">
                <a16:creationId xmlns:a16="http://schemas.microsoft.com/office/drawing/2014/main" id="{9A1FC8AC-48E0-47FB-A9D5-1EF54812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770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4748B"/>
            </a:solidFill>
            <a:prstDash val="solid"/>
          </a:ln>
        </p:spPr>
      </p:sp>
      <p:sp>
        <p:nvSpPr>
          <p:cNvPr id="151" name="poly-520-680">
            <a:extLst xmlns:a="http://schemas.openxmlformats.org/drawingml/2006/main">
              <a:ext uri="{FF2B5EF4-FFF2-40B4-BE49-F238E27FC236}">
                <a16:creationId xmlns:a16="http://schemas.microsoft.com/office/drawing/2014/main" id="{55751488-23C8-4429-8955-B259D0D3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77000"/>
            <a:ext cx="161925" cy="9525"/>
          </a:xfrm>
          <a:custGeom xmlns:a="http://schemas.openxmlformats.org/drawingml/2006/main">
            <a:pathLst>
              <a:path w="161925" h="952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4748B"/>
            </a:solidFill>
            <a:prstDash val="solid"/>
          </a:ln>
        </p:spPr>
      </p:sp>
      <p:sp>
        <p:nvSpPr>
          <p:cNvPr id="152" name="poly-531-677">
            <a:extLst xmlns:a="http://schemas.openxmlformats.org/drawingml/2006/main">
              <a:ext uri="{FF2B5EF4-FFF2-40B4-BE49-F238E27FC236}">
                <a16:creationId xmlns:a16="http://schemas.microsoft.com/office/drawing/2014/main" id="{AC8516C9-F921-4F07-B60A-790C54FF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918" y="6446139"/>
            <a:ext cx="60007" cy="61722"/>
          </a:xfrm>
          <a:custGeom xmlns:a="http://schemas.openxmlformats.org/drawingml/2006/main">
            <a:pathLst>
              <a:path w="60007" h="61722">
                <a:moveTo>
                  <a:pt x="60007" y="30861"/>
                </a:moveTo>
                <a:lnTo>
                  <a:pt x="0" y="61722"/>
                </a:lnTo>
                <a:lnTo>
                  <a:pt x="0" y="0"/>
                </a:lnTo>
                <a:lnTo>
                  <a:pt x="60007" y="30861"/>
                </a:lnTo>
              </a:path>
            </a:pathLst>
          </a:custGeom>
          <a:solidFill xmlns:a="http://schemas.openxmlformats.org/drawingml/2006/main">
            <a:srgbClr val="64748B"/>
          </a:solidFill>
          <a:ln xmlns:a="http://schemas.openxmlformats.org/drawingml/2006/main" w="4763">
            <a:solidFill>
              <a:srgbClr val="64748B"/>
            </a:solidFill>
            <a:prstDash val="solid"/>
          </a:ln>
        </p:spPr>
      </p:sp>
      <p:sp>
        <p:nvSpPr>
          <p:cNvPr id="153" name="poly-180-515">
            <a:extLst xmlns:a="http://schemas.openxmlformats.org/drawingml/2006/main">
              <a:ext uri="{FF2B5EF4-FFF2-40B4-BE49-F238E27FC236}">
                <a16:creationId xmlns:a16="http://schemas.microsoft.com/office/drawing/2014/main" id="{78139ED9-5123-418C-B4C6-EF53523C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9525" cy="1371600"/>
          </a:xfrm>
          <a:custGeom xmlns:a="http://schemas.openxmlformats.org/drawingml/2006/main">
            <a:pathLst>
              <a:path w="9525" h="1371600">
                <a:moveTo>
                  <a:pt x="0" y="1371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59669"/>
            </a:solidFill>
            <a:prstDash val="dash"/>
          </a:ln>
        </p:spPr>
      </p:sp>
      <p:sp>
        <p:nvSpPr>
          <p:cNvPr id="154" name="poly-177-515">
            <a:extLst xmlns:a="http://schemas.openxmlformats.org/drawingml/2006/main">
              <a:ext uri="{FF2B5EF4-FFF2-40B4-BE49-F238E27FC236}">
                <a16:creationId xmlns:a16="http://schemas.microsoft.com/office/drawing/2014/main" id="{218C0C8C-CB25-4F75-BE64-73EA7D5A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639" y="4905375"/>
            <a:ext cx="61722" cy="60007"/>
          </a:xfrm>
          <a:custGeom xmlns:a="http://schemas.openxmlformats.org/drawingml/2006/main">
            <a:pathLst>
              <a:path w="61722" h="60007">
                <a:moveTo>
                  <a:pt x="30861" y="0"/>
                </a:moveTo>
                <a:lnTo>
                  <a:pt x="61722" y="60007"/>
                </a:lnTo>
                <a:lnTo>
                  <a:pt x="0" y="60007"/>
                </a:lnTo>
                <a:lnTo>
                  <a:pt x="30861" y="0"/>
                </a:lnTo>
              </a:path>
            </a:pathLst>
          </a:custGeom>
          <a:solidFill xmlns:a="http://schemas.openxmlformats.org/drawingml/2006/main">
            <a:srgbClr val="059669"/>
          </a:solidFill>
          <a:ln xmlns:a="http://schemas.openxmlformats.org/drawingml/2006/main" w="4763">
            <a:solidFill>
              <a:srgbClr val="059669"/>
            </a:solidFill>
            <a:prstDash val="solid"/>
          </a:ln>
        </p:spPr>
      </p:sp>
      <p:sp>
        <p:nvSpPr>
          <p:cNvPr id="155" name="poly-360-607">
            <a:extLst xmlns:a="http://schemas.openxmlformats.org/drawingml/2006/main">
              <a:ext uri="{FF2B5EF4-FFF2-40B4-BE49-F238E27FC236}">
                <a16:creationId xmlns:a16="http://schemas.microsoft.com/office/drawing/2014/main" id="{4CB9A214-66D9-4B77-90D1-35CC1FE8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816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514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87171"/>
            </a:solidFill>
            <a:prstDash val="dash"/>
          </a:ln>
        </p:spPr>
      </p:sp>
      <p:sp>
        <p:nvSpPr>
          <p:cNvPr id="156" name="poly-430-607">
            <a:extLst xmlns:a="http://schemas.openxmlformats.org/drawingml/2006/main">
              <a:ext uri="{FF2B5EF4-FFF2-40B4-BE49-F238E27FC236}">
                <a16:creationId xmlns:a16="http://schemas.microsoft.com/office/drawing/2014/main" id="{6827F72F-6ECB-41D9-95EC-F78B3185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816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514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87171"/>
            </a:solidFill>
            <a:prstDash val="dash"/>
          </a:ln>
        </p:spPr>
      </p:sp>
      <p:sp>
        <p:nvSpPr>
          <p:cNvPr id="157" name="poly-500-607">
            <a:extLst xmlns:a="http://schemas.openxmlformats.org/drawingml/2006/main">
              <a:ext uri="{FF2B5EF4-FFF2-40B4-BE49-F238E27FC236}">
                <a16:creationId xmlns:a16="http://schemas.microsoft.com/office/drawing/2014/main" id="{B8885F95-FB16-4043-95C3-77E597B7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816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514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87171"/>
            </a:solidFill>
            <a:prstDash val="dash"/>
          </a:ln>
        </p:spPr>
      </p:sp>
      <p:sp>
        <p:nvSpPr>
          <p:cNvPr id="158" name="text-138">
            <a:extLst xmlns:a="http://schemas.openxmlformats.org/drawingml/2006/main">
              <a:ext uri="{FF2B5EF4-FFF2-40B4-BE49-F238E27FC236}">
                <a16:creationId xmlns:a16="http://schemas.microsoft.com/office/drawing/2014/main" id="{B564852E-48B1-46F7-B47B-79583574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5255"/>
            <a:ext cx="1525429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47857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47857"/>
                </a:solidFill>
                <a:latin typeface="Segoe UI"/>
                <a:ea typeface="Segoe UI"/>
                <a:cs typeface="Segoe UI"/>
              </a:rPr>
              <a:t>settles M0; closes S1</a:t>
            </a:r>
          </a:p>
        </p:txBody>
      </p:sp>
      <p:sp>
        <p:nvSpPr>
          <p:cNvPr id="159" name="text-139">
            <a:extLst xmlns:a="http://schemas.openxmlformats.org/drawingml/2006/main">
              <a:ext uri="{FF2B5EF4-FFF2-40B4-BE49-F238E27FC236}">
                <a16:creationId xmlns:a16="http://schemas.microsoft.com/office/drawing/2014/main" id="{DDCDDD73-F087-41D6-B360-746A093F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" y="6732080"/>
            <a:ext cx="64008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get time</a:t>
            </a:r>
          </a:p>
        </p:txBody>
      </p:sp>
      <p:sp>
        <p:nvSpPr>
          <p:cNvPr id="160" name="text-140">
            <a:extLst xmlns:a="http://schemas.openxmlformats.org/drawingml/2006/main">
              <a:ext uri="{FF2B5EF4-FFF2-40B4-BE49-F238E27FC236}">
                <a16:creationId xmlns:a16="http://schemas.microsoft.com/office/drawing/2014/main" id="{053B23D4-8DFD-44A8-B0F1-EEA75220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064" y="6732080"/>
            <a:ext cx="503873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search</a:t>
            </a:r>
          </a:p>
        </p:txBody>
      </p:sp>
      <p:sp>
        <p:nvSpPr>
          <p:cNvPr id="161" name="text-141">
            <a:extLst xmlns:a="http://schemas.openxmlformats.org/drawingml/2006/main">
              <a:ext uri="{FF2B5EF4-FFF2-40B4-BE49-F238E27FC236}">
                <a16:creationId xmlns:a16="http://schemas.microsoft.com/office/drawing/2014/main" id="{E2FA308E-5492-490C-B231-4499F118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866" y="6732080"/>
            <a:ext cx="435769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retry</a:t>
            </a:r>
          </a:p>
        </p:txBody>
      </p:sp>
      <p:sp>
        <p:nvSpPr>
          <p:cNvPr id="162" name="text-142">
            <a:extLst xmlns:a="http://schemas.openxmlformats.org/drawingml/2006/main">
              <a:ext uri="{FF2B5EF4-FFF2-40B4-BE49-F238E27FC236}">
                <a16:creationId xmlns:a16="http://schemas.microsoft.com/office/drawing/2014/main" id="{E66238C3-AEE8-402F-A10A-E7C4D5C8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356" y="6732080"/>
            <a:ext cx="776288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stagnation</a:t>
            </a:r>
          </a:p>
        </p:txBody>
      </p:sp>
      <p:sp>
        <p:nvSpPr>
          <p:cNvPr id="163" name="text-143">
            <a:extLst xmlns:a="http://schemas.openxmlformats.org/drawingml/2006/main">
              <a:ext uri="{FF2B5EF4-FFF2-40B4-BE49-F238E27FC236}">
                <a16:creationId xmlns:a16="http://schemas.microsoft.com/office/drawing/2014/main" id="{A2AB8D8D-BA9D-49F7-A776-D6803C71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804" y="6732080"/>
            <a:ext cx="844391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no progress</a:t>
            </a:r>
          </a:p>
        </p:txBody>
      </p:sp>
      <p:sp>
        <p:nvSpPr>
          <p:cNvPr id="164" name="text-144">
            <a:extLst xmlns:a="http://schemas.openxmlformats.org/drawingml/2006/main">
              <a:ext uri="{FF2B5EF4-FFF2-40B4-BE49-F238E27FC236}">
                <a16:creationId xmlns:a16="http://schemas.microsoft.com/office/drawing/2014/main" id="{F0118ADC-1F01-4212-A402-02F604CA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6360414"/>
            <a:ext cx="3429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not</a:t>
            </a:r>
          </a:p>
        </p:txBody>
      </p:sp>
      <p:sp>
        <p:nvSpPr>
          <p:cNvPr id="165" name="text-145">
            <a:extLst xmlns:a="http://schemas.openxmlformats.org/drawingml/2006/main">
              <a:ext uri="{FF2B5EF4-FFF2-40B4-BE49-F238E27FC236}">
                <a16:creationId xmlns:a16="http://schemas.microsoft.com/office/drawing/2014/main" id="{D2777540-7973-4D0F-AD4F-4370EDCA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968" y="6531864"/>
            <a:ext cx="615315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reached</a:t>
            </a:r>
          </a:p>
        </p:txBody>
      </p:sp>
      <p:sp>
        <p:nvSpPr>
          <p:cNvPr id="166" name="text-146">
            <a:extLst xmlns:a="http://schemas.openxmlformats.org/drawingml/2006/main">
              <a:ext uri="{FF2B5EF4-FFF2-40B4-BE49-F238E27FC236}">
                <a16:creationId xmlns:a16="http://schemas.microsoft.com/office/drawing/2014/main" id="{A7C013EB-D443-48B5-A55E-F62DA1D7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703630"/>
            <a:ext cx="1048703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STAGE DECISION</a:t>
            </a:r>
          </a:p>
        </p:txBody>
      </p:sp>
      <p:sp>
        <p:nvSpPr>
          <p:cNvPr id="167" name="rect-147">
            <a:extLst xmlns:a="http://schemas.openxmlformats.org/drawingml/2006/main">
              <a:ext uri="{FF2B5EF4-FFF2-40B4-BE49-F238E27FC236}">
                <a16:creationId xmlns:a16="http://schemas.microsoft.com/office/drawing/2014/main" id="{B72F69F4-60B5-4D32-A6A1-7E1601FA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77175"/>
            <a:ext cx="15240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68" name="text-148">
            <a:extLst xmlns:a="http://schemas.openxmlformats.org/drawingml/2006/main">
              <a:ext uri="{FF2B5EF4-FFF2-40B4-BE49-F238E27FC236}">
                <a16:creationId xmlns:a16="http://schemas.microsoft.com/office/drawing/2014/main" id="{57FFEF92-32B7-4C66-8DA8-E5C7891D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951089"/>
            <a:ext cx="8382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PASS -&gt; S2</a:t>
            </a:r>
          </a:p>
        </p:txBody>
      </p:sp>
      <p:sp>
        <p:nvSpPr>
          <p:cNvPr id="169" name="rect-149">
            <a:extLst xmlns:a="http://schemas.openxmlformats.org/drawingml/2006/main">
              <a:ext uri="{FF2B5EF4-FFF2-40B4-BE49-F238E27FC236}">
                <a16:creationId xmlns:a16="http://schemas.microsoft.com/office/drawing/2014/main" id="{F5425A95-0635-4013-81F6-1D9EC0F2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877175"/>
            <a:ext cx="22860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DF4FF"/>
          </a:solidFill>
          <a:ln xmlns:a="http://schemas.openxmlformats.org/drawingml/2006/main" w="9525">
            <a:solidFill>
              <a:srgbClr val="F0ABFC"/>
            </a:solidFill>
            <a:prstDash val="solid"/>
          </a:ln>
        </p:spPr>
      </p:sp>
      <p:sp>
        <p:nvSpPr>
          <p:cNvPr id="170" name="text-150">
            <a:extLst xmlns:a="http://schemas.openxmlformats.org/drawingml/2006/main">
              <a:ext uri="{FF2B5EF4-FFF2-40B4-BE49-F238E27FC236}">
                <a16:creationId xmlns:a16="http://schemas.microsoft.com/office/drawing/2014/main" id="{0F0483EB-F498-4329-8AF6-2A9C5CB0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7893939"/>
            <a:ext cx="466725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E22C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7E22CE"/>
                </a:solidFill>
                <a:latin typeface="Segoe UI"/>
                <a:ea typeface="Segoe UI"/>
                <a:cs typeface="Segoe UI"/>
              </a:rPr>
              <a:t>ADAPT</a:t>
            </a:r>
          </a:p>
        </p:txBody>
      </p:sp>
      <p:sp>
        <p:nvSpPr>
          <p:cNvPr id="171" name="text-151">
            <a:extLst xmlns:a="http://schemas.openxmlformats.org/drawingml/2006/main">
              <a:ext uri="{FF2B5EF4-FFF2-40B4-BE49-F238E27FC236}">
                <a16:creationId xmlns:a16="http://schemas.microsoft.com/office/drawing/2014/main" id="{9169D78E-96EA-4DBC-8649-70C0F736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319" y="8027480"/>
            <a:ext cx="2138363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E22C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7E22CE"/>
                </a:solidFill>
                <a:latin typeface="Segoe UI"/>
                <a:ea typeface="Segoe UI"/>
                <a:cs typeface="Segoe UI"/>
              </a:rPr>
              <a:t>Jstd -&gt; Jexp; weights up; halt</a:t>
            </a:r>
          </a:p>
        </p:txBody>
      </p:sp>
      <p:sp>
        <p:nvSpPr>
          <p:cNvPr id="172" name="rect-152">
            <a:extLst xmlns:a="http://schemas.openxmlformats.org/drawingml/2006/main">
              <a:ext uri="{FF2B5EF4-FFF2-40B4-BE49-F238E27FC236}">
                <a16:creationId xmlns:a16="http://schemas.microsoft.com/office/drawing/2014/main" id="{3FABB431-9EDF-4FBB-B51F-725083D3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877175"/>
            <a:ext cx="18097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3" name="text-153">
            <a:extLst xmlns:a="http://schemas.openxmlformats.org/drawingml/2006/main">
              <a:ext uri="{FF2B5EF4-FFF2-40B4-BE49-F238E27FC236}">
                <a16:creationId xmlns:a16="http://schemas.microsoft.com/office/drawing/2014/main" id="{95432F5A-1976-4ACB-85EA-ACE02D3D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7951089"/>
            <a:ext cx="113538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S3 NOT REACHED</a:t>
            </a:r>
          </a:p>
        </p:txBody>
      </p:sp>
      <p:sp>
        <p:nvSpPr>
          <p:cNvPr id="174" name="poly-250-843">
            <a:extLst xmlns:a="http://schemas.openxmlformats.org/drawingml/2006/main">
              <a:ext uri="{FF2B5EF4-FFF2-40B4-BE49-F238E27FC236}">
                <a16:creationId xmlns:a16="http://schemas.microsoft.com/office/drawing/2014/main" id="{8C17F155-7A12-4752-9BFA-515018B0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029575"/>
            <a:ext cx="438150" cy="9525"/>
          </a:xfrm>
          <a:custGeom xmlns:a="http://schemas.openxmlformats.org/drawingml/2006/main"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E22CE"/>
            </a:solidFill>
            <a:prstDash val="solid"/>
          </a:ln>
        </p:spPr>
      </p:sp>
      <p:sp>
        <p:nvSpPr>
          <p:cNvPr id="175" name="poly-290-840">
            <a:extLst xmlns:a="http://schemas.openxmlformats.org/drawingml/2006/main">
              <a:ext uri="{FF2B5EF4-FFF2-40B4-BE49-F238E27FC236}">
                <a16:creationId xmlns:a16="http://schemas.microsoft.com/office/drawing/2014/main" id="{B44BE55A-A57C-4222-A102-2C49BDBD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393" y="7998714"/>
            <a:ext cx="60008" cy="61722"/>
          </a:xfrm>
          <a:custGeom xmlns:a="http://schemas.openxmlformats.org/drawingml/2006/main">
            <a:pathLst>
              <a:path w="60008" h="61722">
                <a:moveTo>
                  <a:pt x="60008" y="30861"/>
                </a:moveTo>
                <a:lnTo>
                  <a:pt x="0" y="61722"/>
                </a:lnTo>
                <a:lnTo>
                  <a:pt x="0" y="0"/>
                </a:lnTo>
                <a:lnTo>
                  <a:pt x="60008" y="30861"/>
                </a:lnTo>
              </a:path>
            </a:pathLst>
          </a:custGeom>
          <a:solidFill xmlns:a="http://schemas.openxmlformats.org/drawingml/2006/main">
            <a:srgbClr val="7E22CE"/>
          </a:solidFill>
          <a:ln xmlns:a="http://schemas.openxmlformats.org/drawingml/2006/main" w="4763">
            <a:solidFill>
              <a:srgbClr val="7E22CE"/>
            </a:solidFill>
            <a:prstDash val="solid"/>
          </a:ln>
        </p:spPr>
      </p:sp>
      <p:sp>
        <p:nvSpPr>
          <p:cNvPr id="176" name="poly-822-500">
            <a:extLst xmlns:a="http://schemas.openxmlformats.org/drawingml/2006/main">
              <a:ext uri="{FF2B5EF4-FFF2-40B4-BE49-F238E27FC236}">
                <a16:creationId xmlns:a16="http://schemas.microsoft.com/office/drawing/2014/main" id="{4CED79E6-3560-486A-BD78-5CC5B602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62500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59669"/>
            </a:solidFill>
            <a:prstDash val="solid"/>
          </a:ln>
        </p:spPr>
      </p:sp>
      <p:sp>
        <p:nvSpPr>
          <p:cNvPr id="177" name="poly-838-496">
            <a:extLst xmlns:a="http://schemas.openxmlformats.org/drawingml/2006/main">
              <a:ext uri="{FF2B5EF4-FFF2-40B4-BE49-F238E27FC236}">
                <a16:creationId xmlns:a16="http://schemas.microsoft.com/office/drawing/2014/main" id="{51B3F187-0DA2-475E-8CDD-16BF980F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808" y="4724781"/>
            <a:ext cx="73343" cy="75438"/>
          </a:xfrm>
          <a:custGeom xmlns:a="http://schemas.openxmlformats.org/drawingml/2006/main">
            <a:pathLst>
              <a:path w="73343" h="75438">
                <a:moveTo>
                  <a:pt x="73343" y="37719"/>
                </a:moveTo>
                <a:lnTo>
                  <a:pt x="0" y="75438"/>
                </a:lnTo>
                <a:lnTo>
                  <a:pt x="0" y="0"/>
                </a:lnTo>
                <a:lnTo>
                  <a:pt x="73343" y="37719"/>
                </a:lnTo>
              </a:path>
            </a:pathLst>
          </a:custGeom>
          <a:solidFill xmlns:a="http://schemas.openxmlformats.org/drawingml/2006/main">
            <a:srgbClr val="059669"/>
          </a:solidFill>
          <a:ln xmlns:a="http://schemas.openxmlformats.org/drawingml/2006/main" w="4763">
            <a:solidFill>
              <a:srgbClr val="059669"/>
            </a:solidFill>
            <a:prstDash val="solid"/>
          </a:ln>
        </p:spPr>
      </p:sp>
      <p:sp>
        <p:nvSpPr>
          <p:cNvPr id="178" name="poly-822-770">
            <a:extLst xmlns:a="http://schemas.openxmlformats.org/drawingml/2006/main">
              <a:ext uri="{FF2B5EF4-FFF2-40B4-BE49-F238E27FC236}">
                <a16:creationId xmlns:a16="http://schemas.microsoft.com/office/drawing/2014/main" id="{30079D0B-A785-4C1B-A7A6-7C16CE40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334250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59669"/>
            </a:solidFill>
            <a:prstDash val="solid"/>
          </a:ln>
        </p:spPr>
      </p:sp>
      <p:sp>
        <p:nvSpPr>
          <p:cNvPr id="179" name="poly-838-766">
            <a:extLst xmlns:a="http://schemas.openxmlformats.org/drawingml/2006/main">
              <a:ext uri="{FF2B5EF4-FFF2-40B4-BE49-F238E27FC236}">
                <a16:creationId xmlns:a16="http://schemas.microsoft.com/office/drawing/2014/main" id="{2922428D-8678-4632-BEED-5067646A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808" y="7296531"/>
            <a:ext cx="73343" cy="75438"/>
          </a:xfrm>
          <a:custGeom xmlns:a="http://schemas.openxmlformats.org/drawingml/2006/main">
            <a:pathLst>
              <a:path w="73343" h="75438">
                <a:moveTo>
                  <a:pt x="73343" y="37719"/>
                </a:moveTo>
                <a:lnTo>
                  <a:pt x="0" y="75438"/>
                </a:lnTo>
                <a:lnTo>
                  <a:pt x="0" y="0"/>
                </a:lnTo>
                <a:lnTo>
                  <a:pt x="73343" y="37719"/>
                </a:lnTo>
              </a:path>
            </a:pathLst>
          </a:custGeom>
          <a:solidFill xmlns:a="http://schemas.openxmlformats.org/drawingml/2006/main">
            <a:srgbClr val="059669"/>
          </a:solidFill>
          <a:ln xmlns:a="http://schemas.openxmlformats.org/drawingml/2006/main" w="4763">
            <a:solidFill>
              <a:srgbClr val="059669"/>
            </a:solidFill>
            <a:prstDash val="solid"/>
          </a:ln>
        </p:spPr>
      </p:sp>
      <p:sp>
        <p:nvSpPr>
          <p:cNvPr id="180" name="rect-157">
            <a:extLst xmlns:a="http://schemas.openxmlformats.org/drawingml/2006/main">
              <a:ext uri="{FF2B5EF4-FFF2-40B4-BE49-F238E27FC236}">
                <a16:creationId xmlns:a16="http://schemas.microsoft.com/office/drawing/2014/main" id="{E7A4EAC5-DF03-4B66-9D00-874AF2AB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6572250" cy="51435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F7D0"/>
            </a:solidFill>
            <a:prstDash val="solid"/>
          </a:ln>
        </p:spPr>
      </p:sp>
      <p:pic>
        <p:nvPicPr>
          <p:cNvPr id="4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339c9059a4c65"/>
          <a:stretch xmlns:a="http://schemas.openxmlformats.org/drawingml/2006/main"/>
        </p:blipFill>
        <p:spPr>
          <a:xfrm xmlns:a="http://schemas.openxmlformats.org/drawingml/2006/main">
            <a:off x="8229600" y="3695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82" name="text-159">
            <a:extLst xmlns:a="http://schemas.openxmlformats.org/drawingml/2006/main">
              <a:ext uri="{FF2B5EF4-FFF2-40B4-BE49-F238E27FC236}">
                <a16:creationId xmlns:a16="http://schemas.microsoft.com/office/drawing/2014/main" id="{E31AF2AE-F894-4A30-BF4F-669FD697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3127"/>
            <a:ext cx="3265170" cy="231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Uncertainty-adaptive review loop</a:t>
            </a:r>
          </a:p>
        </p:txBody>
      </p:sp>
      <p:sp>
        <p:nvSpPr>
          <p:cNvPr id="183" name="rect-160">
            <a:extLst xmlns:a="http://schemas.openxmlformats.org/drawingml/2006/main">
              <a:ext uri="{FF2B5EF4-FFF2-40B4-BE49-F238E27FC236}">
                <a16:creationId xmlns:a16="http://schemas.microsoft.com/office/drawing/2014/main" id="{B1F0F27C-93AD-43A8-9825-F785F80A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14382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4" name="text-161">
            <a:extLst xmlns:a="http://schemas.openxmlformats.org/drawingml/2006/main">
              <a:ext uri="{FF2B5EF4-FFF2-40B4-BE49-F238E27FC236}">
                <a16:creationId xmlns:a16="http://schemas.microsoft.com/office/drawing/2014/main" id="{127E3BAD-6662-4972-9648-5CDAEF1A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45649"/>
            <a:ext cx="1222058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Stage evidence</a:t>
            </a:r>
          </a:p>
        </p:txBody>
      </p:sp>
      <p:sp>
        <p:nvSpPr>
          <p:cNvPr id="185" name="text-162">
            <a:extLst xmlns:a="http://schemas.openxmlformats.org/drawingml/2006/main">
              <a:ext uri="{FF2B5EF4-FFF2-40B4-BE49-F238E27FC236}">
                <a16:creationId xmlns:a16="http://schemas.microsoft.com/office/drawing/2014/main" id="{B7E645D9-FE02-4BB8-BCC1-4DF8BAA3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6530"/>
            <a:ext cx="1389221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S, u, frontier gap,</a:t>
            </a:r>
          </a:p>
        </p:txBody>
      </p:sp>
      <p:sp>
        <p:nvSpPr>
          <p:cNvPr id="186" name="text-163">
            <a:extLst xmlns:a="http://schemas.openxmlformats.org/drawingml/2006/main">
              <a:ext uri="{FF2B5EF4-FFF2-40B4-BE49-F238E27FC236}">
                <a16:creationId xmlns:a16="http://schemas.microsoft.com/office/drawing/2014/main" id="{72BD7127-F78D-4C52-AE37-2C5918AE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9880"/>
            <a:ext cx="118491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minefield signal</a:t>
            </a:r>
          </a:p>
        </p:txBody>
      </p:sp>
      <p:sp>
        <p:nvSpPr>
          <p:cNvPr id="187" name="rect-164">
            <a:extLst xmlns:a="http://schemas.openxmlformats.org/drawingml/2006/main">
              <a:ext uri="{FF2B5EF4-FFF2-40B4-BE49-F238E27FC236}">
                <a16:creationId xmlns:a16="http://schemas.microsoft.com/office/drawing/2014/main" id="{A806E632-58C1-4DCD-8898-60C98FAB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981450"/>
            <a:ext cx="14382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8" name="text-165">
            <a:extLst xmlns:a="http://schemas.openxmlformats.org/drawingml/2006/main">
              <a:ext uri="{FF2B5EF4-FFF2-40B4-BE49-F238E27FC236}">
                <a16:creationId xmlns:a16="http://schemas.microsoft.com/office/drawing/2014/main" id="{4EF6C45C-3E08-48E7-A6F0-941CC41D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045649"/>
            <a:ext cx="739140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Diagnose</a:t>
            </a:r>
          </a:p>
        </p:txBody>
      </p:sp>
      <p:sp>
        <p:nvSpPr>
          <p:cNvPr id="189" name="text-166">
            <a:extLst xmlns:a="http://schemas.openxmlformats.org/drawingml/2006/main">
              <a:ext uri="{FF2B5EF4-FFF2-40B4-BE49-F238E27FC236}">
                <a16:creationId xmlns:a16="http://schemas.microsoft.com/office/drawing/2014/main" id="{86954170-D7EA-4CBA-8616-D9CA89ED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36530"/>
            <a:ext cx="1389221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pass / warn / fail;</a:t>
            </a:r>
          </a:p>
        </p:txBody>
      </p:sp>
      <p:sp>
        <p:nvSpPr>
          <p:cNvPr id="190" name="text-167">
            <a:extLst xmlns:a="http://schemas.openxmlformats.org/drawingml/2006/main">
              <a:ext uri="{FF2B5EF4-FFF2-40B4-BE49-F238E27FC236}">
                <a16:creationId xmlns:a16="http://schemas.microsoft.com/office/drawing/2014/main" id="{4D4B8ABB-E95E-4E47-AF69-4097F952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369880"/>
            <a:ext cx="1116806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ambiguity check</a:t>
            </a:r>
          </a:p>
        </p:txBody>
      </p:sp>
      <p:sp>
        <p:nvSpPr>
          <p:cNvPr id="191" name="rect-168">
            <a:extLst xmlns:a="http://schemas.openxmlformats.org/drawingml/2006/main">
              <a:ext uri="{FF2B5EF4-FFF2-40B4-BE49-F238E27FC236}">
                <a16:creationId xmlns:a16="http://schemas.microsoft.com/office/drawing/2014/main" id="{B51F26B8-B35F-4126-B56B-8EF6D13C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981450"/>
            <a:ext cx="14382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2" name="text-169">
            <a:extLst xmlns:a="http://schemas.openxmlformats.org/drawingml/2006/main">
              <a:ext uri="{FF2B5EF4-FFF2-40B4-BE49-F238E27FC236}">
                <a16:creationId xmlns:a16="http://schemas.microsoft.com/office/drawing/2014/main" id="{4A921013-1CEB-4B97-9191-F65FB463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045649"/>
            <a:ext cx="1061085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Adapt policy</a:t>
            </a:r>
          </a:p>
        </p:txBody>
      </p:sp>
      <p:sp>
        <p:nvSpPr>
          <p:cNvPr id="193" name="text-170">
            <a:extLst xmlns:a="http://schemas.openxmlformats.org/drawingml/2006/main">
              <a:ext uri="{FF2B5EF4-FFF2-40B4-BE49-F238E27FC236}">
                <a16:creationId xmlns:a16="http://schemas.microsoft.com/office/drawing/2014/main" id="{0D033548-C1F2-4B8E-A1D7-B61D5A99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236530"/>
            <a:ext cx="1321118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select judge tier;</a:t>
            </a:r>
          </a:p>
        </p:txBody>
      </p:sp>
      <p:sp>
        <p:nvSpPr>
          <p:cNvPr id="194" name="text-171">
            <a:extLst xmlns:a="http://schemas.openxmlformats.org/drawingml/2006/main">
              <a:ext uri="{FF2B5EF4-FFF2-40B4-BE49-F238E27FC236}">
                <a16:creationId xmlns:a16="http://schemas.microsoft.com/office/drawing/2014/main" id="{EEA78FD5-F4C8-493D-B3A7-3510B98A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369880"/>
            <a:ext cx="1048703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update weights</a:t>
            </a:r>
          </a:p>
        </p:txBody>
      </p:sp>
      <p:sp>
        <p:nvSpPr>
          <p:cNvPr id="195" name="rect-172">
            <a:extLst xmlns:a="http://schemas.openxmlformats.org/drawingml/2006/main">
              <a:ext uri="{FF2B5EF4-FFF2-40B4-BE49-F238E27FC236}">
                <a16:creationId xmlns:a16="http://schemas.microsoft.com/office/drawing/2014/main" id="{37EBD635-4720-40B7-94F5-544C255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981450"/>
            <a:ext cx="16478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6" name="text-173">
            <a:extLst xmlns:a="http://schemas.openxmlformats.org/drawingml/2006/main">
              <a:ext uri="{FF2B5EF4-FFF2-40B4-BE49-F238E27FC236}">
                <a16:creationId xmlns:a16="http://schemas.microsoft.com/office/drawing/2014/main" id="{76C4A337-963E-4D25-BC7C-B7EAEE5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045649"/>
            <a:ext cx="1222058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Control action</a:t>
            </a:r>
          </a:p>
        </p:txBody>
      </p:sp>
      <p:sp>
        <p:nvSpPr>
          <p:cNvPr id="197" name="text-174">
            <a:extLst xmlns:a="http://schemas.openxmlformats.org/drawingml/2006/main">
              <a:ext uri="{FF2B5EF4-FFF2-40B4-BE49-F238E27FC236}">
                <a16:creationId xmlns:a16="http://schemas.microsoft.com/office/drawing/2014/main" id="{6A9F443D-5300-4666-AB0D-B06F3653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236530"/>
            <a:ext cx="1321118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advance, escalate,</a:t>
            </a:r>
          </a:p>
        </p:txBody>
      </p:sp>
      <p:sp>
        <p:nvSpPr>
          <p:cNvPr id="198" name="text-175">
            <a:extLst xmlns:a="http://schemas.openxmlformats.org/drawingml/2006/main">
              <a:ext uri="{FF2B5EF4-FFF2-40B4-BE49-F238E27FC236}">
                <a16:creationId xmlns:a16="http://schemas.microsoft.com/office/drawing/2014/main" id="{4C3629D7-5A02-4D15-B053-DE80740F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369880"/>
            <a:ext cx="1116806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or halt rollout</a:t>
            </a:r>
          </a:p>
        </p:txBody>
      </p:sp>
      <p:sp>
        <p:nvSpPr>
          <p:cNvPr id="199" name="poly-1015-458">
            <a:extLst xmlns:a="http://schemas.openxmlformats.org/drawingml/2006/main">
              <a:ext uri="{FF2B5EF4-FFF2-40B4-BE49-F238E27FC236}">
                <a16:creationId xmlns:a16="http://schemas.microsoft.com/office/drawing/2014/main" id="{09263A3E-B1D0-4124-AF91-3732CAFC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59669"/>
            </a:solidFill>
            <a:prstDash val="solid"/>
          </a:ln>
        </p:spPr>
      </p:sp>
      <p:sp>
        <p:nvSpPr>
          <p:cNvPr id="200" name="poly-1017-454">
            <a:extLst xmlns:a="http://schemas.openxmlformats.org/drawingml/2006/main">
              <a:ext uri="{FF2B5EF4-FFF2-40B4-BE49-F238E27FC236}">
                <a16:creationId xmlns:a16="http://schemas.microsoft.com/office/drawing/2014/main" id="{FDC18CC3-BA47-407C-BF1F-70EB771C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783" y="4324731"/>
            <a:ext cx="73343" cy="75438"/>
          </a:xfrm>
          <a:custGeom xmlns:a="http://schemas.openxmlformats.org/drawingml/2006/main">
            <a:pathLst>
              <a:path w="73343" h="75438">
                <a:moveTo>
                  <a:pt x="73343" y="37719"/>
                </a:moveTo>
                <a:lnTo>
                  <a:pt x="0" y="75438"/>
                </a:lnTo>
                <a:lnTo>
                  <a:pt x="0" y="0"/>
                </a:lnTo>
                <a:lnTo>
                  <a:pt x="73343" y="37719"/>
                </a:lnTo>
              </a:path>
            </a:pathLst>
          </a:custGeom>
          <a:solidFill xmlns:a="http://schemas.openxmlformats.org/drawingml/2006/main">
            <a:srgbClr val="059669"/>
          </a:solidFill>
          <a:ln xmlns:a="http://schemas.openxmlformats.org/drawingml/2006/main" w="4763">
            <a:solidFill>
              <a:srgbClr val="059669"/>
            </a:solidFill>
            <a:prstDash val="solid"/>
          </a:ln>
        </p:spPr>
      </p:sp>
      <p:sp>
        <p:nvSpPr>
          <p:cNvPr id="201" name="poly-1178-458">
            <a:extLst xmlns:a="http://schemas.openxmlformats.org/drawingml/2006/main">
              <a:ext uri="{FF2B5EF4-FFF2-40B4-BE49-F238E27FC236}">
                <a16:creationId xmlns:a16="http://schemas.microsoft.com/office/drawing/2014/main" id="{90B9A535-3F9A-414B-A847-4212CD8F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36245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59669"/>
            </a:solidFill>
            <a:prstDash val="solid"/>
          </a:ln>
        </p:spPr>
      </p:sp>
      <p:sp>
        <p:nvSpPr>
          <p:cNvPr id="202" name="poly-1180-454">
            <a:extLst xmlns:a="http://schemas.openxmlformats.org/drawingml/2006/main">
              <a:ext uri="{FF2B5EF4-FFF2-40B4-BE49-F238E27FC236}">
                <a16:creationId xmlns:a16="http://schemas.microsoft.com/office/drawing/2014/main" id="{CA63E7BB-B581-4994-A854-6D0B08AC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358" y="4324731"/>
            <a:ext cx="73343" cy="75438"/>
          </a:xfrm>
          <a:custGeom xmlns:a="http://schemas.openxmlformats.org/drawingml/2006/main">
            <a:pathLst>
              <a:path w="73343" h="75438">
                <a:moveTo>
                  <a:pt x="73343" y="37719"/>
                </a:moveTo>
                <a:lnTo>
                  <a:pt x="0" y="75438"/>
                </a:lnTo>
                <a:lnTo>
                  <a:pt x="0" y="0"/>
                </a:lnTo>
                <a:lnTo>
                  <a:pt x="73343" y="37719"/>
                </a:lnTo>
              </a:path>
            </a:pathLst>
          </a:custGeom>
          <a:solidFill xmlns:a="http://schemas.openxmlformats.org/drawingml/2006/main">
            <a:srgbClr val="059669"/>
          </a:solidFill>
          <a:ln xmlns:a="http://schemas.openxmlformats.org/drawingml/2006/main" w="4763">
            <a:solidFill>
              <a:srgbClr val="059669"/>
            </a:solidFill>
            <a:prstDash val="solid"/>
          </a:ln>
        </p:spPr>
      </p:sp>
      <p:sp>
        <p:nvSpPr>
          <p:cNvPr id="203" name="poly-1341-458">
            <a:extLst xmlns:a="http://schemas.openxmlformats.org/drawingml/2006/main">
              <a:ext uri="{FF2B5EF4-FFF2-40B4-BE49-F238E27FC236}">
                <a16:creationId xmlns:a16="http://schemas.microsoft.com/office/drawing/2014/main" id="{BBABAD6C-EA5C-4B0B-AD80-2808A660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436245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59669"/>
            </a:solidFill>
            <a:prstDash val="solid"/>
          </a:ln>
        </p:spPr>
      </p:sp>
      <p:sp>
        <p:nvSpPr>
          <p:cNvPr id="204" name="poly-1343-454">
            <a:extLst xmlns:a="http://schemas.openxmlformats.org/drawingml/2006/main">
              <a:ext uri="{FF2B5EF4-FFF2-40B4-BE49-F238E27FC236}">
                <a16:creationId xmlns:a16="http://schemas.microsoft.com/office/drawing/2014/main" id="{62B41371-34DC-4065-A0E3-E71005C0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4933" y="4324731"/>
            <a:ext cx="73343" cy="75438"/>
          </a:xfrm>
          <a:custGeom xmlns:a="http://schemas.openxmlformats.org/drawingml/2006/main">
            <a:pathLst>
              <a:path w="73343" h="75438">
                <a:moveTo>
                  <a:pt x="73343" y="37719"/>
                </a:moveTo>
                <a:lnTo>
                  <a:pt x="0" y="75438"/>
                </a:lnTo>
                <a:lnTo>
                  <a:pt x="0" y="0"/>
                </a:lnTo>
                <a:lnTo>
                  <a:pt x="73343" y="37719"/>
                </a:lnTo>
              </a:path>
            </a:pathLst>
          </a:custGeom>
          <a:solidFill xmlns:a="http://schemas.openxmlformats.org/drawingml/2006/main">
            <a:srgbClr val="059669"/>
          </a:solidFill>
          <a:ln xmlns:a="http://schemas.openxmlformats.org/drawingml/2006/main" w="4763">
            <a:solidFill>
              <a:srgbClr val="059669"/>
            </a:solidFill>
            <a:prstDash val="solid"/>
          </a:ln>
        </p:spPr>
      </p:sp>
      <p:sp>
        <p:nvSpPr>
          <p:cNvPr id="205" name="poly-951-498">
            <a:extLst xmlns:a="http://schemas.openxmlformats.org/drawingml/2006/main">
              <a:ext uri="{FF2B5EF4-FFF2-40B4-BE49-F238E27FC236}">
                <a16:creationId xmlns:a16="http://schemas.microsoft.com/office/drawing/2014/main" id="{94FFBD12-0FC7-447C-8C95-31754F94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43450"/>
            <a:ext cx="4648200" cy="321469"/>
          </a:xfrm>
          <a:custGeom xmlns:a="http://schemas.openxmlformats.org/drawingml/2006/main">
            <a:pathLst>
              <a:path w="4648200" h="321469">
                <a:moveTo>
                  <a:pt x="4648200" y="0"/>
                </a:moveTo>
                <a:lnTo>
                  <a:pt x="4595999" y="73684"/>
                </a:lnTo>
                <a:lnTo>
                  <a:pt x="4448473" y="137629"/>
                </a:lnTo>
                <a:lnTo>
                  <a:pt x="4219240" y="191919"/>
                </a:lnTo>
                <a:lnTo>
                  <a:pt x="3921919" y="236637"/>
                </a:lnTo>
                <a:lnTo>
                  <a:pt x="3570126" y="271867"/>
                </a:lnTo>
                <a:lnTo>
                  <a:pt x="3177480" y="297693"/>
                </a:lnTo>
                <a:lnTo>
                  <a:pt x="2757599" y="314199"/>
                </a:lnTo>
                <a:lnTo>
                  <a:pt x="2324100" y="321469"/>
                </a:lnTo>
                <a:lnTo>
                  <a:pt x="1890601" y="319585"/>
                </a:lnTo>
                <a:lnTo>
                  <a:pt x="1470720" y="308632"/>
                </a:lnTo>
                <a:lnTo>
                  <a:pt x="1078074" y="288694"/>
                </a:lnTo>
                <a:lnTo>
                  <a:pt x="726281" y="259854"/>
                </a:lnTo>
                <a:lnTo>
                  <a:pt x="428960" y="222196"/>
                </a:lnTo>
                <a:lnTo>
                  <a:pt x="199727" y="175803"/>
                </a:lnTo>
                <a:lnTo>
                  <a:pt x="52201" y="120760"/>
                </a:ln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E22CE"/>
            </a:solidFill>
            <a:prstDash val="dash"/>
          </a:ln>
        </p:spPr>
      </p:sp>
      <p:sp>
        <p:nvSpPr>
          <p:cNvPr id="206" name="poly-951-504">
            <a:extLst xmlns:a="http://schemas.openxmlformats.org/drawingml/2006/main">
              <a:ext uri="{FF2B5EF4-FFF2-40B4-BE49-F238E27FC236}">
                <a16:creationId xmlns:a16="http://schemas.microsoft.com/office/drawing/2014/main" id="{0675035F-C0DE-4F96-8F04-C9041479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00600"/>
            <a:ext cx="61924" cy="65965"/>
          </a:xfrm>
          <a:custGeom xmlns:a="http://schemas.openxmlformats.org/drawingml/2006/main">
            <a:pathLst>
              <a:path w="61924" h="65965">
                <a:moveTo>
                  <a:pt x="0" y="0"/>
                </a:moveTo>
                <a:lnTo>
                  <a:pt x="61924" y="26810"/>
                </a:lnTo>
                <a:lnTo>
                  <a:pt x="14211" y="6596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7E22CE"/>
          </a:solidFill>
          <a:ln xmlns:a="http://schemas.openxmlformats.org/drawingml/2006/main" w="4763">
            <a:solidFill>
              <a:srgbClr val="7E22CE"/>
            </a:solidFill>
            <a:prstDash val="solid"/>
          </a:ln>
        </p:spPr>
      </p:sp>
      <p:sp>
        <p:nvSpPr>
          <p:cNvPr id="207" name="text-180">
            <a:extLst xmlns:a="http://schemas.openxmlformats.org/drawingml/2006/main">
              <a:ext uri="{FF2B5EF4-FFF2-40B4-BE49-F238E27FC236}">
                <a16:creationId xmlns:a16="http://schemas.microsoft.com/office/drawing/2014/main" id="{F60DEECA-B33A-4613-AD32-7BF017B8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623" y="5017580"/>
            <a:ext cx="2887504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E22C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7E22CE"/>
                </a:solidFill>
                <a:latin typeface="Segoe UI"/>
                <a:ea typeface="Segoe UI"/>
                <a:cs typeface="Segoe UI"/>
              </a:rPr>
              <a:t>next stage uses updated w and judge level</a:t>
            </a:r>
          </a:p>
        </p:txBody>
      </p:sp>
      <p:sp>
        <p:nvSpPr>
          <p:cNvPr id="208" name="rect-181">
            <a:extLst xmlns:a="http://schemas.openxmlformats.org/drawingml/2006/main">
              <a:ext uri="{FF2B5EF4-FFF2-40B4-BE49-F238E27FC236}">
                <a16:creationId xmlns:a16="http://schemas.microsoft.com/office/drawing/2014/main" id="{BC695DE2-7251-4C39-A14A-79C86A1B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34000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09" name="text-182">
            <a:extLst xmlns:a="http://schemas.openxmlformats.org/drawingml/2006/main">
              <a:ext uri="{FF2B5EF4-FFF2-40B4-BE49-F238E27FC236}">
                <a16:creationId xmlns:a16="http://schemas.microsoft.com/office/drawing/2014/main" id="{120DF5FA-30BF-4C61-90E4-47A090DF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07533"/>
            <a:ext cx="441960" cy="202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PASS</a:t>
            </a:r>
          </a:p>
        </p:txBody>
      </p:sp>
      <p:sp>
        <p:nvSpPr>
          <p:cNvPr id="210" name="text-183">
            <a:extLst xmlns:a="http://schemas.openxmlformats.org/drawingml/2006/main">
              <a:ext uri="{FF2B5EF4-FFF2-40B4-BE49-F238E27FC236}">
                <a16:creationId xmlns:a16="http://schemas.microsoft.com/office/drawing/2014/main" id="{273A5F8B-C715-472A-877E-03046493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46230"/>
            <a:ext cx="1253014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High score, low u</a:t>
            </a:r>
          </a:p>
        </p:txBody>
      </p:sp>
      <p:sp>
        <p:nvSpPr>
          <p:cNvPr id="211" name="text-184">
            <a:extLst xmlns:a="http://schemas.openxmlformats.org/drawingml/2006/main">
              <a:ext uri="{FF2B5EF4-FFF2-40B4-BE49-F238E27FC236}">
                <a16:creationId xmlns:a16="http://schemas.microsoft.com/office/drawing/2014/main" id="{C9DBC867-1093-4059-971C-E78524D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7680"/>
            <a:ext cx="118491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Keep cheap judge</a:t>
            </a:r>
          </a:p>
        </p:txBody>
      </p:sp>
      <p:sp>
        <p:nvSpPr>
          <p:cNvPr id="212" name="text-185">
            <a:extLst xmlns:a="http://schemas.openxmlformats.org/drawingml/2006/main">
              <a:ext uri="{FF2B5EF4-FFF2-40B4-BE49-F238E27FC236}">
                <a16:creationId xmlns:a16="http://schemas.microsoft.com/office/drawing/2014/main" id="{E995B3A1-C403-424F-8229-B30892E1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036564"/>
            <a:ext cx="128397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85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47857"/>
                </a:solidFill>
                <a:latin typeface="Segoe UI"/>
                <a:ea typeface="Segoe UI"/>
                <a:cs typeface="Segoe UI"/>
              </a:rPr>
              <a:t>Advance frontier</a:t>
            </a:r>
          </a:p>
        </p:txBody>
      </p:sp>
      <p:sp>
        <p:nvSpPr>
          <p:cNvPr id="213" name="rect-186">
            <a:extLst xmlns:a="http://schemas.openxmlformats.org/drawingml/2006/main">
              <a:ext uri="{FF2B5EF4-FFF2-40B4-BE49-F238E27FC236}">
                <a16:creationId xmlns:a16="http://schemas.microsoft.com/office/drawing/2014/main" id="{0C5D66FC-EB66-46CB-8312-D6F23FDE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334000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F4FF"/>
          </a:solidFill>
          <a:ln xmlns:a="http://schemas.openxmlformats.org/drawingml/2006/main" w="9525">
            <a:solidFill>
              <a:srgbClr val="F0ABFC"/>
            </a:solidFill>
            <a:prstDash val="solid"/>
          </a:ln>
        </p:spPr>
      </p:sp>
      <p:sp>
        <p:nvSpPr>
          <p:cNvPr id="214" name="text-187">
            <a:extLst xmlns:a="http://schemas.openxmlformats.org/drawingml/2006/main">
              <a:ext uri="{FF2B5EF4-FFF2-40B4-BE49-F238E27FC236}">
                <a16:creationId xmlns:a16="http://schemas.microsoft.com/office/drawing/2014/main" id="{794DAB32-2E92-4432-B40B-DC0D7038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07533"/>
            <a:ext cx="528638" cy="202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E22CE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E22CE"/>
                </a:solidFill>
                <a:latin typeface="Segoe UI"/>
                <a:ea typeface="Segoe UI"/>
                <a:cs typeface="Segoe UI"/>
              </a:rPr>
              <a:t>ADAPT</a:t>
            </a:r>
          </a:p>
        </p:txBody>
      </p:sp>
      <p:sp>
        <p:nvSpPr>
          <p:cNvPr id="215" name="text-188">
            <a:extLst xmlns:a="http://schemas.openxmlformats.org/drawingml/2006/main">
              <a:ext uri="{FF2B5EF4-FFF2-40B4-BE49-F238E27FC236}">
                <a16:creationId xmlns:a16="http://schemas.microsoft.com/office/drawing/2014/main" id="{44BC92AA-55F9-4069-BD08-269D5F8A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646230"/>
            <a:ext cx="1321118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22C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7E22CE"/>
                </a:solidFill>
                <a:latin typeface="Segoe UI"/>
                <a:ea typeface="Segoe UI"/>
                <a:cs typeface="Segoe UI"/>
              </a:rPr>
              <a:t>Low score / high u</a:t>
            </a:r>
          </a:p>
        </p:txBody>
      </p:sp>
      <p:sp>
        <p:nvSpPr>
          <p:cNvPr id="216" name="text-189">
            <a:extLst xmlns:a="http://schemas.openxmlformats.org/drawingml/2006/main">
              <a:ext uri="{FF2B5EF4-FFF2-40B4-BE49-F238E27FC236}">
                <a16:creationId xmlns:a16="http://schemas.microsoft.com/office/drawing/2014/main" id="{744974A1-D46B-449D-B3DF-EE16E8C7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817680"/>
            <a:ext cx="1661636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22C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7E22CE"/>
                </a:solidFill>
                <a:latin typeface="Segoe UI"/>
                <a:ea typeface="Segoe UI"/>
                <a:cs typeface="Segoe UI"/>
              </a:rPr>
              <a:t>Escalate weak dimension</a:t>
            </a:r>
          </a:p>
        </p:txBody>
      </p:sp>
      <p:sp>
        <p:nvSpPr>
          <p:cNvPr id="217" name="text-190">
            <a:extLst xmlns:a="http://schemas.openxmlformats.org/drawingml/2006/main">
              <a:ext uri="{FF2B5EF4-FFF2-40B4-BE49-F238E27FC236}">
                <a16:creationId xmlns:a16="http://schemas.microsoft.com/office/drawing/2014/main" id="{5603072A-96F5-4F79-957F-F778FAC0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036564"/>
            <a:ext cx="1061085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21CA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A21CAF"/>
                </a:solidFill>
                <a:latin typeface="Segoe UI"/>
                <a:ea typeface="Segoe UI"/>
                <a:cs typeface="Segoe UI"/>
              </a:rPr>
              <a:t>Update policy</a:t>
            </a:r>
          </a:p>
        </p:txBody>
      </p:sp>
      <p:sp>
        <p:nvSpPr>
          <p:cNvPr id="218" name="rect-191">
            <a:extLst xmlns:a="http://schemas.openxmlformats.org/drawingml/2006/main">
              <a:ext uri="{FF2B5EF4-FFF2-40B4-BE49-F238E27FC236}">
                <a16:creationId xmlns:a16="http://schemas.microsoft.com/office/drawing/2014/main" id="{7734326E-09FA-4FA1-A6A8-8078F64A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3340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pic>
        <p:nvPicPr>
          <p:cNvPr id="4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e15c4a3944e75"/>
          <a:stretch xmlns:a="http://schemas.openxmlformats.org/drawingml/2006/main"/>
        </p:blipFill>
        <p:spPr>
          <a:xfrm xmlns:a="http://schemas.openxmlformats.org/drawingml/2006/main">
            <a:off x="12401550" y="5486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20" name="text-193">
            <a:extLst xmlns:a="http://schemas.openxmlformats.org/drawingml/2006/main">
              <a:ext uri="{FF2B5EF4-FFF2-40B4-BE49-F238E27FC236}">
                <a16:creationId xmlns:a16="http://schemas.microsoft.com/office/drawing/2014/main" id="{3587D9D5-0421-424F-89DF-646E2523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483733"/>
            <a:ext cx="441960" cy="202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HALT</a:t>
            </a:r>
          </a:p>
        </p:txBody>
      </p:sp>
      <p:sp>
        <p:nvSpPr>
          <p:cNvPr id="221" name="text-194">
            <a:extLst xmlns:a="http://schemas.openxmlformats.org/drawingml/2006/main">
              <a:ext uri="{FF2B5EF4-FFF2-40B4-BE49-F238E27FC236}">
                <a16:creationId xmlns:a16="http://schemas.microsoft.com/office/drawing/2014/main" id="{89FAEA12-852F-4B16-BB85-8D5321E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741480"/>
            <a:ext cx="2070259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1D1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7F1D1D"/>
                </a:solidFill>
                <a:latin typeface="Segoe UI"/>
                <a:ea typeface="Segoe UI"/>
                <a:cs typeface="Segoe UI"/>
              </a:rPr>
              <a:t>Stagnation, safety violation,</a:t>
            </a:r>
          </a:p>
        </p:txBody>
      </p:sp>
      <p:sp>
        <p:nvSpPr>
          <p:cNvPr id="222" name="text-195">
            <a:extLst xmlns:a="http://schemas.openxmlformats.org/drawingml/2006/main">
              <a:ext uri="{FF2B5EF4-FFF2-40B4-BE49-F238E27FC236}">
                <a16:creationId xmlns:a16="http://schemas.microsoft.com/office/drawing/2014/main" id="{F46551E5-D19C-4B3F-9122-91986510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912930"/>
            <a:ext cx="172974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1D1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7F1D1D"/>
                </a:solidFill>
                <a:latin typeface="Segoe UI"/>
                <a:ea typeface="Segoe UI"/>
                <a:cs typeface="Segoe UI"/>
              </a:rPr>
              <a:t>or unrecoverable quality</a:t>
            </a:r>
          </a:p>
        </p:txBody>
      </p:sp>
      <p:sp>
        <p:nvSpPr>
          <p:cNvPr id="223" name="text-196">
            <a:extLst xmlns:a="http://schemas.openxmlformats.org/drawingml/2006/main">
              <a:ext uri="{FF2B5EF4-FFF2-40B4-BE49-F238E27FC236}">
                <a16:creationId xmlns:a16="http://schemas.microsoft.com/office/drawing/2014/main" id="{D9950E0A-B10F-4EF3-B0A5-1044A8DE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074664"/>
            <a:ext cx="17297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262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Stop early with report</a:t>
            </a:r>
          </a:p>
        </p:txBody>
      </p:sp>
      <p:sp>
        <p:nvSpPr>
          <p:cNvPr id="224" name="rect-197">
            <a:extLst xmlns:a="http://schemas.openxmlformats.org/drawingml/2006/main">
              <a:ext uri="{FF2B5EF4-FFF2-40B4-BE49-F238E27FC236}">
                <a16:creationId xmlns:a16="http://schemas.microsoft.com/office/drawing/2014/main" id="{493C87AF-A2AC-4B7A-9BD7-5B588D34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400800"/>
            <a:ext cx="2857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5e17e7bb3442f"/>
          <a:stretch xmlns:a="http://schemas.openxmlformats.org/drawingml/2006/main"/>
        </p:blipFill>
        <p:spPr>
          <a:xfrm xmlns:a="http://schemas.openxmlformats.org/drawingml/2006/main">
            <a:off x="8343900" y="651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26" name="text-199">
            <a:extLst xmlns:a="http://schemas.openxmlformats.org/drawingml/2006/main">
              <a:ext uri="{FF2B5EF4-FFF2-40B4-BE49-F238E27FC236}">
                <a16:creationId xmlns:a16="http://schemas.microsoft.com/office/drawing/2014/main" id="{0B272082-6FA7-44B2-8202-005FC3B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512433"/>
            <a:ext cx="1482090" cy="202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Judge escalation</a:t>
            </a:r>
          </a:p>
        </p:txBody>
      </p:sp>
      <p:sp>
        <p:nvSpPr>
          <p:cNvPr id="227" name="rect-200">
            <a:extLst xmlns:a="http://schemas.openxmlformats.org/drawingml/2006/main">
              <a:ext uri="{FF2B5EF4-FFF2-40B4-BE49-F238E27FC236}">
                <a16:creationId xmlns:a16="http://schemas.microsoft.com/office/drawing/2014/main" id="{7B0EA043-2DBE-4714-9B2C-612AE4E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781800"/>
            <a:ext cx="25908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28" name="text-201">
            <a:extLst xmlns:a="http://schemas.openxmlformats.org/drawingml/2006/main">
              <a:ext uri="{FF2B5EF4-FFF2-40B4-BE49-F238E27FC236}">
                <a16:creationId xmlns:a16="http://schemas.microsoft.com/office/drawing/2014/main" id="{76B020E5-B416-421E-8FED-54DD2959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817805"/>
            <a:ext cx="2002155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Jcheap - deterministic rules</a:t>
            </a:r>
          </a:p>
        </p:txBody>
      </p:sp>
      <p:sp>
        <p:nvSpPr>
          <p:cNvPr id="229" name="rect-202">
            <a:extLst xmlns:a="http://schemas.openxmlformats.org/drawingml/2006/main">
              <a:ext uri="{FF2B5EF4-FFF2-40B4-BE49-F238E27FC236}">
                <a16:creationId xmlns:a16="http://schemas.microsoft.com/office/drawing/2014/main" id="{50513EBB-B099-4422-A2B8-7850ACE7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048500"/>
            <a:ext cx="25908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0" name="text-203">
            <a:extLst xmlns:a="http://schemas.openxmlformats.org/drawingml/2006/main">
              <a:ext uri="{FF2B5EF4-FFF2-40B4-BE49-F238E27FC236}">
                <a16:creationId xmlns:a16="http://schemas.microsoft.com/office/drawing/2014/main" id="{8E8A7C6B-0B4D-46C6-9D6F-DE8392E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7084505"/>
            <a:ext cx="1797844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Jstd - unified LLM review</a:t>
            </a:r>
          </a:p>
        </p:txBody>
      </p:sp>
      <p:sp>
        <p:nvSpPr>
          <p:cNvPr id="231" name="rect-204">
            <a:extLst xmlns:a="http://schemas.openxmlformats.org/drawingml/2006/main">
              <a:ext uri="{FF2B5EF4-FFF2-40B4-BE49-F238E27FC236}">
                <a16:creationId xmlns:a16="http://schemas.microsoft.com/office/drawing/2014/main" id="{6F982213-CC80-4147-9279-2E37BB10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315200"/>
            <a:ext cx="25908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DF4FF"/>
          </a:solidFill>
          <a:ln xmlns:a="http://schemas.openxmlformats.org/drawingml/2006/main" w="9525">
            <a:solidFill>
              <a:srgbClr val="F0ABFC"/>
            </a:solidFill>
            <a:prstDash val="solid"/>
          </a:ln>
        </p:spPr>
      </p:sp>
      <p:sp>
        <p:nvSpPr>
          <p:cNvPr id="232" name="text-205">
            <a:extLst xmlns:a="http://schemas.openxmlformats.org/drawingml/2006/main">
              <a:ext uri="{FF2B5EF4-FFF2-40B4-BE49-F238E27FC236}">
                <a16:creationId xmlns:a16="http://schemas.microsoft.com/office/drawing/2014/main" id="{5AEB097A-A6E5-4AC3-A37F-0E7D248A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7351205"/>
            <a:ext cx="1729740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22C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7E22CE"/>
                </a:solidFill>
                <a:latin typeface="Segoe UI"/>
                <a:ea typeface="Segoe UI"/>
                <a:cs typeface="Segoe UI"/>
              </a:rPr>
              <a:t>Jexp - specialist review</a:t>
            </a:r>
          </a:p>
        </p:txBody>
      </p:sp>
      <p:sp>
        <p:nvSpPr>
          <p:cNvPr id="233" name="text-206">
            <a:extLst xmlns:a="http://schemas.openxmlformats.org/drawingml/2006/main">
              <a:ext uri="{FF2B5EF4-FFF2-40B4-BE49-F238E27FC236}">
                <a16:creationId xmlns:a16="http://schemas.microsoft.com/office/drawing/2014/main" id="{D335B3BB-3525-49AB-8335-82119A7A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598855"/>
            <a:ext cx="2751296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22C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7E22CE"/>
                </a:solidFill>
                <a:latin typeface="Segoe UI"/>
                <a:ea typeface="Segoe UI"/>
                <a:cs typeface="Segoe UI"/>
              </a:rPr>
              <a:t>Weak / ambiguous stage escalates upward</a:t>
            </a:r>
          </a:p>
        </p:txBody>
      </p:sp>
      <p:sp>
        <p:nvSpPr>
          <p:cNvPr id="234" name="rect-207">
            <a:extLst xmlns:a="http://schemas.openxmlformats.org/drawingml/2006/main">
              <a:ext uri="{FF2B5EF4-FFF2-40B4-BE49-F238E27FC236}">
                <a16:creationId xmlns:a16="http://schemas.microsoft.com/office/drawing/2014/main" id="{43D61086-F1C4-4B0E-9049-013D2B77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3314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b05858aca4fc8"/>
          <a:stretch xmlns:a="http://schemas.openxmlformats.org/drawingml/2006/main"/>
        </p:blipFill>
        <p:spPr>
          <a:xfrm xmlns:a="http://schemas.openxmlformats.org/drawingml/2006/main">
            <a:off x="11334750" y="651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36" name="text-209">
            <a:extLst xmlns:a="http://schemas.openxmlformats.org/drawingml/2006/main">
              <a:ext uri="{FF2B5EF4-FFF2-40B4-BE49-F238E27FC236}">
                <a16:creationId xmlns:a16="http://schemas.microsoft.com/office/drawing/2014/main" id="{A8F968C1-397C-44CD-9D67-D8C225B5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512433"/>
            <a:ext cx="2088833" cy="202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Dimension weight update</a:t>
            </a:r>
          </a:p>
        </p:txBody>
      </p:sp>
      <p:sp>
        <p:nvSpPr>
          <p:cNvPr id="237" name="text-210">
            <a:extLst xmlns:a="http://schemas.openxmlformats.org/drawingml/2006/main">
              <a:ext uri="{FF2B5EF4-FFF2-40B4-BE49-F238E27FC236}">
                <a16:creationId xmlns:a16="http://schemas.microsoft.com/office/drawing/2014/main" id="{27ADBA21-C52D-471B-ABE9-B3950EDA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70180"/>
            <a:ext cx="844391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Correctness</a:t>
            </a:r>
          </a:p>
        </p:txBody>
      </p:sp>
      <p:sp>
        <p:nvSpPr>
          <p:cNvPr id="238" name="rect-211">
            <a:extLst xmlns:a="http://schemas.openxmlformats.org/drawingml/2006/main">
              <a:ext uri="{FF2B5EF4-FFF2-40B4-BE49-F238E27FC236}">
                <a16:creationId xmlns:a16="http://schemas.microsoft.com/office/drawing/2014/main" id="{4931B0E6-5BD7-4C90-B480-07A6DF77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791325"/>
            <a:ext cx="1333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rect-212">
            <a:extLst xmlns:a="http://schemas.openxmlformats.org/drawingml/2006/main">
              <a:ext uri="{FF2B5EF4-FFF2-40B4-BE49-F238E27FC236}">
                <a16:creationId xmlns:a16="http://schemas.microsoft.com/office/drawing/2014/main" id="{FB968EA6-F351-4B79-BEB9-C88D3682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791325"/>
            <a:ext cx="8382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text-213">
            <a:extLst xmlns:a="http://schemas.openxmlformats.org/drawingml/2006/main">
              <a:ext uri="{FF2B5EF4-FFF2-40B4-BE49-F238E27FC236}">
                <a16:creationId xmlns:a16="http://schemas.microsoft.com/office/drawing/2014/main" id="{EA40F9BF-3D64-454A-8F0D-2736F23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998780"/>
            <a:ext cx="776288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Efficiency</a:t>
            </a:r>
          </a:p>
        </p:txBody>
      </p:sp>
      <p:sp>
        <p:nvSpPr>
          <p:cNvPr id="241" name="rect-214">
            <a:extLst xmlns:a="http://schemas.openxmlformats.org/drawingml/2006/main">
              <a:ext uri="{FF2B5EF4-FFF2-40B4-BE49-F238E27FC236}">
                <a16:creationId xmlns:a16="http://schemas.microsoft.com/office/drawing/2014/main" id="{A3B2FB2A-F937-4936-BEE0-35388EB8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019925"/>
            <a:ext cx="1333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F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rect-215">
            <a:extLst xmlns:a="http://schemas.openxmlformats.org/drawingml/2006/main">
              <a:ext uri="{FF2B5EF4-FFF2-40B4-BE49-F238E27FC236}">
                <a16:creationId xmlns:a16="http://schemas.microsoft.com/office/drawing/2014/main" id="{8D608DFF-6E0E-457E-81DC-C6B1FECB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019925"/>
            <a:ext cx="10668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text-216">
            <a:extLst xmlns:a="http://schemas.openxmlformats.org/drawingml/2006/main">
              <a:ext uri="{FF2B5EF4-FFF2-40B4-BE49-F238E27FC236}">
                <a16:creationId xmlns:a16="http://schemas.microsoft.com/office/drawing/2014/main" id="{59CC6CD8-6B38-43E8-87D3-E29BB29A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227380"/>
            <a:ext cx="503873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Safety</a:t>
            </a:r>
          </a:p>
        </p:txBody>
      </p:sp>
      <p:sp>
        <p:nvSpPr>
          <p:cNvPr id="244" name="rect-217">
            <a:extLst xmlns:a="http://schemas.openxmlformats.org/drawingml/2006/main">
              <a:ext uri="{FF2B5EF4-FFF2-40B4-BE49-F238E27FC236}">
                <a16:creationId xmlns:a16="http://schemas.microsoft.com/office/drawing/2014/main" id="{F2D00F2B-E668-4AA5-A97F-DB47545E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248525"/>
            <a:ext cx="1333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C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rect-218">
            <a:extLst xmlns:a="http://schemas.openxmlformats.org/drawingml/2006/main">
              <a:ext uri="{FF2B5EF4-FFF2-40B4-BE49-F238E27FC236}">
                <a16:creationId xmlns:a16="http://schemas.microsoft.com/office/drawing/2014/main" id="{C7FCD839-4E78-4CD3-9779-0FDCFA8B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248525"/>
            <a:ext cx="12001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oly-1430-717">
            <a:extLst xmlns:a="http://schemas.openxmlformats.org/drawingml/2006/main">
              <a:ext uri="{FF2B5EF4-FFF2-40B4-BE49-F238E27FC236}">
                <a16:creationId xmlns:a16="http://schemas.microsoft.com/office/drawing/2014/main" id="{4633F21D-492F-4795-8711-7F6AD457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8294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E22CE"/>
            </a:solidFill>
            <a:prstDash val="solid"/>
          </a:ln>
        </p:spPr>
      </p:sp>
      <p:sp>
        <p:nvSpPr>
          <p:cNvPr id="247" name="poly-1430-741">
            <a:extLst xmlns:a="http://schemas.openxmlformats.org/drawingml/2006/main">
              <a:ext uri="{FF2B5EF4-FFF2-40B4-BE49-F238E27FC236}">
                <a16:creationId xmlns:a16="http://schemas.microsoft.com/office/drawing/2014/main" id="{5E502CB6-6F2E-46B6-9DB9-F39B57CD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0580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E22CE"/>
            </a:solidFill>
            <a:prstDash val="solid"/>
          </a:ln>
        </p:spPr>
      </p:sp>
      <p:sp>
        <p:nvSpPr>
          <p:cNvPr id="248" name="poly-1430-765">
            <a:extLst xmlns:a="http://schemas.openxmlformats.org/drawingml/2006/main">
              <a:ext uri="{FF2B5EF4-FFF2-40B4-BE49-F238E27FC236}">
                <a16:creationId xmlns:a16="http://schemas.microsoft.com/office/drawing/2014/main" id="{18CE8086-D5DE-499A-A4AB-6698C84F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2866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E22CE"/>
            </a:solidFill>
            <a:prstDash val="solid"/>
          </a:ln>
        </p:spPr>
      </p:sp>
      <p:sp>
        <p:nvSpPr>
          <p:cNvPr id="249" name="poly-1441-761">
            <a:extLst xmlns:a="http://schemas.openxmlformats.org/drawingml/2006/main">
              <a:ext uri="{FF2B5EF4-FFF2-40B4-BE49-F238E27FC236}">
                <a16:creationId xmlns:a16="http://schemas.microsoft.com/office/drawing/2014/main" id="{6874DAE1-C9F4-4C2A-B62C-0E1C67E0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7252335"/>
            <a:ext cx="66675" cy="68580"/>
          </a:xfrm>
          <a:custGeom xmlns:a="http://schemas.openxmlformats.org/drawingml/2006/main">
            <a:pathLst>
              <a:path w="66675" h="68580">
                <a:moveTo>
                  <a:pt x="66675" y="34290"/>
                </a:moveTo>
                <a:lnTo>
                  <a:pt x="0" y="68580"/>
                </a:lnTo>
                <a:lnTo>
                  <a:pt x="0" y="0"/>
                </a:lnTo>
                <a:lnTo>
                  <a:pt x="66675" y="34290"/>
                </a:lnTo>
              </a:path>
            </a:pathLst>
          </a:custGeom>
          <a:solidFill xmlns:a="http://schemas.openxmlformats.org/drawingml/2006/main">
            <a:srgbClr val="7E22CE"/>
          </a:solidFill>
          <a:ln xmlns:a="http://schemas.openxmlformats.org/drawingml/2006/main" w="4763">
            <a:solidFill>
              <a:srgbClr val="7E22CE"/>
            </a:solidFill>
            <a:prstDash val="solid"/>
          </a:ln>
        </p:spPr>
      </p:sp>
      <p:sp>
        <p:nvSpPr>
          <p:cNvPr id="250" name="text-220">
            <a:extLst xmlns:a="http://schemas.openxmlformats.org/drawingml/2006/main">
              <a:ext uri="{FF2B5EF4-FFF2-40B4-BE49-F238E27FC236}">
                <a16:creationId xmlns:a16="http://schemas.microsoft.com/office/drawing/2014/main" id="{1BEE1F57-AEDB-4EDB-9820-C38AA112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551230"/>
            <a:ext cx="3500438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22C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7E22CE"/>
                </a:solidFill>
                <a:latin typeface="Segoe UI"/>
                <a:ea typeface="Segoe UI"/>
                <a:cs typeface="Segoe UI"/>
              </a:rPr>
              <a:t>Low score / high u increases weight for next stage</a:t>
            </a:r>
          </a:p>
        </p:txBody>
      </p:sp>
      <p:sp>
        <p:nvSpPr>
          <p:cNvPr id="251" name="rect-221">
            <a:extLst xmlns:a="http://schemas.openxmlformats.org/drawingml/2006/main">
              <a:ext uri="{FF2B5EF4-FFF2-40B4-BE49-F238E27FC236}">
                <a16:creationId xmlns:a16="http://schemas.microsoft.com/office/drawing/2014/main" id="{9DF1BFC7-DDCF-4E3A-BFD3-BA9CA55E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924800"/>
            <a:ext cx="6305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5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81c986dae48cf"/>
          <a:stretch xmlns:a="http://schemas.openxmlformats.org/drawingml/2006/main"/>
        </p:blipFill>
        <p:spPr>
          <a:xfrm xmlns:a="http://schemas.openxmlformats.org/drawingml/2006/main">
            <a:off x="8343900" y="8058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3" name="text-223">
            <a:extLst xmlns:a="http://schemas.openxmlformats.org/drawingml/2006/main">
              <a:ext uri="{FF2B5EF4-FFF2-40B4-BE49-F238E27FC236}">
                <a16:creationId xmlns:a16="http://schemas.microsoft.com/office/drawing/2014/main" id="{CA93244D-149D-4905-9E6D-0DEAF9A1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8027099"/>
            <a:ext cx="2107406" cy="188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Auditable decision report</a:t>
            </a:r>
          </a:p>
        </p:txBody>
      </p:sp>
      <p:sp>
        <p:nvSpPr>
          <p:cNvPr id="254" name="text-224">
            <a:extLst xmlns:a="http://schemas.openxmlformats.org/drawingml/2006/main">
              <a:ext uri="{FF2B5EF4-FFF2-40B4-BE49-F238E27FC236}">
                <a16:creationId xmlns:a16="http://schemas.microsoft.com/office/drawing/2014/main" id="{8402F1A1-D8AA-442D-A5BF-FE45854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8256080"/>
            <a:ext cx="6292691" cy="15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closed action - dominator anchor - stage score - uncertainty - updated policy - stop reason</a:t>
            </a:r>
          </a:p>
        </p:txBody>
      </p:sp>
    </p:spTree>
    <p:extLst>
      <p:ext uri="{BB962C8B-B14F-4D97-AF65-F5344CB8AC3E}">
        <p14:creationId xmlns:p14="http://schemas.microsoft.com/office/powerpoint/2010/main" val="1411070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anel-60-115">
            <a:extLst xmlns:a="http://schemas.openxmlformats.org/drawingml/2006/main">
              <a:ext uri="{FF2B5EF4-FFF2-40B4-BE49-F238E27FC236}">
                <a16:creationId xmlns:a16="http://schemas.microsoft.com/office/drawing/2014/main" id="{C7827076-9D15-4A1A-B7B0-08846DA8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7"/>
            <a:ext cx="6000750" cy="5191125"/>
          </a:xfrm>
          <a:prstGeom xmlns:a="http://schemas.openxmlformats.org/drawingml/2006/main" prst="roundRect">
            <a:avLst>
              <a:gd name="adj" fmla="val 2936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9050">
            <a:solidFill>
              <a:srgbClr val="FECA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" name="panel-60-115">
            <a:extLst xmlns:a="http://schemas.openxmlformats.org/drawingml/2006/main">
              <a:ext uri="{FF2B5EF4-FFF2-40B4-BE49-F238E27FC236}">
                <a16:creationId xmlns:a16="http://schemas.microsoft.com/office/drawing/2014/main" id="{72AA7E0B-6898-4F78-AD49-B4BC1C7F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60007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circle-80-129">
            <a:extLst xmlns:a="http://schemas.openxmlformats.org/drawingml/2006/main">
              <a:ext uri="{FF2B5EF4-FFF2-40B4-BE49-F238E27FC236}">
                <a16:creationId xmlns:a16="http://schemas.microsoft.com/office/drawing/2014/main" id="{F4E36F50-D1FE-4D09-B913-38F744B4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71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✕</a:t>
            </a:r>
          </a:p>
        </p:txBody>
      </p:sp>
      <p:sp>
        <p:nvSpPr>
          <p:cNvPr id="4" name="text-114-123">
            <a:extLst xmlns:a="http://schemas.openxmlformats.org/drawingml/2006/main">
              <a:ext uri="{FF2B5EF4-FFF2-40B4-BE49-F238E27FC236}">
                <a16:creationId xmlns:a16="http://schemas.microsoft.com/office/drawing/2014/main" id="{9F9E8A36-2C62-4AB8-B9CA-875D36CF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145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1">
                <a:solidFill>
                  <a:srgbClr val="991B1B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(a) Conventional: Untargeted Full-Trajectory &amp; Single-Reference</a:t>
            </a:r>
          </a:p>
        </p:txBody>
      </p:sp>
      <p:sp>
        <p:nvSpPr>
          <p:cNvPr id="5" name="card-84-187">
            <a:extLst xmlns:a="http://schemas.openxmlformats.org/drawingml/2006/main">
              <a:ext uri="{FF2B5EF4-FFF2-40B4-BE49-F238E27FC236}">
                <a16:creationId xmlns:a16="http://schemas.microsoft.com/office/drawing/2014/main" id="{EC7208E3-51B5-4153-8F08-F7AD72E9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24177"/>
            <a:ext cx="554355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ED7D7"/>
            </a:solidFill>
            <a:prstDash val="solid"/>
          </a:ln>
        </p:spPr>
      </p:sp>
      <p:sp>
        <p:nvSpPr>
          <p:cNvPr id="6" name="text-100-195">
            <a:extLst xmlns:a="http://schemas.openxmlformats.org/drawingml/2006/main">
              <a:ext uri="{FF2B5EF4-FFF2-40B4-BE49-F238E27FC236}">
                <a16:creationId xmlns:a16="http://schemas.microsoft.com/office/drawing/2014/main" id="{0E526F91-42A1-4FC6-9E95-85DBCD61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03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1. Granularity Gap in Trajectory Evaluation</a:t>
            </a:r>
          </a:p>
        </p:txBody>
      </p:sp>
      <p:sp>
        <p:nvSpPr>
          <p:cNvPr id="7" name="text-100-215">
            <a:extLst xmlns:a="http://schemas.openxmlformats.org/drawingml/2006/main">
              <a:ext uri="{FF2B5EF4-FFF2-40B4-BE49-F238E27FC236}">
                <a16:creationId xmlns:a16="http://schemas.microsoft.com/office/drawing/2014/main" id="{F84E7CD5-88CC-4287-BF34-19BB3EA2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Full-trajectory review hides failures; atomic steps lose context and flag benign events.</a:t>
            </a:r>
          </a:p>
        </p:txBody>
      </p:sp>
      <p:sp>
        <p:nvSpPr>
          <p:cNvPr id="8" name="card-100-239">
            <a:extLst xmlns:a="http://schemas.openxmlformats.org/drawingml/2006/main">
              <a:ext uri="{FF2B5EF4-FFF2-40B4-BE49-F238E27FC236}">
                <a16:creationId xmlns:a16="http://schemas.microsoft.com/office/drawing/2014/main" id="{18B86C8B-0EEF-4376-9A5C-ECD01979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2" y="3419475"/>
            <a:ext cx="25812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text-112-260">
            <a:extLst xmlns:a="http://schemas.openxmlformats.org/drawingml/2006/main">
              <a:ext uri="{FF2B5EF4-FFF2-40B4-BE49-F238E27FC236}">
                <a16:creationId xmlns:a16="http://schemas.microsoft.com/office/drawing/2014/main" id="{519851E6-18C1-45F8-B788-607B2B8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195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788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Full-trajectory: Too Coarse</a:t>
            </a:r>
          </a:p>
        </p:txBody>
      </p:sp>
      <p:sp>
        <p:nvSpPr>
          <p:cNvPr id="10" name="card-112-276">
            <a:extLst xmlns:a="http://schemas.openxmlformats.org/drawingml/2006/main">
              <a:ext uri="{FF2B5EF4-FFF2-40B4-BE49-F238E27FC236}">
                <a16:creationId xmlns:a16="http://schemas.microsoft.com/office/drawing/2014/main" id="{797A7079-FA64-433F-A7FC-206D1BFF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71900"/>
            <a:ext cx="2286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S1</a:t>
            </a:r>
          </a:p>
        </p:txBody>
      </p:sp>
      <p:sp>
        <p:nvSpPr>
          <p:cNvPr id="11" name="card-138-276">
            <a:extLst xmlns:a="http://schemas.openxmlformats.org/drawingml/2006/main">
              <a:ext uri="{FF2B5EF4-FFF2-40B4-BE49-F238E27FC236}">
                <a16:creationId xmlns:a16="http://schemas.microsoft.com/office/drawing/2014/main" id="{84BC2442-54AE-48C0-890B-A9B791EB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71900"/>
            <a:ext cx="2286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S2</a:t>
            </a:r>
          </a:p>
        </p:txBody>
      </p:sp>
      <p:sp>
        <p:nvSpPr>
          <p:cNvPr id="12" name="card-164-276">
            <a:extLst xmlns:a="http://schemas.openxmlformats.org/drawingml/2006/main">
              <a:ext uri="{FF2B5EF4-FFF2-40B4-BE49-F238E27FC236}">
                <a16:creationId xmlns:a16="http://schemas.microsoft.com/office/drawing/2014/main" id="{6B7856AD-0642-4326-8E98-AA11289C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71900"/>
            <a:ext cx="2286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991B1B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E3</a:t>
            </a:r>
          </a:p>
        </p:txBody>
      </p:sp>
      <p:sp>
        <p:nvSpPr>
          <p:cNvPr id="13" name="card-190-276">
            <a:extLst xmlns:a="http://schemas.openxmlformats.org/drawingml/2006/main">
              <a:ext uri="{FF2B5EF4-FFF2-40B4-BE49-F238E27FC236}">
                <a16:creationId xmlns:a16="http://schemas.microsoft.com/office/drawing/2014/main" id="{78E7065B-6372-402B-9F12-487DC124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71900"/>
            <a:ext cx="2286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92400E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92400E"/>
                </a:solidFill>
                <a:latin typeface="Segoe UI"/>
                <a:ea typeface="Segoe UI"/>
                <a:cs typeface="Segoe UI"/>
              </a:rPr>
              <a:t>R4</a:t>
            </a:r>
          </a:p>
        </p:txBody>
      </p:sp>
      <p:sp>
        <p:nvSpPr>
          <p:cNvPr id="14" name="card-216-276">
            <a:extLst xmlns:a="http://schemas.openxmlformats.org/drawingml/2006/main">
              <a:ext uri="{FF2B5EF4-FFF2-40B4-BE49-F238E27FC236}">
                <a16:creationId xmlns:a16="http://schemas.microsoft.com/office/drawing/2014/main" id="{83F9EE7D-5DD0-4DCD-B3AD-45102ACC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71900"/>
            <a:ext cx="2286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O5</a:t>
            </a:r>
          </a:p>
        </p:txBody>
      </p:sp>
      <p:sp>
        <p:nvSpPr>
          <p:cNvPr id="15" name="card-242-276">
            <a:extLst xmlns:a="http://schemas.openxmlformats.org/drawingml/2006/main">
              <a:ext uri="{FF2B5EF4-FFF2-40B4-BE49-F238E27FC236}">
                <a16:creationId xmlns:a16="http://schemas.microsoft.com/office/drawing/2014/main" id="{6EC62B12-A79C-4113-8B3E-19C90528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71900"/>
            <a:ext cx="22860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065F46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Goal</a:t>
            </a:r>
          </a:p>
        </p:txBody>
      </p:sp>
      <p:sp>
        <p:nvSpPr>
          <p:cNvPr id="16" name="text-268-278">
            <a:extLst xmlns:a="http://schemas.openxmlformats.org/drawingml/2006/main">
              <a:ext uri="{FF2B5EF4-FFF2-40B4-BE49-F238E27FC236}">
                <a16:creationId xmlns:a16="http://schemas.microsoft.com/office/drawing/2014/main" id="{8D8C7740-453A-4E15-947E-02447175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card-287-272">
            <a:extLst xmlns:a="http://schemas.openxmlformats.org/drawingml/2006/main">
              <a:ext uri="{FF2B5EF4-FFF2-40B4-BE49-F238E27FC236}">
                <a16:creationId xmlns:a16="http://schemas.microsoft.com/office/drawing/2014/main" id="{D38F0D7F-512B-40FB-985B-A5CCFFA2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33800"/>
            <a:ext cx="6858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63" b="1">
                <a:solidFill>
                  <a:srgbClr val="991B1B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Score 1.0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563" b="1">
                <a:solidFill>
                  <a:srgbClr val="991B1B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post-hoc</a:t>
            </a:r>
          </a:p>
        </p:txBody>
      </p:sp>
      <p:sp>
        <p:nvSpPr>
          <p:cNvPr id="18" name="text-112-309">
            <a:extLst xmlns:a="http://schemas.openxmlformats.org/drawingml/2006/main">
              <a:ext uri="{FF2B5EF4-FFF2-40B4-BE49-F238E27FC236}">
                <a16:creationId xmlns:a16="http://schemas.microsoft.com/office/drawing/2014/main" id="{6B7E5CF4-E5BA-41A7-A939-E7D538B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86227"/>
            <a:ext cx="2381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38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First failure (E3) is buried in the aggregate trace.</a:t>
            </a:r>
          </a:p>
        </p:txBody>
      </p:sp>
      <p:sp>
        <p:nvSpPr>
          <p:cNvPr id="19" name="text-372-278">
            <a:extLst xmlns:a="http://schemas.openxmlformats.org/drawingml/2006/main">
              <a:ext uri="{FF2B5EF4-FFF2-40B4-BE49-F238E27FC236}">
                <a16:creationId xmlns:a16="http://schemas.microsoft.com/office/drawing/2014/main" id="{227213BC-57DE-401E-BB51-A8DE947E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1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600" b="1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VS</a:t>
            </a:r>
          </a:p>
        </p:txBody>
      </p:sp>
      <p:sp>
        <p:nvSpPr>
          <p:cNvPr id="20" name="card-391-239">
            <a:extLst xmlns:a="http://schemas.openxmlformats.org/drawingml/2006/main">
              <a:ext uri="{FF2B5EF4-FFF2-40B4-BE49-F238E27FC236}">
                <a16:creationId xmlns:a16="http://schemas.microsoft.com/office/drawing/2014/main" id="{6D2F5DD4-13A8-412D-B655-CC147A16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7" y="3419475"/>
            <a:ext cx="24669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BEF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21" name="text-403-260">
            <a:extLst xmlns:a="http://schemas.openxmlformats.org/drawingml/2006/main">
              <a:ext uri="{FF2B5EF4-FFF2-40B4-BE49-F238E27FC236}">
                <a16:creationId xmlns:a16="http://schemas.microsoft.com/office/drawing/2014/main" id="{BC8C63E9-33C7-4E85-BD54-1444EBD1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19500"/>
            <a:ext cx="219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92400E"/>
                </a:solidFill>
                <a:latin typeface="Segoe UI"/>
                <a:ea typeface="Segoe UI"/>
                <a:cs typeface="Segoe UI"/>
              </a:defRPr>
            </a:pPr>
            <a:r>
              <a:rPr sz="788" b="1">
                <a:solidFill>
                  <a:srgbClr val="92400E"/>
                </a:solidFill>
                <a:latin typeface="Segoe UI"/>
                <a:ea typeface="Segoe UI"/>
                <a:cs typeface="Segoe UI"/>
              </a:rPr>
              <a:t>Atomic-step: Too Fine &amp; Noisy</a:t>
            </a:r>
          </a:p>
        </p:txBody>
      </p:sp>
      <p:sp>
        <p:nvSpPr>
          <p:cNvPr id="22" name="card-403-276">
            <a:extLst xmlns:a="http://schemas.openxmlformats.org/drawingml/2006/main">
              <a:ext uri="{FF2B5EF4-FFF2-40B4-BE49-F238E27FC236}">
                <a16:creationId xmlns:a16="http://schemas.microsoft.com/office/drawing/2014/main" id="{7C13C9F0-3F93-474C-8373-7E246809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771900"/>
            <a:ext cx="49530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Step 2</a:t>
            </a:r>
          </a:p>
        </p:txBody>
      </p:sp>
      <p:sp>
        <p:nvSpPr>
          <p:cNvPr id="23" name="stroke-461-274">
            <a:extLst xmlns:a="http://schemas.openxmlformats.org/drawingml/2006/main">
              <a:ext uri="{FF2B5EF4-FFF2-40B4-BE49-F238E27FC236}">
                <a16:creationId xmlns:a16="http://schemas.microsoft.com/office/drawing/2014/main" id="{02DD65AB-56BA-49EF-B84E-B40BADA9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7" y="3752850"/>
            <a:ext cx="952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9E0B"/>
            </a:solidFill>
            <a:prstDash val="dash"/>
          </a:ln>
        </p:spPr>
      </p:sp>
      <p:sp>
        <p:nvSpPr>
          <p:cNvPr id="24" name="card-465-276">
            <a:extLst xmlns:a="http://schemas.openxmlformats.org/drawingml/2006/main">
              <a:ext uri="{FF2B5EF4-FFF2-40B4-BE49-F238E27FC236}">
                <a16:creationId xmlns:a16="http://schemas.microsoft.com/office/drawing/2014/main" id="{94097ED3-2BC2-4B56-BAAC-BEDAD6F1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71900"/>
            <a:ext cx="49530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92400E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92400E"/>
                </a:solidFill>
                <a:latin typeface="Segoe UI"/>
                <a:ea typeface="Segoe UI"/>
                <a:cs typeface="Segoe UI"/>
              </a:rPr>
              <a:t>S3 Retry</a:t>
            </a:r>
          </a:p>
        </p:txBody>
      </p:sp>
      <p:sp>
        <p:nvSpPr>
          <p:cNvPr id="25" name="stroke-523-274">
            <a:extLst xmlns:a="http://schemas.openxmlformats.org/drawingml/2006/main">
              <a:ext uri="{FF2B5EF4-FFF2-40B4-BE49-F238E27FC236}">
                <a16:creationId xmlns:a16="http://schemas.microsoft.com/office/drawing/2014/main" id="{97BC71D2-64C2-463B-8410-41D38562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7" y="3752850"/>
            <a:ext cx="952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9E0B"/>
            </a:solidFill>
            <a:prstDash val="dash"/>
          </a:ln>
        </p:spPr>
      </p:sp>
      <p:sp>
        <p:nvSpPr>
          <p:cNvPr id="26" name="card-527-276">
            <a:extLst xmlns:a="http://schemas.openxmlformats.org/drawingml/2006/main">
              <a:ext uri="{FF2B5EF4-FFF2-40B4-BE49-F238E27FC236}">
                <a16:creationId xmlns:a16="http://schemas.microsoft.com/office/drawing/2014/main" id="{0CFBCE6B-ADC0-4E32-8C0E-A277E63B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71900"/>
            <a:ext cx="49530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S4 Obs</a:t>
            </a:r>
          </a:p>
        </p:txBody>
      </p:sp>
      <p:sp>
        <p:nvSpPr>
          <p:cNvPr id="27" name="text-583-280">
            <a:extLst xmlns:a="http://schemas.openxmlformats.org/drawingml/2006/main">
              <a:ext uri="{FF2B5EF4-FFF2-40B4-BE49-F238E27FC236}">
                <a16:creationId xmlns:a16="http://schemas.microsoft.com/office/drawing/2014/main" id="{CDA8EC9B-A358-414B-9944-55FCF15D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81000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EF4444"/>
                </a:solidFill>
                <a:latin typeface="Segoe UI"/>
                <a:ea typeface="Segoe UI"/>
                <a:cs typeface="Segoe UI"/>
              </a:defRPr>
            </a:pPr>
            <a:r>
              <a:rPr sz="825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8" name="card-593-274">
            <a:extLst xmlns:a="http://schemas.openxmlformats.org/drawingml/2006/main">
              <a:ext uri="{FF2B5EF4-FFF2-40B4-BE49-F238E27FC236}">
                <a16:creationId xmlns:a16="http://schemas.microsoft.com/office/drawing/2014/main" id="{346B695A-80C3-4DBA-B911-B6AF29A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7" y="3752850"/>
            <a:ext cx="428625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991B1B"/>
                </a:solidFill>
                <a:latin typeface="Segoe UI"/>
                <a:ea typeface="Segoe UI"/>
                <a:cs typeface="Segoe UI"/>
              </a:defRPr>
            </a:pPr>
            <a:r>
              <a:rPr sz="563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Noisy</a:t>
            </a:r>
          </a:p>
        </p:txBody>
      </p:sp>
      <p:sp>
        <p:nvSpPr>
          <p:cNvPr id="29" name="text-403-309">
            <a:extLst xmlns:a="http://schemas.openxmlformats.org/drawingml/2006/main">
              <a:ext uri="{FF2B5EF4-FFF2-40B4-BE49-F238E27FC236}">
                <a16:creationId xmlns:a16="http://schemas.microsoft.com/office/drawing/2014/main" id="{3DE4C7BC-6F2D-43C3-9CD9-931ED997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86227"/>
            <a:ext cx="2286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38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638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Missing context: benign retry / observation becomes noise.</a:t>
            </a:r>
          </a:p>
        </p:txBody>
      </p:sp>
      <p:sp>
        <p:nvSpPr>
          <p:cNvPr id="30" name="card-84-337">
            <a:extLst xmlns:a="http://schemas.openxmlformats.org/drawingml/2006/main">
              <a:ext uri="{FF2B5EF4-FFF2-40B4-BE49-F238E27FC236}">
                <a16:creationId xmlns:a16="http://schemas.microsoft.com/office/drawing/2014/main" id="{FED39530-0DCE-479B-AC60-20C5C7F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52927"/>
            <a:ext cx="554355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ED7D7"/>
            </a:solidFill>
            <a:prstDash val="solid"/>
          </a:ln>
        </p:spPr>
      </p:sp>
      <p:sp>
        <p:nvSpPr>
          <p:cNvPr id="31" name="text-100-345">
            <a:extLst xmlns:a="http://schemas.openxmlformats.org/drawingml/2006/main">
              <a:ext uri="{FF2B5EF4-FFF2-40B4-BE49-F238E27FC236}">
                <a16:creationId xmlns:a16="http://schemas.microsoft.com/office/drawing/2014/main" id="{7350F85B-2123-4CA4-B783-70DC132D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2. Single-Reference Bias (Penalizing Valid Exploration)</a:t>
            </a:r>
          </a:p>
        </p:txBody>
      </p:sp>
      <p:sp>
        <p:nvSpPr>
          <p:cNvPr id="32" name="text-100-365">
            <a:extLst xmlns:a="http://schemas.openxmlformats.org/drawingml/2006/main">
              <a:ext uri="{FF2B5EF4-FFF2-40B4-BE49-F238E27FC236}">
                <a16:creationId xmlns:a16="http://schemas.microsoft.com/office/drawing/2014/main" id="{B1B9CC76-546A-4FA7-8341-67BD1D96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9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Agent discovers an alternative, highly efficient valid path not in the single reference trace.</a:t>
            </a:r>
          </a:p>
        </p:txBody>
      </p:sp>
      <p:sp>
        <p:nvSpPr>
          <p:cNvPr id="33" name="text-116-392">
            <a:extLst xmlns:a="http://schemas.openxmlformats.org/drawingml/2006/main">
              <a:ext uri="{FF2B5EF4-FFF2-40B4-BE49-F238E27FC236}">
                <a16:creationId xmlns:a16="http://schemas.microsoft.com/office/drawing/2014/main" id="{E6309502-81B0-4203-8A1C-EF3E0B79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7680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Ref: Search(Name) ➔ Call(Phone)</a:t>
            </a:r>
          </a:p>
        </p:txBody>
      </p:sp>
      <p:sp>
        <p:nvSpPr>
          <p:cNvPr id="34" name="text-116-424">
            <a:extLst xmlns:a="http://schemas.openxmlformats.org/drawingml/2006/main">
              <a:ext uri="{FF2B5EF4-FFF2-40B4-BE49-F238E27FC236}">
                <a16:creationId xmlns:a16="http://schemas.microsoft.com/office/drawing/2014/main" id="{C9D511CB-AB2B-4E01-B07D-ED05402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8160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563E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Agent: Filter(Date) ➔ Call(Phone)</a:t>
            </a:r>
          </a:p>
        </p:txBody>
      </p:sp>
      <p:sp>
        <p:nvSpPr>
          <p:cNvPr id="35" name="card-449-400">
            <a:extLst xmlns:a="http://schemas.openxmlformats.org/drawingml/2006/main">
              <a:ext uri="{FF2B5EF4-FFF2-40B4-BE49-F238E27FC236}">
                <a16:creationId xmlns:a16="http://schemas.microsoft.com/office/drawing/2014/main" id="{8D67B917-07F2-4655-92DB-335EA623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7" y="4953000"/>
            <a:ext cx="2143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lIns="95250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13">
                <a:latin typeface="Segoe UI"/>
                <a:ea typeface="Segoe UI"/>
                <a:cs typeface="Segoe UI"/>
              </a:defRPr>
            </a:pPr>
            <a:r>
              <a:rPr sz="713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Trajectory Sim = 0.12 (Fail!)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713">
                <a:latin typeface="Segoe UI"/>
                <a:ea typeface="Segoe UI"/>
                <a:cs typeface="Segoe UI"/>
              </a:defRPr>
            </a:pPr>
            <a:r>
              <a:rPr sz="713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⚠️ Correct outcome rejected
due to rigid single-path alignment</a:t>
            </a:r>
          </a:p>
        </p:txBody>
      </p:sp>
      <p:sp>
        <p:nvSpPr>
          <p:cNvPr id="36" name="card-84-487">
            <a:extLst xmlns:a="http://schemas.openxmlformats.org/drawingml/2006/main">
              <a:ext uri="{FF2B5EF4-FFF2-40B4-BE49-F238E27FC236}">
                <a16:creationId xmlns:a16="http://schemas.microsoft.com/office/drawing/2014/main" id="{B53D54DF-7D7D-4BFF-B695-7C3C89D6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81677"/>
            <a:ext cx="55435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ED7D7"/>
            </a:solidFill>
            <a:prstDash val="solid"/>
          </a:ln>
        </p:spPr>
      </p:sp>
      <p:sp>
        <p:nvSpPr>
          <p:cNvPr id="37" name="text-100-495">
            <a:extLst xmlns:a="http://schemas.openxmlformats.org/drawingml/2006/main">
              <a:ext uri="{FF2B5EF4-FFF2-40B4-BE49-F238E27FC236}">
                <a16:creationId xmlns:a16="http://schemas.microsoft.com/office/drawing/2014/main" id="{B942FD03-9625-4913-BB29-298DA150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3. Delayed Evaluation &amp; Wasteful Execution Runout</a:t>
            </a:r>
          </a:p>
        </p:txBody>
      </p:sp>
      <p:sp>
        <p:nvSpPr>
          <p:cNvPr id="38" name="text-100-515">
            <a:extLst xmlns:a="http://schemas.openxmlformats.org/drawingml/2006/main">
              <a:ext uri="{FF2B5EF4-FFF2-40B4-BE49-F238E27FC236}">
                <a16:creationId xmlns:a16="http://schemas.microsoft.com/office/drawing/2014/main" id="{3A9F5E3C-D52C-40CC-9041-A697BCBF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4837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9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Agent derails into infinite parameter loops at turn 18, but harness runs blindly to turn 100.</a:t>
            </a:r>
          </a:p>
        </p:txBody>
      </p:sp>
      <p:sp>
        <p:nvSpPr>
          <p:cNvPr id="39" name="card-100-569">
            <a:extLst xmlns:a="http://schemas.openxmlformats.org/drawingml/2006/main">
              <a:ext uri="{FF2B5EF4-FFF2-40B4-BE49-F238E27FC236}">
                <a16:creationId xmlns:a16="http://schemas.microsoft.com/office/drawing/2014/main" id="{5B448A2F-AE14-42D1-91A2-F1A96478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62725"/>
            <a:ext cx="52387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ard-100-569">
            <a:extLst xmlns:a="http://schemas.openxmlformats.org/drawingml/2006/main">
              <a:ext uri="{FF2B5EF4-FFF2-40B4-BE49-F238E27FC236}">
                <a16:creationId xmlns:a16="http://schemas.microsoft.com/office/drawing/2014/main" id="{B93E2402-4B01-471C-BFC8-606C3597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62725"/>
            <a:ext cx="9525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ard-200-569">
            <a:extLst xmlns:a="http://schemas.openxmlformats.org/drawingml/2006/main">
              <a:ext uri="{FF2B5EF4-FFF2-40B4-BE49-F238E27FC236}">
                <a16:creationId xmlns:a16="http://schemas.microsoft.com/office/drawing/2014/main" id="{BB004E04-B668-484C-900A-DB86206A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5627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87171"/>
            </a:solidFill>
            <a:prstDash val="dash"/>
          </a:ln>
        </p:spPr>
      </p:sp>
      <p:sp>
        <p:nvSpPr>
          <p:cNvPr id="42" name="stroke-200-563">
            <a:extLst xmlns:a="http://schemas.openxmlformats.org/drawingml/2006/main">
              <a:ext uri="{FF2B5EF4-FFF2-40B4-BE49-F238E27FC236}">
                <a16:creationId xmlns:a16="http://schemas.microsoft.com/office/drawing/2014/main" id="{ACE2D871-0763-4F48-A11E-EBF13048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2" y="6505575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91C1C"/>
            </a:solidFill>
            <a:prstDash val="solid"/>
          </a:ln>
        </p:spPr>
      </p:sp>
      <p:sp>
        <p:nvSpPr>
          <p:cNvPr id="43" name="text-180-597">
            <a:extLst xmlns:a="http://schemas.openxmlformats.org/drawingml/2006/main">
              <a:ext uri="{FF2B5EF4-FFF2-40B4-BE49-F238E27FC236}">
                <a16:creationId xmlns:a16="http://schemas.microsoft.com/office/drawing/2014/main" id="{35F47695-B4D7-41FC-B614-30205579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2942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B91C1C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Step 18 (Stuck)</a:t>
            </a:r>
          </a:p>
        </p:txBody>
      </p:sp>
      <p:sp>
        <p:nvSpPr>
          <p:cNvPr id="44" name="text-260-572">
            <a:extLst xmlns:a="http://schemas.openxmlformats.org/drawingml/2006/main">
              <a:ext uri="{FF2B5EF4-FFF2-40B4-BE49-F238E27FC236}">
                <a16:creationId xmlns:a16="http://schemas.microsoft.com/office/drawing/2014/main" id="{0F25BACE-5F42-4705-86EF-E2657657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591300"/>
            <a:ext cx="3333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DC2626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Wasteful Prefix: 82 turns, 185s, 32k tokens squandered</a:t>
            </a:r>
          </a:p>
        </p:txBody>
      </p:sp>
      <p:sp>
        <p:nvSpPr>
          <p:cNvPr id="45" name="text-520-597">
            <a:extLst xmlns:a="http://schemas.openxmlformats.org/drawingml/2006/main">
              <a:ext uri="{FF2B5EF4-FFF2-40B4-BE49-F238E27FC236}">
                <a16:creationId xmlns:a16="http://schemas.microsoft.com/office/drawing/2014/main" id="{93865F69-0C79-4AE5-96BB-DDEE1E3E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82942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Step 100 (Timeout)</a:t>
            </a:r>
          </a:p>
        </p:txBody>
      </p:sp>
      <p:sp>
        <p:nvSpPr>
          <p:cNvPr id="46" name="panel-750-115">
            <a:extLst xmlns:a="http://schemas.openxmlformats.org/drawingml/2006/main">
              <a:ext uri="{FF2B5EF4-FFF2-40B4-BE49-F238E27FC236}">
                <a16:creationId xmlns:a16="http://schemas.microsoft.com/office/drawing/2014/main" id="{69109FB3-5299-4162-BCFD-E4D8E9EA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7"/>
            <a:ext cx="6000750" cy="5191125"/>
          </a:xfrm>
          <a:prstGeom xmlns:a="http://schemas.openxmlformats.org/drawingml/2006/main" prst="roundRect">
            <a:avLst>
              <a:gd name="adj" fmla="val 2936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9050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7" name="panel-750-115">
            <a:extLst xmlns:a="http://schemas.openxmlformats.org/drawingml/2006/main">
              <a:ext uri="{FF2B5EF4-FFF2-40B4-BE49-F238E27FC236}">
                <a16:creationId xmlns:a16="http://schemas.microsoft.com/office/drawing/2014/main" id="{0A2108BA-B4E9-455C-BEFF-E7D04B31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60007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8" name="circle-770-129">
            <a:extLst xmlns:a="http://schemas.openxmlformats.org/drawingml/2006/main">
              <a:ext uri="{FF2B5EF4-FFF2-40B4-BE49-F238E27FC236}">
                <a16:creationId xmlns:a16="http://schemas.microsoft.com/office/drawing/2014/main" id="{1DD0DF0F-7A65-4744-940A-2BA0BA97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49" name="text-804-123">
            <a:extLst xmlns:a="http://schemas.openxmlformats.org/drawingml/2006/main">
              <a:ext uri="{FF2B5EF4-FFF2-40B4-BE49-F238E27FC236}">
                <a16:creationId xmlns:a16="http://schemas.microsoft.com/office/drawing/2014/main" id="{A1590D88-9BB3-49B7-8112-CC66B097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145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1">
                <a:solidFill>
                  <a:srgbClr val="166534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(b) DynSTEER: Targeted Stage Review &amp; Proactive Control</a:t>
            </a:r>
          </a:p>
        </p:txBody>
      </p:sp>
      <p:sp>
        <p:nvSpPr>
          <p:cNvPr id="50" name="card-774-187">
            <a:extLst xmlns:a="http://schemas.openxmlformats.org/drawingml/2006/main">
              <a:ext uri="{FF2B5EF4-FFF2-40B4-BE49-F238E27FC236}">
                <a16:creationId xmlns:a16="http://schemas.microsoft.com/office/drawing/2014/main" id="{5099B12C-766A-4216-A343-DDA1D8E6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7"/>
            <a:ext cx="554355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F7D0"/>
            </a:solidFill>
            <a:prstDash val="solid"/>
          </a:ln>
        </p:spPr>
      </p:sp>
      <p:sp>
        <p:nvSpPr>
          <p:cNvPr id="51" name="text-790-195">
            <a:extLst xmlns:a="http://schemas.openxmlformats.org/drawingml/2006/main">
              <a:ext uri="{FF2B5EF4-FFF2-40B4-BE49-F238E27FC236}">
                <a16:creationId xmlns:a16="http://schemas.microsoft.com/office/drawing/2014/main" id="{BA22B143-2EAB-4187-93BC-9D0594C5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1. Targeted Stage-wise Review with Rich Trajectory Context</a:t>
            </a:r>
          </a:p>
        </p:txBody>
      </p:sp>
      <p:sp>
        <p:nvSpPr>
          <p:cNvPr id="52" name="text-790-215">
            <a:extLst xmlns:a="http://schemas.openxmlformats.org/drawingml/2006/main">
              <a:ext uri="{FF2B5EF4-FFF2-40B4-BE49-F238E27FC236}">
                <a16:creationId xmlns:a16="http://schemas.microsoft.com/office/drawing/2014/main" id="{F7AAC563-8B8D-4712-BF41-7F6653C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9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Focuses on essential milestones with adequate context; dynamically adapts strategy toward weak links.</a:t>
            </a:r>
          </a:p>
        </p:txBody>
      </p:sp>
      <p:sp>
        <p:nvSpPr>
          <p:cNvPr id="53" name="card-790-272">
            <a:extLst xmlns:a="http://schemas.openxmlformats.org/drawingml/2006/main">
              <a:ext uri="{FF2B5EF4-FFF2-40B4-BE49-F238E27FC236}">
                <a16:creationId xmlns:a16="http://schemas.microsoft.com/office/drawing/2014/main" id="{67A033E7-302F-440C-89E3-5ECCBA6A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1143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lIns="9525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50"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Stage 1 [s0 ➔ M1]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750">
                <a:latin typeface="Segoe UI"/>
                <a:ea typeface="Segoe UI"/>
                <a:cs typeface="Segoe UI"/>
              </a:defRPr>
            </a:pPr>
            <a:r>
              <a:rPr sz="75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Correctness: 1.0 ✓</a:t>
            </a:r>
          </a:p>
        </p:txBody>
      </p:sp>
      <p:sp>
        <p:nvSpPr>
          <p:cNvPr id="54" name="card-945-272">
            <a:extLst xmlns:a="http://schemas.openxmlformats.org/drawingml/2006/main">
              <a:ext uri="{FF2B5EF4-FFF2-40B4-BE49-F238E27FC236}">
                <a16:creationId xmlns:a16="http://schemas.microsoft.com/office/drawing/2014/main" id="{7775A2F8-FF91-4AE9-B87C-051A43F4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7" y="3733800"/>
            <a:ext cx="157162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  <p:txBody>
          <a:bodyPr xmlns:a="http://schemas.openxmlformats.org/drawingml/2006/main" lIns="762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13">
                <a:latin typeface="Segoe UI"/>
                <a:ea typeface="Segoe UI"/>
                <a:cs typeface="Segoe UI"/>
              </a:defRPr>
            </a:pPr>
            <a:r>
              <a:rPr sz="713" b="1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Stage 2 [M1 ➔ M2] (Targeted)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713">
                <a:latin typeface="Segoe UI"/>
                <a:ea typeface="Segoe UI"/>
                <a:cs typeface="Segoe UI"/>
              </a:defRPr>
            </a:pPr>
            <a:r>
              <a:rPr sz="713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⚠️ First Error Isolated at Step 3!</a:t>
            </a:r>
          </a:p>
        </p:txBody>
      </p:sp>
      <p:sp>
        <p:nvSpPr>
          <p:cNvPr id="55" name="card-1125-272">
            <a:extLst xmlns:a="http://schemas.openxmlformats.org/drawingml/2006/main">
              <a:ext uri="{FF2B5EF4-FFF2-40B4-BE49-F238E27FC236}">
                <a16:creationId xmlns:a16="http://schemas.microsoft.com/office/drawing/2014/main" id="{42CFD04A-8D24-4219-9C61-85774A2A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7" y="3733800"/>
            <a:ext cx="223837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lIns="95250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675"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Dynamic Strategy Escalation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675">
                <a:latin typeface="Segoe UI"/>
                <a:ea typeface="Segoe UI"/>
                <a:cs typeface="Segoe UI"/>
              </a:defRPr>
            </a:pPr>
            <a:r>
              <a:rPr sz="675">
                <a:solidFill>
                  <a:srgbClr val="047857"/>
                </a:solidFill>
                <a:latin typeface="Segoe UI"/>
                <a:ea typeface="Segoe UI"/>
                <a:cs typeface="Segoe UI"/>
              </a:rPr>
              <a:t>✓ Focuses on agent's weak link
Sufficient Context: Avoids Step Noise</a:t>
            </a:r>
          </a:p>
        </p:txBody>
      </p:sp>
      <p:cxnSp>
        <p:nvCxnSpPr>
          <p:cNvPr id="270" name="直接箭头连接符 201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9429752" y="39433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B981"/>
            </a:solidFill>
            <a:prstDash val="solid"/>
            <a:headEnd type="triangle" w="sm" len="sm"/>
            <a:tailEnd type="none" w="med" len="med"/>
          </a:ln>
        </p:spPr>
      </p:cxnSp>
      <p:sp>
        <p:nvSpPr>
          <p:cNvPr id="57" name="card-774-337">
            <a:extLst xmlns:a="http://schemas.openxmlformats.org/drawingml/2006/main">
              <a:ext uri="{FF2B5EF4-FFF2-40B4-BE49-F238E27FC236}">
                <a16:creationId xmlns:a16="http://schemas.microsoft.com/office/drawing/2014/main" id="{04017279-9730-4A89-B892-F98CA986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52927"/>
            <a:ext cx="554355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F7D0"/>
            </a:solidFill>
            <a:prstDash val="solid"/>
          </a:ln>
        </p:spPr>
      </p:sp>
      <p:sp>
        <p:nvSpPr>
          <p:cNvPr id="58" name="text-790-345">
            <a:extLst xmlns:a="http://schemas.openxmlformats.org/drawingml/2006/main">
              <a:ext uri="{FF2B5EF4-FFF2-40B4-BE49-F238E27FC236}">
                <a16:creationId xmlns:a16="http://schemas.microsoft.com/office/drawing/2014/main" id="{13779987-01FD-4E9E-934C-AA1C8CB4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291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2. Path-Tolerant Milestone DAG (Simulated Planning)</a:t>
            </a:r>
          </a:p>
        </p:txBody>
      </p:sp>
      <p:sp>
        <p:nvSpPr>
          <p:cNvPr id="59" name="text-790-365">
            <a:extLst xmlns:a="http://schemas.openxmlformats.org/drawingml/2006/main">
              <a:ext uri="{FF2B5EF4-FFF2-40B4-BE49-F238E27FC236}">
                <a16:creationId xmlns:a16="http://schemas.microsoft.com/office/drawing/2014/main" id="{48FC5717-955A-45DA-8B0E-A3F150E1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962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9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Aggregates multiple public candidates; respects diverse valid exploratory branches.</a:t>
            </a:r>
          </a:p>
        </p:txBody>
      </p:sp>
      <p:sp>
        <p:nvSpPr>
          <p:cNvPr id="60" name="circle-841-409">
            <a:extLst xmlns:a="http://schemas.openxmlformats.org/drawingml/2006/main">
              <a:ext uri="{FF2B5EF4-FFF2-40B4-BE49-F238E27FC236}">
                <a16:creationId xmlns:a16="http://schemas.microsoft.com/office/drawing/2014/main" id="{E0EF427B-F69B-4E08-BA26-E24BF75B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038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334155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s0</a:t>
            </a:r>
          </a:p>
        </p:txBody>
      </p:sp>
      <p:sp>
        <p:nvSpPr>
          <p:cNvPr id="61" name="card-901-399">
            <a:extLst xmlns:a="http://schemas.openxmlformats.org/drawingml/2006/main">
              <a:ext uri="{FF2B5EF4-FFF2-40B4-BE49-F238E27FC236}">
                <a16:creationId xmlns:a16="http://schemas.microsoft.com/office/drawing/2014/main" id="{BFCBA356-88D9-4E91-A3D9-EDB0315A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7" y="4943475"/>
            <a:ext cx="904875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1E40AF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Search(Name)</a:t>
            </a:r>
          </a:p>
        </p:txBody>
      </p:sp>
      <p:sp>
        <p:nvSpPr>
          <p:cNvPr id="62" name="card-901-427">
            <a:extLst xmlns:a="http://schemas.openxmlformats.org/drawingml/2006/main">
              <a:ext uri="{FF2B5EF4-FFF2-40B4-BE49-F238E27FC236}">
                <a16:creationId xmlns:a16="http://schemas.microsoft.com/office/drawing/2014/main" id="{2D5CF9E6-2EDB-4AAD-A1DE-6453CD86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7" y="5210175"/>
            <a:ext cx="904875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065F46"/>
                </a:solidFill>
                <a:latin typeface="Segoe UI"/>
                <a:ea typeface="Segoe UI"/>
                <a:cs typeface="Segoe UI"/>
              </a:defRPr>
            </a:pPr>
            <a:r>
              <a:rPr sz="675" b="1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Filter(Date)</a:t>
            </a:r>
          </a:p>
        </p:txBody>
      </p:sp>
      <p:sp>
        <p:nvSpPr>
          <p:cNvPr id="63" name="circle-1006-409">
            <a:extLst xmlns:a="http://schemas.openxmlformats.org/drawingml/2006/main">
              <a:ext uri="{FF2B5EF4-FFF2-40B4-BE49-F238E27FC236}">
                <a16:creationId xmlns:a16="http://schemas.microsoft.com/office/drawing/2014/main" id="{47CD32AD-B42A-4C58-97F3-009BDB8C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038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65F46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Call</a:t>
            </a:r>
          </a:p>
        </p:txBody>
      </p:sp>
      <p:sp>
        <p:nvSpPr>
          <p:cNvPr id="64" name="card-1055-405">
            <a:extLst xmlns:a="http://schemas.openxmlformats.org/drawingml/2006/main">
              <a:ext uri="{FF2B5EF4-FFF2-40B4-BE49-F238E27FC236}">
                <a16:creationId xmlns:a16="http://schemas.microsoft.com/office/drawing/2014/main" id="{772ED269-0A06-4814-B399-959C21D6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000625"/>
            <a:ext cx="2190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 lIns="95250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50"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166534"/>
                </a:solidFill>
                <a:latin typeface="Segoe UI"/>
                <a:ea typeface="Segoe UI"/>
                <a:cs typeface="Segoe UI"/>
              </a:rPr>
              <a:t>Both Paths Accepted (Pass!)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750">
                <a:latin typeface="Segoe UI"/>
                <a:ea typeface="Segoe UI"/>
                <a:cs typeface="Segoe UI"/>
              </a:defRPr>
            </a:pPr>
            <a:r>
              <a:rPr sz="750">
                <a:solidFill>
                  <a:srgbClr val="047857"/>
                </a:solidFill>
                <a:latin typeface="Segoe UI"/>
                <a:ea typeface="Segoe UI"/>
                <a:cs typeface="Segoe UI"/>
              </a:rPr>
              <a:t>✓ Preserves LLM agent exploration</a:t>
            </a:r>
          </a:p>
        </p:txBody>
      </p:sp>
      <p:cxnSp>
        <p:nvCxnSpPr>
          <p:cNvPr id="279" name="连接符: 曲线 210"/>
          <p:cNvCxnSpPr>
            <a:stCxn xmlns:a="http://schemas.openxmlformats.org/drawingml/2006/main" id="60" idx="6"/>
            <a:endCxn xmlns:a="http://schemas.openxmlformats.org/drawingml/2006/main" id="61" idx="1"/>
          </p:cNvCxnSpPr>
          <p:nvPr/>
        </p:nvCxnSpPr>
        <p:spPr>
          <a:xfrm xmlns:a="http://schemas.openxmlformats.org/drawingml/2006/main" rot="5400000">
            <a:off x="9134475" y="4962525"/>
            <a:ext cx="114300" cy="304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B82F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80" name="连接符: 曲线 211"/>
          <p:cNvCxnSpPr>
            <a:stCxn xmlns:a="http://schemas.openxmlformats.org/drawingml/2006/main" id="60" idx="6"/>
            <a:endCxn xmlns:a="http://schemas.openxmlformats.org/drawingml/2006/main" id="62" idx="1"/>
          </p:cNvCxnSpPr>
          <p:nvPr/>
        </p:nvCxnSpPr>
        <p:spPr>
          <a:xfrm xmlns:a="http://schemas.openxmlformats.org/drawingml/2006/main" rot="16200000" flipH="1">
            <a:off x="9115425" y="5095875"/>
            <a:ext cx="152400" cy="304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0B981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81" name="连接符: 曲线 212"/>
          <p:cNvCxnSpPr>
            <a:stCxn xmlns:a="http://schemas.openxmlformats.org/drawingml/2006/main" id="61" idx="3"/>
            <a:endCxn xmlns:a="http://schemas.openxmlformats.org/drawingml/2006/main" id="63" idx="2"/>
          </p:cNvCxnSpPr>
          <p:nvPr/>
        </p:nvCxnSpPr>
        <p:spPr>
          <a:xfrm xmlns:a="http://schemas.openxmlformats.org/drawingml/2006/main" rot="16200000" flipH="1">
            <a:off x="10239375" y="5067300"/>
            <a:ext cx="114300" cy="95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B82F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282" name="连接符: 曲线 213"/>
          <p:cNvCxnSpPr>
            <a:stCxn xmlns:a="http://schemas.openxmlformats.org/drawingml/2006/main" id="62" idx="3"/>
            <a:endCxn xmlns:a="http://schemas.openxmlformats.org/drawingml/2006/main" id="63" idx="2"/>
          </p:cNvCxnSpPr>
          <p:nvPr/>
        </p:nvCxnSpPr>
        <p:spPr>
          <a:xfrm xmlns:a="http://schemas.openxmlformats.org/drawingml/2006/main" rot="5400000">
            <a:off x="10220325" y="5200650"/>
            <a:ext cx="152400" cy="95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0B981"/>
            </a:solidFill>
            <a:prstDash val="solid"/>
            <a:headEnd type="triangle" w="sm" len="sm"/>
            <a:tailEnd type="none" w="med" len="med"/>
          </a:ln>
        </p:spPr>
      </p:cxnSp>
      <p:sp>
        <p:nvSpPr>
          <p:cNvPr id="69" name="card-774-487">
            <a:extLst xmlns:a="http://schemas.openxmlformats.org/drawingml/2006/main">
              <a:ext uri="{FF2B5EF4-FFF2-40B4-BE49-F238E27FC236}">
                <a16:creationId xmlns:a16="http://schemas.microsoft.com/office/drawing/2014/main" id="{2CBEC7B1-420B-492F-9D65-1539F1C5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781677"/>
            <a:ext cx="55435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F7D0"/>
            </a:solidFill>
            <a:prstDash val="solid"/>
          </a:ln>
        </p:spPr>
      </p:sp>
      <p:sp>
        <p:nvSpPr>
          <p:cNvPr id="70" name="text-790-495">
            <a:extLst xmlns:a="http://schemas.openxmlformats.org/drawingml/2006/main">
              <a:ext uri="{FF2B5EF4-FFF2-40B4-BE49-F238E27FC236}">
                <a16:creationId xmlns:a16="http://schemas.microsoft.com/office/drawing/2014/main" id="{023E1F26-E189-4C30-9378-CB28FE61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578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3. Proactive Execution Control: Adaptive Early Termination</a:t>
            </a:r>
          </a:p>
        </p:txBody>
      </p:sp>
      <p:sp>
        <p:nvSpPr>
          <p:cNvPr id="71" name="text-790-515">
            <a:extLst xmlns:a="http://schemas.openxmlformats.org/drawingml/2006/main">
              <a:ext uri="{FF2B5EF4-FFF2-40B4-BE49-F238E27FC236}">
                <a16:creationId xmlns:a16="http://schemas.microsoft.com/office/drawing/2014/main" id="{23C298E3-CC3B-4A95-99B4-36E2BC6A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4837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9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Halts deadlocks &amp; fatal violations during execution; surfaces failure diagnostics immediately.</a:t>
            </a:r>
          </a:p>
        </p:txBody>
      </p:sp>
      <p:sp>
        <p:nvSpPr>
          <p:cNvPr id="72" name="card-790-569">
            <a:extLst xmlns:a="http://schemas.openxmlformats.org/drawingml/2006/main">
              <a:ext uri="{FF2B5EF4-FFF2-40B4-BE49-F238E27FC236}">
                <a16:creationId xmlns:a16="http://schemas.microsoft.com/office/drawing/2014/main" id="{BADDD080-3B80-4913-BE88-2D599031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62725"/>
            <a:ext cx="52387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card-790-569">
            <a:extLst xmlns:a="http://schemas.openxmlformats.org/drawingml/2006/main">
              <a:ext uri="{FF2B5EF4-FFF2-40B4-BE49-F238E27FC236}">
                <a16:creationId xmlns:a16="http://schemas.microsoft.com/office/drawing/2014/main" id="{9FC9B338-45A4-4228-A281-90CC8CC3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62725"/>
            <a:ext cx="9525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troke-890-559">
            <a:extLst xmlns:a="http://schemas.openxmlformats.org/drawingml/2006/main">
              <a:ext uri="{FF2B5EF4-FFF2-40B4-BE49-F238E27FC236}">
                <a16:creationId xmlns:a16="http://schemas.microsoft.com/office/drawing/2014/main" id="{CAF8E98D-6E34-41FB-813F-AC871BE5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2" y="6467475"/>
            <a:ext cx="95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75" name="card-845-541">
            <a:extLst xmlns:a="http://schemas.openxmlformats.org/drawingml/2006/main">
              <a:ext uri="{FF2B5EF4-FFF2-40B4-BE49-F238E27FC236}">
                <a16:creationId xmlns:a16="http://schemas.microsoft.com/office/drawing/2014/main" id="{6C3A65F6-02C2-40D1-9DB5-2E60CA5E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296025"/>
            <a:ext cx="8572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STOP AT STEP 18</a:t>
            </a:r>
          </a:p>
        </p:txBody>
      </p:sp>
      <p:sp>
        <p:nvSpPr>
          <p:cNvPr id="76" name="card-905-564">
            <a:extLst xmlns:a="http://schemas.openxmlformats.org/drawingml/2006/main">
              <a:ext uri="{FF2B5EF4-FFF2-40B4-BE49-F238E27FC236}">
                <a16:creationId xmlns:a16="http://schemas.microsoft.com/office/drawing/2014/main" id="{513D43DE-9AC6-41FA-9189-45C88233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515100"/>
            <a:ext cx="4095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10B981"/>
            </a:solidFill>
            <a:prstDash val="dash"/>
          </a:ln>
        </p:spPr>
      </p:sp>
      <p:sp>
        <p:nvSpPr>
          <p:cNvPr id="77" name="text-925-571">
            <a:extLst xmlns:a="http://schemas.openxmlformats.org/drawingml/2006/main">
              <a:ext uri="{FF2B5EF4-FFF2-40B4-BE49-F238E27FC236}">
                <a16:creationId xmlns:a16="http://schemas.microsoft.com/office/drawing/2014/main" id="{473C9A9A-2C92-4BCB-A0CF-490FEE7A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58177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65F46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65F46"/>
                </a:solidFill>
                <a:latin typeface="Segoe UI"/>
                <a:ea typeface="Segoe UI"/>
                <a:cs typeface="Segoe UI"/>
              </a:rPr>
              <a:t>⚡ SAVED 82 TURNS (82% Execution Time &amp; 32k Tokens Saved)</a:t>
            </a:r>
          </a:p>
        </p:txBody>
      </p:sp>
      <p:sp>
        <p:nvSpPr>
          <p:cNvPr id="78" name="text-800-599">
            <a:extLst xmlns:a="http://schemas.openxmlformats.org/drawingml/2006/main">
              <a:ext uri="{FF2B5EF4-FFF2-40B4-BE49-F238E27FC236}">
                <a16:creationId xmlns:a16="http://schemas.microsoft.com/office/drawing/2014/main" id="{2F7BC644-6E76-45B8-8B63-1312D475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848475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Reason: Frontier Deadlock detected across ready milestones.</a:t>
            </a:r>
          </a:p>
        </p:txBody>
      </p:sp>
    </p:spTree>
    <p:extLst>
      <p:ext uri="{BB962C8B-B14F-4D97-AF65-F5344CB8AC3E}">
        <p14:creationId xmlns:p14="http://schemas.microsoft.com/office/powerpoint/2010/main" val="1137796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8100" dir="5400000">
              <a:srgbClr val="0F172A">
                <a:alpha val="6000"/>
              </a:srgbClr>
            </a:outerShdw>
          </a:effectLst>
        </a:effectStyle>
        <a:effectStyle>
          <a:effectLst>
            <a:outerShdw blurRad="114300" dist="51294" dir="4091915">
              <a:srgbClr val="0F172A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2026-09-17T10:07:24.2260000Z</dcterms:created>
  <dcterms:modified xsi:type="dcterms:W3CDTF">2026-09-17T10:07:24.2270000Z</dcterms:modified>
</coreProperties>
</file>