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3.svg" ContentType="image/svg+xml"/>
  <Override PartName="/ppt/media/image14.svg" ContentType="image/svg+xml"/>
  <Override PartName="/ppt/media/image1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</p:sldIdLst>
  <p:sldSz cx="15240000" cy="9525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40AF"/>
    <a:srgbClr val="059669"/>
    <a:srgbClr val="7E22CE"/>
    <a:srgbClr val="EF4444"/>
    <a:srgbClr val="475569"/>
    <a:srgbClr val="60A5FA"/>
    <a:srgbClr val="EFF6FF"/>
    <a:srgbClr val="22C55E"/>
    <a:srgbClr val="96E7B3"/>
    <a:srgbClr val="991B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Native editable conversion of docs/paper/iclr2027/figures/overall-framework.svg. Geometry, colors, labels, font scale, and icon placements follow the finalized PNG at 1600 x 1000.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8" Type="http://schemas.openxmlformats.org/officeDocument/2006/relationships/notesSlide" Target="../notesSlides/notesSlide1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16.png"/><Relationship Id="rId15" Type="http://schemas.openxmlformats.org/officeDocument/2006/relationships/image" Target="../media/image15.svg"/><Relationship Id="rId14" Type="http://schemas.openxmlformats.org/officeDocument/2006/relationships/image" Target="../media/image14.svg"/><Relationship Id="rId13" Type="http://schemas.openxmlformats.org/officeDocument/2006/relationships/image" Target="../media/image13.sv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99" name="组合 98"/>
          <p:cNvGrpSpPr/>
          <p:nvPr/>
        </p:nvGrpSpPr>
        <p:grpSpPr>
          <a:xfrm>
            <a:off x="333375" y="190500"/>
            <a:ext cx="14573250" cy="8953500"/>
            <a:chOff x="525" y="300"/>
            <a:chExt cx="22950" cy="14100"/>
          </a:xfrm>
        </p:grpSpPr>
        <p:sp>
          <p:nvSpPr>
            <p:cNvPr id="255" name="rect-1"/>
            <p:cNvSpPr>
              <a:spLocks noGrp="1"/>
            </p:cNvSpPr>
            <p:nvPr/>
          </p:nvSpPr>
          <p:spPr>
            <a:xfrm>
              <a:off x="525" y="300"/>
              <a:ext cx="22950" cy="3957"/>
            </a:xfrm>
            <a:prstGeom prst="roundRect">
              <a:avLst>
                <a:gd name="adj" fmla="val 5714"/>
              </a:avLst>
            </a:prstGeom>
            <a:solidFill>
              <a:srgbClr val="EFF6FF"/>
            </a:solidFill>
            <a:ln w="19050">
              <a:solidFill>
                <a:srgbClr val="BFDBFE"/>
              </a:solidFill>
              <a:prstDash val="solid"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11">
              <a:srgbClr val="FFFFFF"/>
            </a:effectRef>
            <a:fontRef idx="major"/>
          </p:style>
        </p:sp>
        <p:sp>
          <p:nvSpPr>
            <p:cNvPr id="5" name="text-5"/>
            <p:cNvSpPr>
              <a:spLocks noGrp="1"/>
            </p:cNvSpPr>
            <p:nvPr/>
          </p:nvSpPr>
          <p:spPr>
            <a:xfrm>
              <a:off x="1305" y="384"/>
              <a:ext cx="9120" cy="45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15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8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Milestone Graph Generation</a:t>
              </a:r>
              <a:endParaRPr sz="1800" b="1">
                <a:solidFill>
                  <a:srgbClr val="1E40A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6" name="rect-6"/>
            <p:cNvSpPr>
              <a:spLocks noGrp="1"/>
            </p:cNvSpPr>
            <p:nvPr/>
          </p:nvSpPr>
          <p:spPr>
            <a:xfrm>
              <a:off x="887" y="1037"/>
              <a:ext cx="3554" cy="2880"/>
            </a:xfrm>
            <a:prstGeom prst="roundRect">
              <a:avLst>
                <a:gd name="adj" fmla="val 5208"/>
              </a:avLst>
            </a:prstGeom>
            <a:solidFill>
              <a:srgbClr val="FFFFFF"/>
            </a:solidFill>
            <a:ln w="14288">
              <a:solidFill>
                <a:srgbClr val="DBEAFE"/>
              </a:solidFill>
              <a:prstDash val="solid"/>
            </a:ln>
          </p:spPr>
        </p:sp>
        <p:pic>
          <p:nvPicPr>
            <p:cNvPr id="261" name="图片 26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097" y="1157"/>
              <a:ext cx="300" cy="300"/>
            </a:xfrm>
            <a:prstGeom prst="rect">
              <a:avLst/>
            </a:prstGeom>
          </p:spPr>
        </p:pic>
        <p:sp>
          <p:nvSpPr>
            <p:cNvPr id="8" name="text-8"/>
            <p:cNvSpPr>
              <a:spLocks noGrp="1"/>
            </p:cNvSpPr>
            <p:nvPr/>
          </p:nvSpPr>
          <p:spPr>
            <a:xfrm>
              <a:off x="1517" y="1153"/>
              <a:ext cx="2490" cy="342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112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2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Task Inputs</a:t>
              </a:r>
              <a:endParaRPr lang="en-US" sz="1200" b="1">
                <a:solidFill>
                  <a:srgbClr val="1E40A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9" name="rect-9"/>
            <p:cNvSpPr>
              <a:spLocks noGrp="1"/>
            </p:cNvSpPr>
            <p:nvPr/>
          </p:nvSpPr>
          <p:spPr>
            <a:xfrm>
              <a:off x="1097" y="1547"/>
              <a:ext cx="3104" cy="510"/>
            </a:xfrm>
            <a:prstGeom prst="roundRect">
              <a:avLst>
                <a:gd name="adj" fmla="val 17647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  <a:prstDash val="solid"/>
            </a:ln>
          </p:spPr>
        </p:sp>
        <p:pic>
          <p:nvPicPr>
            <p:cNvPr id="264" name="图片 26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47" y="1667"/>
              <a:ext cx="270" cy="270"/>
            </a:xfrm>
            <a:prstGeom prst="rect">
              <a:avLst/>
            </a:prstGeom>
          </p:spPr>
        </p:pic>
        <p:sp>
          <p:nvSpPr>
            <p:cNvPr id="11" name="text-11"/>
            <p:cNvSpPr>
              <a:spLocks noGrp="1"/>
            </p:cNvSpPr>
            <p:nvPr/>
          </p:nvSpPr>
          <p:spPr>
            <a:xfrm>
              <a:off x="1637" y="1663"/>
              <a:ext cx="1544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Instruction</a:t>
              </a:r>
              <a:endParaRPr sz="100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2" name="rect-12"/>
            <p:cNvSpPr>
              <a:spLocks noGrp="1"/>
            </p:cNvSpPr>
            <p:nvPr/>
          </p:nvSpPr>
          <p:spPr>
            <a:xfrm>
              <a:off x="1097" y="2297"/>
              <a:ext cx="3104" cy="510"/>
            </a:xfrm>
            <a:prstGeom prst="roundRect">
              <a:avLst>
                <a:gd name="adj" fmla="val 17647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  <a:prstDash val="solid"/>
            </a:ln>
          </p:spPr>
        </p:sp>
        <p:pic>
          <p:nvPicPr>
            <p:cNvPr id="267" name="图片 26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7" y="2417"/>
              <a:ext cx="270" cy="270"/>
            </a:xfrm>
            <a:prstGeom prst="rect">
              <a:avLst/>
            </a:prstGeom>
          </p:spPr>
        </p:pic>
        <p:sp>
          <p:nvSpPr>
            <p:cNvPr id="14" name="text-14"/>
            <p:cNvSpPr>
              <a:spLocks noGrp="1"/>
            </p:cNvSpPr>
            <p:nvPr/>
          </p:nvSpPr>
          <p:spPr>
            <a:xfrm>
              <a:off x="1637" y="2413"/>
              <a:ext cx="1671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Tool schemas</a:t>
              </a:r>
              <a:endParaRPr sz="100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5" name="rect-15"/>
            <p:cNvSpPr>
              <a:spLocks noGrp="1"/>
            </p:cNvSpPr>
            <p:nvPr/>
          </p:nvSpPr>
          <p:spPr>
            <a:xfrm>
              <a:off x="1097" y="3032"/>
              <a:ext cx="3104" cy="510"/>
            </a:xfrm>
            <a:prstGeom prst="roundRect">
              <a:avLst>
                <a:gd name="adj" fmla="val 17647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  <a:prstDash val="solid"/>
            </a:ln>
          </p:spPr>
        </p:sp>
        <p:pic>
          <p:nvPicPr>
            <p:cNvPr id="270" name="图片 26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47" y="3152"/>
              <a:ext cx="270" cy="270"/>
            </a:xfrm>
            <a:prstGeom prst="rect">
              <a:avLst/>
            </a:prstGeom>
          </p:spPr>
        </p:pic>
        <p:sp>
          <p:nvSpPr>
            <p:cNvPr id="17" name="text-17"/>
            <p:cNvSpPr>
              <a:spLocks noGrp="1"/>
            </p:cNvSpPr>
            <p:nvPr/>
          </p:nvSpPr>
          <p:spPr>
            <a:xfrm>
              <a:off x="1637" y="3148"/>
              <a:ext cx="2178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Initial metadata</a:t>
              </a:r>
              <a:endParaRPr sz="100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22" name="rect-21"/>
            <p:cNvSpPr>
              <a:spLocks noGrp="1"/>
            </p:cNvSpPr>
            <p:nvPr/>
          </p:nvSpPr>
          <p:spPr>
            <a:xfrm>
              <a:off x="6196" y="1036"/>
              <a:ext cx="6385" cy="2880"/>
            </a:xfrm>
            <a:prstGeom prst="roundRect">
              <a:avLst>
                <a:gd name="adj" fmla="val 5208"/>
              </a:avLst>
            </a:prstGeom>
            <a:solidFill>
              <a:srgbClr val="FFFFFF"/>
            </a:solidFill>
            <a:ln w="14288">
              <a:solidFill>
                <a:srgbClr val="DBEAFE"/>
              </a:solidFill>
              <a:prstDash val="solid"/>
            </a:ln>
          </p:spPr>
        </p:sp>
        <p:pic>
          <p:nvPicPr>
            <p:cNvPr id="277" name="图片 2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04" y="1152"/>
              <a:ext cx="300" cy="300"/>
            </a:xfrm>
            <a:prstGeom prst="rect">
              <a:avLst/>
            </a:prstGeom>
          </p:spPr>
        </p:pic>
        <p:sp>
          <p:nvSpPr>
            <p:cNvPr id="24" name="text-23"/>
            <p:cNvSpPr>
              <a:spLocks noGrp="1"/>
            </p:cNvSpPr>
            <p:nvPr/>
          </p:nvSpPr>
          <p:spPr>
            <a:xfrm>
              <a:off x="6824" y="1148"/>
              <a:ext cx="3953" cy="342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112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Simulated candidate graphs</a:t>
              </a:r>
              <a:endParaRPr sz="1200" b="1">
                <a:solidFill>
                  <a:srgbClr val="1E40A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25" name="rect-24"/>
            <p:cNvSpPr>
              <a:spLocks noGrp="1"/>
            </p:cNvSpPr>
            <p:nvPr/>
          </p:nvSpPr>
          <p:spPr>
            <a:xfrm>
              <a:off x="6389" y="1516"/>
              <a:ext cx="1866" cy="1800"/>
            </a:xfrm>
            <a:prstGeom prst="roundRect">
              <a:avLst>
                <a:gd name="adj" fmla="val 6667"/>
              </a:avLst>
            </a:prstGeom>
            <a:solidFill>
              <a:srgbClr val="F8FAFC"/>
            </a:solidFill>
            <a:ln w="9525">
              <a:solidFill>
                <a:srgbClr val="CBD5E1"/>
              </a:solidFill>
              <a:prstDash val="solid"/>
            </a:ln>
          </p:spPr>
        </p:sp>
        <p:sp>
          <p:nvSpPr>
            <p:cNvPr id="26" name="text-25"/>
            <p:cNvSpPr>
              <a:spLocks noGrp="1"/>
            </p:cNvSpPr>
            <p:nvPr/>
          </p:nvSpPr>
          <p:spPr>
            <a:xfrm>
              <a:off x="6492" y="1587"/>
              <a:ext cx="1162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C</a:t>
              </a:r>
              <a:r>
                <a:rPr lang="en-US"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andidate</a:t>
              </a:r>
              <a:r>
                <a:rPr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1</a:t>
              </a:r>
              <a:endParaRPr sz="100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27" name="rect-26"/>
            <p:cNvSpPr>
              <a:spLocks noGrp="1"/>
            </p:cNvSpPr>
            <p:nvPr/>
          </p:nvSpPr>
          <p:spPr>
            <a:xfrm>
              <a:off x="6944" y="1936"/>
              <a:ext cx="780" cy="3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 w="9525">
              <a:solidFill>
                <a:srgbClr val="93C5FD"/>
              </a:solidFill>
              <a:prstDash val="solid"/>
            </a:ln>
          </p:spPr>
        </p:sp>
        <p:sp>
          <p:nvSpPr>
            <p:cNvPr id="28" name="text-27"/>
            <p:cNvSpPr>
              <a:spLocks noGrp="1"/>
            </p:cNvSpPr>
            <p:nvPr/>
          </p:nvSpPr>
          <p:spPr>
            <a:xfrm>
              <a:off x="7064" y="1978"/>
              <a:ext cx="540" cy="25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ctr">
                <a:defRPr sz="82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2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M0</a:t>
              </a:r>
              <a:endParaRPr sz="825" b="1">
                <a:solidFill>
                  <a:srgbClr val="1E40A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29" name="rect-28"/>
            <p:cNvSpPr>
              <a:spLocks noGrp="1"/>
            </p:cNvSpPr>
            <p:nvPr/>
          </p:nvSpPr>
          <p:spPr>
            <a:xfrm>
              <a:off x="6944" y="2386"/>
              <a:ext cx="780" cy="3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 w="9525">
              <a:solidFill>
                <a:srgbClr val="93C5FD"/>
              </a:solidFill>
              <a:prstDash val="solid"/>
            </a:ln>
          </p:spPr>
        </p:sp>
        <p:sp>
          <p:nvSpPr>
            <p:cNvPr id="30" name="text-29"/>
            <p:cNvSpPr>
              <a:spLocks noGrp="1"/>
            </p:cNvSpPr>
            <p:nvPr/>
          </p:nvSpPr>
          <p:spPr>
            <a:xfrm>
              <a:off x="7064" y="2428"/>
              <a:ext cx="540" cy="25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ctr">
                <a:defRPr sz="82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2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M1a</a:t>
              </a:r>
              <a:endParaRPr sz="825" b="1">
                <a:solidFill>
                  <a:srgbClr val="1E40A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1" name="rect-30"/>
            <p:cNvSpPr>
              <a:spLocks noGrp="1"/>
            </p:cNvSpPr>
            <p:nvPr/>
          </p:nvSpPr>
          <p:spPr>
            <a:xfrm>
              <a:off x="6944" y="2836"/>
              <a:ext cx="780" cy="3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 w="9525">
              <a:solidFill>
                <a:srgbClr val="93C5FD"/>
              </a:solidFill>
              <a:prstDash val="solid"/>
            </a:ln>
          </p:spPr>
        </p:sp>
        <p:sp>
          <p:nvSpPr>
            <p:cNvPr id="32" name="text-31"/>
            <p:cNvSpPr>
              <a:spLocks noGrp="1"/>
            </p:cNvSpPr>
            <p:nvPr/>
          </p:nvSpPr>
          <p:spPr>
            <a:xfrm>
              <a:off x="7064" y="2878"/>
              <a:ext cx="540" cy="25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ctr">
                <a:defRPr sz="82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2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M2</a:t>
              </a:r>
              <a:endParaRPr sz="825" b="1">
                <a:solidFill>
                  <a:srgbClr val="1E40A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3" name="poly-451-152"/>
            <p:cNvSpPr>
              <a:spLocks noGrp="1"/>
            </p:cNvSpPr>
            <p:nvPr/>
          </p:nvSpPr>
          <p:spPr>
            <a:xfrm>
              <a:off x="7334" y="2236"/>
              <a:ext cx="15" cy="150"/>
            </a:xfrm>
            <a:custGeom>
              <a:avLst/>
              <a:gdLst/>
              <a:ahLst/>
              <a:cxnLst/>
              <a:pathLst>
                <a:path w="9525" h="95250">
                  <a:moveTo>
                    <a:pt x="0" y="0"/>
                  </a:moveTo>
                  <a:lnTo>
                    <a:pt x="0" y="95250"/>
                  </a:lnTo>
                </a:path>
              </a:pathLst>
            </a:custGeom>
            <a:noFill/>
            <a:ln w="17145">
              <a:solidFill>
                <a:srgbClr val="60A5FA"/>
              </a:solidFill>
              <a:prstDash val="solid"/>
            </a:ln>
          </p:spPr>
        </p:sp>
        <p:sp>
          <p:nvSpPr>
            <p:cNvPr id="34" name="poly-451-182"/>
            <p:cNvSpPr>
              <a:spLocks noGrp="1"/>
            </p:cNvSpPr>
            <p:nvPr/>
          </p:nvSpPr>
          <p:spPr>
            <a:xfrm>
              <a:off x="7334" y="2686"/>
              <a:ext cx="15" cy="150"/>
            </a:xfrm>
            <a:custGeom>
              <a:avLst/>
              <a:gdLst/>
              <a:ahLst/>
              <a:cxnLst/>
              <a:pathLst>
                <a:path w="9525" h="95250">
                  <a:moveTo>
                    <a:pt x="0" y="0"/>
                  </a:moveTo>
                  <a:lnTo>
                    <a:pt x="0" y="95250"/>
                  </a:lnTo>
                </a:path>
              </a:pathLst>
            </a:custGeom>
            <a:noFill/>
            <a:ln w="17145">
              <a:solidFill>
                <a:srgbClr val="60A5FA"/>
              </a:solidFill>
              <a:prstDash val="solid"/>
            </a:ln>
          </p:spPr>
        </p:sp>
        <p:sp>
          <p:nvSpPr>
            <p:cNvPr id="35" name="rect-33"/>
            <p:cNvSpPr>
              <a:spLocks noGrp="1"/>
            </p:cNvSpPr>
            <p:nvPr/>
          </p:nvSpPr>
          <p:spPr>
            <a:xfrm>
              <a:off x="8429" y="1516"/>
              <a:ext cx="1866" cy="1800"/>
            </a:xfrm>
            <a:prstGeom prst="roundRect">
              <a:avLst>
                <a:gd name="adj" fmla="val 6667"/>
              </a:avLst>
            </a:prstGeom>
            <a:solidFill>
              <a:srgbClr val="F8FAFC"/>
            </a:solidFill>
            <a:ln w="9525">
              <a:solidFill>
                <a:srgbClr val="CBD5E1"/>
              </a:solidFill>
              <a:prstDash val="solid"/>
            </a:ln>
          </p:spPr>
        </p:sp>
        <p:sp>
          <p:nvSpPr>
            <p:cNvPr id="36" name="text-34"/>
            <p:cNvSpPr>
              <a:spLocks noGrp="1"/>
            </p:cNvSpPr>
            <p:nvPr/>
          </p:nvSpPr>
          <p:spPr>
            <a:xfrm>
              <a:off x="8595" y="1587"/>
              <a:ext cx="1266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C</a:t>
              </a:r>
              <a:r>
                <a:rPr lang="en-US"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andidate</a:t>
              </a:r>
              <a:r>
                <a:rPr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2</a:t>
              </a:r>
              <a:endParaRPr sz="100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7" name="rect-35"/>
            <p:cNvSpPr>
              <a:spLocks noGrp="1"/>
            </p:cNvSpPr>
            <p:nvPr/>
          </p:nvSpPr>
          <p:spPr>
            <a:xfrm>
              <a:off x="8984" y="1936"/>
              <a:ext cx="780" cy="300"/>
            </a:xfrm>
            <a:prstGeom prst="roundRect">
              <a:avLst>
                <a:gd name="adj" fmla="val 25000"/>
              </a:avLst>
            </a:prstGeom>
            <a:solidFill>
              <a:srgbClr val="ECFDF5"/>
            </a:solidFill>
            <a:ln w="9525">
              <a:solidFill>
                <a:srgbClr val="6EE7B7"/>
              </a:solidFill>
              <a:prstDash val="solid"/>
            </a:ln>
          </p:spPr>
        </p:sp>
        <p:sp>
          <p:nvSpPr>
            <p:cNvPr id="38" name="text-36"/>
            <p:cNvSpPr>
              <a:spLocks noGrp="1"/>
            </p:cNvSpPr>
            <p:nvPr/>
          </p:nvSpPr>
          <p:spPr>
            <a:xfrm>
              <a:off x="9104" y="1978"/>
              <a:ext cx="540" cy="25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ctr">
                <a:defRPr sz="825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25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M0</a:t>
              </a:r>
              <a:endParaRPr sz="825" b="1">
                <a:solidFill>
                  <a:srgbClr val="065F46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9" name="rect-37"/>
            <p:cNvSpPr>
              <a:spLocks noGrp="1"/>
            </p:cNvSpPr>
            <p:nvPr/>
          </p:nvSpPr>
          <p:spPr>
            <a:xfrm>
              <a:off x="8984" y="2386"/>
              <a:ext cx="780" cy="300"/>
            </a:xfrm>
            <a:prstGeom prst="roundRect">
              <a:avLst>
                <a:gd name="adj" fmla="val 25000"/>
              </a:avLst>
            </a:prstGeom>
            <a:solidFill>
              <a:srgbClr val="ECFDF5"/>
            </a:solidFill>
            <a:ln w="9525">
              <a:solidFill>
                <a:srgbClr val="6EE7B7"/>
              </a:solidFill>
              <a:prstDash val="solid"/>
            </a:ln>
          </p:spPr>
        </p:sp>
        <p:sp>
          <p:nvSpPr>
            <p:cNvPr id="40" name="text-38"/>
            <p:cNvSpPr>
              <a:spLocks noGrp="1"/>
            </p:cNvSpPr>
            <p:nvPr/>
          </p:nvSpPr>
          <p:spPr>
            <a:xfrm>
              <a:off x="9104" y="2428"/>
              <a:ext cx="540" cy="25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ctr">
                <a:defRPr sz="825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25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M1b</a:t>
              </a:r>
              <a:endParaRPr sz="825" b="1">
                <a:solidFill>
                  <a:srgbClr val="065F46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41" name="rect-39"/>
            <p:cNvSpPr>
              <a:spLocks noGrp="1"/>
            </p:cNvSpPr>
            <p:nvPr/>
          </p:nvSpPr>
          <p:spPr>
            <a:xfrm>
              <a:off x="8984" y="2836"/>
              <a:ext cx="780" cy="300"/>
            </a:xfrm>
            <a:prstGeom prst="roundRect">
              <a:avLst>
                <a:gd name="adj" fmla="val 25000"/>
              </a:avLst>
            </a:prstGeom>
            <a:solidFill>
              <a:srgbClr val="ECFDF5"/>
            </a:solidFill>
            <a:ln w="9525">
              <a:solidFill>
                <a:srgbClr val="6EE7B7"/>
              </a:solidFill>
              <a:prstDash val="solid"/>
            </a:ln>
          </p:spPr>
        </p:sp>
        <p:sp>
          <p:nvSpPr>
            <p:cNvPr id="42" name="text-40"/>
            <p:cNvSpPr>
              <a:spLocks noGrp="1"/>
            </p:cNvSpPr>
            <p:nvPr/>
          </p:nvSpPr>
          <p:spPr>
            <a:xfrm>
              <a:off x="9104" y="2878"/>
              <a:ext cx="540" cy="25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ctr">
                <a:defRPr sz="825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25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M2</a:t>
              </a:r>
              <a:endParaRPr sz="825" b="1">
                <a:solidFill>
                  <a:srgbClr val="065F46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43" name="poly-611-152"/>
            <p:cNvSpPr>
              <a:spLocks noGrp="1"/>
            </p:cNvSpPr>
            <p:nvPr/>
          </p:nvSpPr>
          <p:spPr>
            <a:xfrm>
              <a:off x="9374" y="2236"/>
              <a:ext cx="15" cy="150"/>
            </a:xfrm>
            <a:custGeom>
              <a:avLst/>
              <a:gdLst/>
              <a:ahLst/>
              <a:cxnLst/>
              <a:pathLst>
                <a:path w="9525" h="95250">
                  <a:moveTo>
                    <a:pt x="0" y="0"/>
                  </a:moveTo>
                  <a:lnTo>
                    <a:pt x="0" y="95250"/>
                  </a:lnTo>
                </a:path>
              </a:pathLst>
            </a:custGeom>
            <a:noFill/>
            <a:ln w="17145">
              <a:solidFill>
                <a:srgbClr val="34D399"/>
              </a:solidFill>
              <a:prstDash val="solid"/>
            </a:ln>
          </p:spPr>
        </p:sp>
        <p:sp>
          <p:nvSpPr>
            <p:cNvPr id="44" name="poly-611-182"/>
            <p:cNvSpPr>
              <a:spLocks noGrp="1"/>
            </p:cNvSpPr>
            <p:nvPr/>
          </p:nvSpPr>
          <p:spPr>
            <a:xfrm>
              <a:off x="9374" y="2686"/>
              <a:ext cx="15" cy="150"/>
            </a:xfrm>
            <a:custGeom>
              <a:avLst/>
              <a:gdLst/>
              <a:ahLst/>
              <a:cxnLst/>
              <a:pathLst>
                <a:path w="9525" h="95250">
                  <a:moveTo>
                    <a:pt x="0" y="0"/>
                  </a:moveTo>
                  <a:lnTo>
                    <a:pt x="0" y="95250"/>
                  </a:lnTo>
                </a:path>
              </a:pathLst>
            </a:custGeom>
            <a:noFill/>
            <a:ln w="17145">
              <a:solidFill>
                <a:srgbClr val="34D399"/>
              </a:solidFill>
              <a:prstDash val="solid"/>
            </a:ln>
          </p:spPr>
        </p:sp>
        <p:sp>
          <p:nvSpPr>
            <p:cNvPr id="45" name="rect-42"/>
            <p:cNvSpPr>
              <a:spLocks noGrp="1"/>
            </p:cNvSpPr>
            <p:nvPr/>
          </p:nvSpPr>
          <p:spPr>
            <a:xfrm>
              <a:off x="10486" y="1516"/>
              <a:ext cx="1866" cy="1800"/>
            </a:xfrm>
            <a:prstGeom prst="roundRect">
              <a:avLst>
                <a:gd name="adj" fmla="val 6667"/>
              </a:avLst>
            </a:prstGeom>
            <a:solidFill>
              <a:srgbClr val="F8FAFC"/>
            </a:solidFill>
            <a:ln w="9525">
              <a:solidFill>
                <a:srgbClr val="CBD5E1"/>
              </a:solidFill>
              <a:prstDash val="solid"/>
            </a:ln>
          </p:spPr>
        </p:sp>
        <p:sp>
          <p:nvSpPr>
            <p:cNvPr id="46" name="text-43"/>
            <p:cNvSpPr>
              <a:spLocks noGrp="1"/>
            </p:cNvSpPr>
            <p:nvPr/>
          </p:nvSpPr>
          <p:spPr>
            <a:xfrm>
              <a:off x="10592" y="1587"/>
              <a:ext cx="1162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lvl="0" algn="l">
                <a:buClrTx/>
                <a:buSzTx/>
                <a:buFontTx/>
                <a:defRPr sz="975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>
                  <a:sym typeface="+mn-ea"/>
                </a:rPr>
                <a:t>C</a:t>
              </a:r>
              <a:r>
                <a:rPr lang="en-US" sz="1000">
                  <a:sym typeface="+mn-ea"/>
                </a:rPr>
                <a:t>a</a:t>
              </a:r>
              <a:r>
                <a:rPr lang="en-US" sz="1000">
                  <a:sym typeface="+mn-ea"/>
                </a:rPr>
                <a:t>ndidate</a:t>
              </a:r>
              <a:r>
                <a:rPr sz="1000">
                  <a:sym typeface="+mn-ea"/>
                </a:rPr>
                <a:t>3</a:t>
              </a:r>
              <a:endParaRPr sz="1000">
                <a:sym typeface="+mn-ea"/>
              </a:endParaRPr>
            </a:p>
          </p:txBody>
        </p:sp>
        <p:sp>
          <p:nvSpPr>
            <p:cNvPr id="47" name="rect-44"/>
            <p:cNvSpPr>
              <a:spLocks noGrp="1"/>
            </p:cNvSpPr>
            <p:nvPr/>
          </p:nvSpPr>
          <p:spPr>
            <a:xfrm>
              <a:off x="11041" y="1936"/>
              <a:ext cx="780" cy="300"/>
            </a:xfrm>
            <a:prstGeom prst="roundRect">
              <a:avLst>
                <a:gd name="adj" fmla="val 25000"/>
              </a:avLst>
            </a:prstGeom>
            <a:solidFill>
              <a:srgbClr val="FEF9C3"/>
            </a:solidFill>
            <a:ln w="9525">
              <a:solidFill>
                <a:srgbClr val="FACC15"/>
              </a:solidFill>
              <a:prstDash val="solid"/>
            </a:ln>
          </p:spPr>
        </p:sp>
        <p:sp>
          <p:nvSpPr>
            <p:cNvPr id="48" name="text-45"/>
            <p:cNvSpPr>
              <a:spLocks noGrp="1"/>
            </p:cNvSpPr>
            <p:nvPr/>
          </p:nvSpPr>
          <p:spPr>
            <a:xfrm>
              <a:off x="11161" y="1978"/>
              <a:ext cx="540" cy="25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ctr">
                <a:defRPr sz="825" b="1">
                  <a:solidFill>
                    <a:srgbClr val="854D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25" b="1">
                  <a:solidFill>
                    <a:srgbClr val="854D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M0</a:t>
              </a:r>
              <a:endParaRPr sz="825" b="1">
                <a:solidFill>
                  <a:srgbClr val="854D0E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49" name="rect-46"/>
            <p:cNvSpPr>
              <a:spLocks noGrp="1"/>
            </p:cNvSpPr>
            <p:nvPr/>
          </p:nvSpPr>
          <p:spPr>
            <a:xfrm>
              <a:off x="11041" y="2386"/>
              <a:ext cx="780" cy="300"/>
            </a:xfrm>
            <a:prstGeom prst="roundRect">
              <a:avLst>
                <a:gd name="adj" fmla="val 25000"/>
              </a:avLst>
            </a:prstGeom>
            <a:solidFill>
              <a:srgbClr val="FEF9C3"/>
            </a:solidFill>
            <a:ln w="9525">
              <a:solidFill>
                <a:srgbClr val="FACC15"/>
              </a:solidFill>
              <a:prstDash val="solid"/>
            </a:ln>
          </p:spPr>
        </p:sp>
        <p:sp>
          <p:nvSpPr>
            <p:cNvPr id="50" name="text-47"/>
            <p:cNvSpPr>
              <a:spLocks noGrp="1"/>
            </p:cNvSpPr>
            <p:nvPr/>
          </p:nvSpPr>
          <p:spPr>
            <a:xfrm>
              <a:off x="11161" y="2428"/>
              <a:ext cx="540" cy="25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ctr">
                <a:defRPr sz="825" b="1">
                  <a:solidFill>
                    <a:srgbClr val="854D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25" b="1">
                  <a:solidFill>
                    <a:srgbClr val="854D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M1c</a:t>
              </a:r>
              <a:endParaRPr sz="825" b="1">
                <a:solidFill>
                  <a:srgbClr val="854D0E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51" name="rect-48"/>
            <p:cNvSpPr>
              <a:spLocks noGrp="1"/>
            </p:cNvSpPr>
            <p:nvPr/>
          </p:nvSpPr>
          <p:spPr>
            <a:xfrm>
              <a:off x="11041" y="2836"/>
              <a:ext cx="780" cy="300"/>
            </a:xfrm>
            <a:prstGeom prst="roundRect">
              <a:avLst>
                <a:gd name="adj" fmla="val 25000"/>
              </a:avLst>
            </a:prstGeom>
            <a:solidFill>
              <a:srgbClr val="FEF9C3"/>
            </a:solidFill>
            <a:ln w="9525">
              <a:solidFill>
                <a:srgbClr val="FACC15"/>
              </a:solidFill>
              <a:prstDash val="solid"/>
            </a:ln>
          </p:spPr>
        </p:sp>
        <p:sp>
          <p:nvSpPr>
            <p:cNvPr id="52" name="text-49"/>
            <p:cNvSpPr>
              <a:spLocks noGrp="1"/>
            </p:cNvSpPr>
            <p:nvPr/>
          </p:nvSpPr>
          <p:spPr>
            <a:xfrm>
              <a:off x="11161" y="2878"/>
              <a:ext cx="540" cy="25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ctr">
                <a:defRPr sz="825" b="1">
                  <a:solidFill>
                    <a:srgbClr val="854D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25" b="1">
                  <a:solidFill>
                    <a:srgbClr val="854D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M2</a:t>
              </a:r>
              <a:endParaRPr sz="825" b="1">
                <a:solidFill>
                  <a:srgbClr val="854D0E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53" name="poly-771-152"/>
            <p:cNvSpPr>
              <a:spLocks noGrp="1"/>
            </p:cNvSpPr>
            <p:nvPr/>
          </p:nvSpPr>
          <p:spPr>
            <a:xfrm>
              <a:off x="11431" y="2236"/>
              <a:ext cx="15" cy="150"/>
            </a:xfrm>
            <a:custGeom>
              <a:avLst/>
              <a:gdLst/>
              <a:ahLst/>
              <a:cxnLst/>
              <a:pathLst>
                <a:path w="9525" h="95250">
                  <a:moveTo>
                    <a:pt x="0" y="0"/>
                  </a:moveTo>
                  <a:lnTo>
                    <a:pt x="0" y="95250"/>
                  </a:lnTo>
                </a:path>
              </a:pathLst>
            </a:custGeom>
            <a:noFill/>
            <a:ln w="17145">
              <a:solidFill>
                <a:srgbClr val="EAB308"/>
              </a:solidFill>
              <a:prstDash val="solid"/>
            </a:ln>
          </p:spPr>
        </p:sp>
        <p:sp>
          <p:nvSpPr>
            <p:cNvPr id="54" name="poly-771-182"/>
            <p:cNvSpPr>
              <a:spLocks noGrp="1"/>
            </p:cNvSpPr>
            <p:nvPr/>
          </p:nvSpPr>
          <p:spPr>
            <a:xfrm>
              <a:off x="11431" y="2686"/>
              <a:ext cx="15" cy="150"/>
            </a:xfrm>
            <a:custGeom>
              <a:avLst/>
              <a:gdLst/>
              <a:ahLst/>
              <a:cxnLst/>
              <a:pathLst>
                <a:path w="9525" h="95250">
                  <a:moveTo>
                    <a:pt x="0" y="0"/>
                  </a:moveTo>
                  <a:lnTo>
                    <a:pt x="0" y="95250"/>
                  </a:lnTo>
                </a:path>
              </a:pathLst>
            </a:custGeom>
            <a:noFill/>
            <a:ln w="17145">
              <a:solidFill>
                <a:srgbClr val="EAB308"/>
              </a:solidFill>
              <a:prstDash val="solid"/>
            </a:ln>
          </p:spPr>
        </p:sp>
        <p:sp>
          <p:nvSpPr>
            <p:cNvPr id="55" name="rect-51"/>
            <p:cNvSpPr>
              <a:spLocks noGrp="1"/>
            </p:cNvSpPr>
            <p:nvPr/>
          </p:nvSpPr>
          <p:spPr>
            <a:xfrm>
              <a:off x="6389" y="3436"/>
              <a:ext cx="5963" cy="300"/>
            </a:xfrm>
            <a:prstGeom prst="roundRect">
              <a:avLst>
                <a:gd name="adj" fmla="val 25000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  <a:prstDash val="solid"/>
            </a:ln>
          </p:spPr>
        </p:sp>
        <p:sp>
          <p:nvSpPr>
            <p:cNvPr id="56" name="text-52"/>
            <p:cNvSpPr>
              <a:spLocks noGrp="1"/>
            </p:cNvSpPr>
            <p:nvPr/>
          </p:nvSpPr>
          <p:spPr>
            <a:xfrm>
              <a:off x="6569" y="3462"/>
              <a:ext cx="5064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Contract check: schema </a:t>
              </a:r>
              <a:r>
                <a:rPr lang="en-US" sz="9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&amp;</a:t>
              </a:r>
              <a:r>
                <a:rPr sz="9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 acyclic </a:t>
              </a:r>
              <a:r>
                <a:rPr lang="en-US" sz="9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&amp;</a:t>
              </a:r>
              <a:r>
                <a:rPr sz="9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 binding</a:t>
              </a:r>
              <a:endParaRPr sz="900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59" name="rect-54"/>
            <p:cNvSpPr>
              <a:spLocks noGrp="1"/>
            </p:cNvSpPr>
            <p:nvPr/>
          </p:nvSpPr>
          <p:spPr>
            <a:xfrm>
              <a:off x="13776" y="1036"/>
              <a:ext cx="3260" cy="2880"/>
            </a:xfrm>
            <a:prstGeom prst="roundRect">
              <a:avLst>
                <a:gd name="adj" fmla="val 5208"/>
              </a:avLst>
            </a:prstGeom>
            <a:solidFill>
              <a:srgbClr val="FFFFFF"/>
            </a:solidFill>
            <a:ln w="14288">
              <a:solidFill>
                <a:srgbClr val="86EFAC"/>
              </a:solidFill>
              <a:prstDash val="solid"/>
            </a:ln>
          </p:spPr>
        </p:sp>
        <p:pic>
          <p:nvPicPr>
            <p:cNvPr id="314" name="图片 31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3971" y="1152"/>
              <a:ext cx="300" cy="300"/>
            </a:xfrm>
            <a:prstGeom prst="rect">
              <a:avLst/>
            </a:prstGeom>
          </p:spPr>
        </p:pic>
        <p:sp>
          <p:nvSpPr>
            <p:cNvPr id="61" name="text-56"/>
            <p:cNvSpPr>
              <a:spLocks noGrp="1"/>
            </p:cNvSpPr>
            <p:nvPr/>
          </p:nvSpPr>
          <p:spPr>
            <a:xfrm>
              <a:off x="14391" y="1148"/>
              <a:ext cx="2198" cy="342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1125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Semantic merge</a:t>
              </a:r>
              <a:endParaRPr sz="1200" b="1">
                <a:solidFill>
                  <a:srgbClr val="15803D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62" name="rect-57"/>
            <p:cNvSpPr>
              <a:spLocks noGrp="1"/>
            </p:cNvSpPr>
            <p:nvPr/>
          </p:nvSpPr>
          <p:spPr>
            <a:xfrm>
              <a:off x="13975" y="1516"/>
              <a:ext cx="2866" cy="390"/>
            </a:xfrm>
            <a:prstGeom prst="roundRect">
              <a:avLst>
                <a:gd name="adj" fmla="val 19231"/>
              </a:avLst>
            </a:prstGeom>
            <a:solidFill>
              <a:srgbClr val="F0FDF4"/>
            </a:solidFill>
            <a:ln w="9525">
              <a:solidFill>
                <a:srgbClr val="BBF7D0"/>
              </a:solidFill>
              <a:prstDash val="solid"/>
            </a:ln>
          </p:spPr>
        </p:sp>
        <p:sp>
          <p:nvSpPr>
            <p:cNvPr id="63" name="text-58"/>
            <p:cNvSpPr>
              <a:spLocks noGrp="1"/>
            </p:cNvSpPr>
            <p:nvPr/>
          </p:nvSpPr>
          <p:spPr>
            <a:xfrm>
              <a:off x="14092" y="1587"/>
              <a:ext cx="540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M0</a:t>
              </a:r>
              <a:endParaRPr sz="900" b="1">
                <a:solidFill>
                  <a:srgbClr val="166534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64" name="text-59"/>
            <p:cNvSpPr>
              <a:spLocks noGrp="1"/>
            </p:cNvSpPr>
            <p:nvPr/>
          </p:nvSpPr>
          <p:spPr>
            <a:xfrm>
              <a:off x="15993" y="1587"/>
              <a:ext cx="735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r">
                <a:defRPr sz="9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3 / 3</a:t>
              </a:r>
              <a:endParaRPr sz="900" b="1">
                <a:solidFill>
                  <a:srgbClr val="15803D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65" name="rect-60"/>
            <p:cNvSpPr>
              <a:spLocks noGrp="1"/>
            </p:cNvSpPr>
            <p:nvPr/>
          </p:nvSpPr>
          <p:spPr>
            <a:xfrm>
              <a:off x="13971" y="1936"/>
              <a:ext cx="2871" cy="390"/>
            </a:xfrm>
            <a:prstGeom prst="roundRect">
              <a:avLst>
                <a:gd name="adj" fmla="val 19231"/>
              </a:avLst>
            </a:prstGeom>
            <a:solidFill>
              <a:srgbClr val="F0FDF4"/>
            </a:solidFill>
            <a:ln w="9525">
              <a:solidFill>
                <a:srgbClr val="BBF7D0"/>
              </a:solidFill>
              <a:prstDash val="solid"/>
            </a:ln>
          </p:spPr>
        </p:sp>
        <p:sp>
          <p:nvSpPr>
            <p:cNvPr id="66" name="text-61"/>
            <p:cNvSpPr>
              <a:spLocks noGrp="1"/>
            </p:cNvSpPr>
            <p:nvPr/>
          </p:nvSpPr>
          <p:spPr>
            <a:xfrm>
              <a:off x="14092" y="2007"/>
              <a:ext cx="540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M1a</a:t>
              </a:r>
              <a:endParaRPr sz="900" b="1">
                <a:solidFill>
                  <a:srgbClr val="166534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67" name="text-62"/>
            <p:cNvSpPr>
              <a:spLocks noGrp="1"/>
            </p:cNvSpPr>
            <p:nvPr/>
          </p:nvSpPr>
          <p:spPr>
            <a:xfrm>
              <a:off x="15993" y="2007"/>
              <a:ext cx="735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r">
                <a:defRPr sz="9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2 / 3</a:t>
              </a:r>
              <a:endParaRPr sz="900" b="1">
                <a:solidFill>
                  <a:srgbClr val="15803D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68" name="rect-63"/>
            <p:cNvSpPr>
              <a:spLocks noGrp="1"/>
            </p:cNvSpPr>
            <p:nvPr/>
          </p:nvSpPr>
          <p:spPr>
            <a:xfrm>
              <a:off x="13971" y="2356"/>
              <a:ext cx="2870" cy="390"/>
            </a:xfrm>
            <a:prstGeom prst="roundRect">
              <a:avLst>
                <a:gd name="adj" fmla="val 19231"/>
              </a:avLst>
            </a:prstGeom>
            <a:solidFill>
              <a:srgbClr val="F0FDF4"/>
            </a:solidFill>
            <a:ln w="9525">
              <a:solidFill>
                <a:srgbClr val="BBF7D0"/>
              </a:solidFill>
              <a:prstDash val="solid"/>
            </a:ln>
          </p:spPr>
        </p:sp>
        <p:sp>
          <p:nvSpPr>
            <p:cNvPr id="69" name="text-64"/>
            <p:cNvSpPr>
              <a:spLocks noGrp="1"/>
            </p:cNvSpPr>
            <p:nvPr/>
          </p:nvSpPr>
          <p:spPr>
            <a:xfrm>
              <a:off x="14092" y="2416"/>
              <a:ext cx="540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M1b</a:t>
              </a:r>
              <a:endParaRPr sz="900" b="1">
                <a:solidFill>
                  <a:srgbClr val="166534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70" name="text-65"/>
            <p:cNvSpPr>
              <a:spLocks noGrp="1"/>
            </p:cNvSpPr>
            <p:nvPr/>
          </p:nvSpPr>
          <p:spPr>
            <a:xfrm>
              <a:off x="15993" y="2427"/>
              <a:ext cx="735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r">
                <a:defRPr sz="9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2 / 3</a:t>
              </a:r>
              <a:endParaRPr sz="900" b="1">
                <a:solidFill>
                  <a:srgbClr val="15803D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71" name="rect-66"/>
            <p:cNvSpPr>
              <a:spLocks noGrp="1"/>
            </p:cNvSpPr>
            <p:nvPr/>
          </p:nvSpPr>
          <p:spPr>
            <a:xfrm>
              <a:off x="13993" y="2776"/>
              <a:ext cx="2850" cy="390"/>
            </a:xfrm>
            <a:prstGeom prst="roundRect">
              <a:avLst>
                <a:gd name="adj" fmla="val 19231"/>
              </a:avLst>
            </a:prstGeom>
            <a:solidFill>
              <a:srgbClr val="FEF2F2"/>
            </a:solidFill>
            <a:ln w="9525">
              <a:solidFill>
                <a:srgbClr val="FECACA"/>
              </a:solidFill>
              <a:prstDash val="solid"/>
            </a:ln>
          </p:spPr>
        </p:sp>
        <p:sp>
          <p:nvSpPr>
            <p:cNvPr id="72" name="text-67"/>
            <p:cNvSpPr>
              <a:spLocks noGrp="1"/>
            </p:cNvSpPr>
            <p:nvPr/>
          </p:nvSpPr>
          <p:spPr>
            <a:xfrm>
              <a:off x="14092" y="2843"/>
              <a:ext cx="540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00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M1c</a:t>
              </a:r>
              <a:endParaRPr sz="900" b="1">
                <a:solidFill>
                  <a:srgbClr val="991B1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73" name="text-68"/>
            <p:cNvSpPr>
              <a:spLocks noGrp="1"/>
            </p:cNvSpPr>
            <p:nvPr/>
          </p:nvSpPr>
          <p:spPr>
            <a:xfrm>
              <a:off x="15993" y="2847"/>
              <a:ext cx="735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r">
                <a:defRPr sz="90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1 / 3</a:t>
              </a:r>
              <a:endParaRPr sz="900" b="1">
                <a:solidFill>
                  <a:srgbClr val="B91C1C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74" name="rect-69"/>
            <p:cNvSpPr>
              <a:spLocks noGrp="1"/>
            </p:cNvSpPr>
            <p:nvPr/>
          </p:nvSpPr>
          <p:spPr>
            <a:xfrm>
              <a:off x="13994" y="3196"/>
              <a:ext cx="2850" cy="390"/>
            </a:xfrm>
            <a:prstGeom prst="roundRect">
              <a:avLst>
                <a:gd name="adj" fmla="val 19231"/>
              </a:avLst>
            </a:prstGeom>
            <a:solidFill>
              <a:srgbClr val="F0FDF4"/>
            </a:solidFill>
            <a:ln w="9525">
              <a:solidFill>
                <a:srgbClr val="BBF7D0"/>
              </a:solidFill>
              <a:prstDash val="solid"/>
            </a:ln>
          </p:spPr>
        </p:sp>
        <p:sp>
          <p:nvSpPr>
            <p:cNvPr id="75" name="text-70"/>
            <p:cNvSpPr>
              <a:spLocks noGrp="1"/>
            </p:cNvSpPr>
            <p:nvPr/>
          </p:nvSpPr>
          <p:spPr>
            <a:xfrm>
              <a:off x="14092" y="3267"/>
              <a:ext cx="540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M2</a:t>
              </a:r>
              <a:endParaRPr sz="900" b="1">
                <a:solidFill>
                  <a:srgbClr val="166534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76" name="text-71"/>
            <p:cNvSpPr>
              <a:spLocks noGrp="1"/>
            </p:cNvSpPr>
            <p:nvPr/>
          </p:nvSpPr>
          <p:spPr>
            <a:xfrm>
              <a:off x="15993" y="3267"/>
              <a:ext cx="735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r">
                <a:defRPr sz="9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3 / 3</a:t>
              </a:r>
              <a:endParaRPr sz="900" b="1">
                <a:solidFill>
                  <a:srgbClr val="15803D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77" name="text-72"/>
            <p:cNvSpPr>
              <a:spLocks noGrp="1"/>
            </p:cNvSpPr>
            <p:nvPr/>
          </p:nvSpPr>
          <p:spPr>
            <a:xfrm>
              <a:off x="14092" y="3600"/>
              <a:ext cx="2750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Majority + transitive reduction</a:t>
              </a:r>
              <a:endParaRPr sz="900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80" name="rect-74"/>
            <p:cNvSpPr>
              <a:spLocks noGrp="1"/>
            </p:cNvSpPr>
            <p:nvPr/>
          </p:nvSpPr>
          <p:spPr>
            <a:xfrm>
              <a:off x="18586" y="1036"/>
              <a:ext cx="4501" cy="2880"/>
            </a:xfrm>
            <a:prstGeom prst="roundRect">
              <a:avLst>
                <a:gd name="adj" fmla="val 5208"/>
              </a:avLst>
            </a:prstGeom>
            <a:solidFill>
              <a:srgbClr val="FFFFFF"/>
            </a:solidFill>
            <a:ln w="14288">
              <a:solidFill>
                <a:srgbClr val="86EFAC"/>
              </a:solidFill>
              <a:prstDash val="solid"/>
            </a:ln>
          </p:spPr>
        </p:sp>
        <p:pic>
          <p:nvPicPr>
            <p:cNvPr id="335" name="图片 334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8802" y="1160"/>
              <a:ext cx="300" cy="300"/>
            </a:xfrm>
            <a:prstGeom prst="rect">
              <a:avLst/>
            </a:prstGeom>
          </p:spPr>
        </p:pic>
        <p:sp>
          <p:nvSpPr>
            <p:cNvPr id="82" name="text-76"/>
            <p:cNvSpPr>
              <a:spLocks noGrp="1"/>
            </p:cNvSpPr>
            <p:nvPr/>
          </p:nvSpPr>
          <p:spPr>
            <a:xfrm>
              <a:off x="19222" y="1156"/>
              <a:ext cx="3661" cy="342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1125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Path-tolerant Milestone </a:t>
              </a:r>
              <a:r>
                <a:rPr lang="en-US" sz="12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Graph</a:t>
              </a:r>
              <a:endParaRPr lang="en-US" sz="1200" b="1">
                <a:solidFill>
                  <a:srgbClr val="15803D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83" name="rect-77"/>
            <p:cNvSpPr>
              <a:spLocks noGrp="1"/>
            </p:cNvSpPr>
            <p:nvPr/>
          </p:nvSpPr>
          <p:spPr>
            <a:xfrm>
              <a:off x="18824" y="1559"/>
              <a:ext cx="4050" cy="1800"/>
            </a:xfrm>
            <a:prstGeom prst="roundRect">
              <a:avLst>
                <a:gd name="adj" fmla="val 8750"/>
              </a:avLst>
            </a:prstGeom>
            <a:solidFill>
              <a:srgbClr val="EFF6FF">
                <a:alpha val="48000"/>
              </a:srgbClr>
            </a:solidFill>
            <a:ln w="0">
              <a:noFill/>
              <a:prstDash val="solid"/>
            </a:ln>
          </p:spPr>
        </p:sp>
        <p:grpSp>
          <p:nvGrpSpPr>
            <p:cNvPr id="18" name="组合 17"/>
            <p:cNvGrpSpPr/>
            <p:nvPr/>
          </p:nvGrpSpPr>
          <p:grpSpPr>
            <a:xfrm>
              <a:off x="18960" y="2265"/>
              <a:ext cx="812" cy="420"/>
              <a:chOff x="18182" y="2393"/>
              <a:chExt cx="888" cy="420"/>
            </a:xfrm>
          </p:grpSpPr>
          <p:sp>
            <p:nvSpPr>
              <p:cNvPr id="89" name="rect-83"/>
              <p:cNvSpPr>
                <a:spLocks noGrp="1"/>
              </p:cNvSpPr>
              <p:nvPr/>
            </p:nvSpPr>
            <p:spPr>
              <a:xfrm>
                <a:off x="18182" y="2393"/>
                <a:ext cx="889" cy="420"/>
              </a:xfrm>
              <a:prstGeom prst="roundRect">
                <a:avLst>
                  <a:gd name="adj" fmla="val 21429"/>
                </a:avLst>
              </a:prstGeom>
              <a:solidFill>
                <a:srgbClr val="DCFCE7"/>
              </a:solidFill>
              <a:ln w="14288">
                <a:solidFill>
                  <a:srgbClr val="22C55E"/>
                </a:solidFill>
                <a:prstDash val="solid"/>
              </a:ln>
            </p:spPr>
          </p:sp>
          <p:sp>
            <p:nvSpPr>
              <p:cNvPr id="90" name="text-84"/>
              <p:cNvSpPr>
                <a:spLocks noGrp="1"/>
              </p:cNvSpPr>
              <p:nvPr/>
            </p:nvSpPr>
            <p:spPr>
              <a:xfrm>
                <a:off x="18356" y="2477"/>
                <a:ext cx="540" cy="274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900" b="1">
                    <a:solidFill>
                      <a:srgbClr val="166534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900" b="1">
                    <a:solidFill>
                      <a:srgbClr val="166534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M0</a:t>
                </a:r>
                <a:endParaRPr sz="9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2" name="组合 1"/>
            <p:cNvGrpSpPr/>
            <p:nvPr/>
          </p:nvGrpSpPr>
          <p:grpSpPr>
            <a:xfrm>
              <a:off x="20376" y="1978"/>
              <a:ext cx="884" cy="360"/>
              <a:chOff x="19698" y="2106"/>
              <a:chExt cx="1050" cy="360"/>
            </a:xfrm>
          </p:grpSpPr>
          <p:sp>
            <p:nvSpPr>
              <p:cNvPr id="91" name="rect-85"/>
              <p:cNvSpPr>
                <a:spLocks noGrp="1"/>
              </p:cNvSpPr>
              <p:nvPr/>
            </p:nvSpPr>
            <p:spPr>
              <a:xfrm>
                <a:off x="19698" y="2106"/>
                <a:ext cx="1050" cy="360"/>
              </a:xfrm>
              <a:prstGeom prst="roundRect">
                <a:avLst>
                  <a:gd name="adj" fmla="val 25000"/>
                </a:avLst>
              </a:prstGeom>
              <a:solidFill>
                <a:srgbClr val="EFF6FF"/>
              </a:solidFill>
              <a:ln w="9525">
                <a:solidFill>
                  <a:srgbClr val="60A5FA"/>
                </a:solidFill>
                <a:prstDash val="solid"/>
              </a:ln>
            </p:spPr>
          </p:sp>
          <p:sp>
            <p:nvSpPr>
              <p:cNvPr id="92" name="text-86"/>
              <p:cNvSpPr>
                <a:spLocks noGrp="1"/>
              </p:cNvSpPr>
              <p:nvPr/>
            </p:nvSpPr>
            <p:spPr>
              <a:xfrm>
                <a:off x="19953" y="2174"/>
                <a:ext cx="540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825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825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M1a</a:t>
                </a:r>
                <a:endParaRPr sz="82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20376" y="2638"/>
              <a:ext cx="884" cy="360"/>
              <a:chOff x="19698" y="2807"/>
              <a:chExt cx="1050" cy="360"/>
            </a:xfrm>
          </p:grpSpPr>
          <p:sp>
            <p:nvSpPr>
              <p:cNvPr id="93" name="rect-87"/>
              <p:cNvSpPr>
                <a:spLocks noGrp="1"/>
              </p:cNvSpPr>
              <p:nvPr/>
            </p:nvSpPr>
            <p:spPr>
              <a:xfrm>
                <a:off x="19698" y="2807"/>
                <a:ext cx="1050" cy="360"/>
              </a:xfrm>
              <a:prstGeom prst="roundRect">
                <a:avLst>
                  <a:gd name="adj" fmla="val 25000"/>
                </a:avLst>
              </a:prstGeom>
              <a:solidFill>
                <a:srgbClr val="ECFDF5"/>
              </a:solidFill>
              <a:ln w="9525">
                <a:solidFill>
                  <a:srgbClr val="34D399"/>
                </a:solidFill>
                <a:prstDash val="solid"/>
              </a:ln>
            </p:spPr>
          </p:sp>
          <p:sp>
            <p:nvSpPr>
              <p:cNvPr id="94" name="text-88"/>
              <p:cNvSpPr>
                <a:spLocks noGrp="1"/>
              </p:cNvSpPr>
              <p:nvPr/>
            </p:nvSpPr>
            <p:spPr>
              <a:xfrm>
                <a:off x="19953" y="2879"/>
                <a:ext cx="540" cy="228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825" b="1">
                    <a:solidFill>
                      <a:srgbClr val="065F46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825" b="1">
                    <a:solidFill>
                      <a:srgbClr val="065F46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M1b</a:t>
                </a:r>
                <a:endParaRPr sz="825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19" name="组合 18"/>
            <p:cNvGrpSpPr/>
            <p:nvPr/>
          </p:nvGrpSpPr>
          <p:grpSpPr>
            <a:xfrm>
              <a:off x="21879" y="2259"/>
              <a:ext cx="835" cy="420"/>
              <a:chOff x="21565" y="2400"/>
              <a:chExt cx="913" cy="420"/>
            </a:xfrm>
          </p:grpSpPr>
          <p:sp>
            <p:nvSpPr>
              <p:cNvPr id="95" name="rect-89"/>
              <p:cNvSpPr>
                <a:spLocks noGrp="1"/>
              </p:cNvSpPr>
              <p:nvPr/>
            </p:nvSpPr>
            <p:spPr>
              <a:xfrm>
                <a:off x="21565" y="2400"/>
                <a:ext cx="913" cy="420"/>
              </a:xfrm>
              <a:prstGeom prst="roundRect">
                <a:avLst>
                  <a:gd name="adj" fmla="val 21429"/>
                </a:avLst>
              </a:prstGeom>
              <a:solidFill>
                <a:srgbClr val="FEF9C3"/>
              </a:solidFill>
              <a:ln w="9525">
                <a:solidFill>
                  <a:srgbClr val="EAB308"/>
                </a:solidFill>
                <a:prstDash val="solid"/>
              </a:ln>
            </p:spPr>
          </p:sp>
          <p:sp>
            <p:nvSpPr>
              <p:cNvPr id="96" name="text-90"/>
              <p:cNvSpPr>
                <a:spLocks noGrp="1"/>
              </p:cNvSpPr>
              <p:nvPr/>
            </p:nvSpPr>
            <p:spPr>
              <a:xfrm>
                <a:off x="21750" y="2486"/>
                <a:ext cx="540" cy="274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900" b="1">
                    <a:solidFill>
                      <a:srgbClr val="854D0E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900" b="1">
                    <a:solidFill>
                      <a:srgbClr val="854D0E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M2</a:t>
                </a:r>
                <a:endParaRPr sz="900" b="1">
                  <a:solidFill>
                    <a:srgbClr val="854D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sp>
          <p:nvSpPr>
            <p:cNvPr id="101" name="text-92"/>
            <p:cNvSpPr>
              <a:spLocks noGrp="1"/>
            </p:cNvSpPr>
            <p:nvPr/>
          </p:nvSpPr>
          <p:spPr>
            <a:xfrm>
              <a:off x="18825" y="3487"/>
              <a:ext cx="3660" cy="27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Alternative paths remain valid</a:t>
              </a:r>
              <a:endParaRPr sz="1000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04" name="rect-94"/>
            <p:cNvSpPr>
              <a:spLocks noGrp="1"/>
            </p:cNvSpPr>
            <p:nvPr/>
          </p:nvSpPr>
          <p:spPr>
            <a:xfrm>
              <a:off x="525" y="5100"/>
              <a:ext cx="22950" cy="9300"/>
            </a:xfrm>
            <a:prstGeom prst="roundRect">
              <a:avLst>
                <a:gd name="adj" fmla="val 2581"/>
              </a:avLst>
            </a:prstGeom>
            <a:solidFill>
              <a:srgbClr val="F0FDF4"/>
            </a:solidFill>
            <a:ln w="19050">
              <a:solidFill>
                <a:srgbClr val="BBF7D0"/>
              </a:solidFill>
              <a:prstDash val="solid"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11">
              <a:srgbClr val="FFFFFF"/>
            </a:effectRef>
            <a:fontRef idx="major"/>
          </p:style>
        </p:sp>
        <p:sp>
          <p:nvSpPr>
            <p:cNvPr id="108" name="text-98"/>
            <p:cNvSpPr>
              <a:spLocks noGrp="1"/>
            </p:cNvSpPr>
            <p:nvPr/>
          </p:nvSpPr>
          <p:spPr>
            <a:xfrm>
              <a:off x="1305" y="5232"/>
              <a:ext cx="10290" cy="45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15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8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Dynamic </a:t>
              </a:r>
              <a:r>
                <a:rPr sz="18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Stage-wise Trajectory Evaluation</a:t>
              </a:r>
              <a:endParaRPr sz="1800" b="1">
                <a:solidFill>
                  <a:srgbClr val="166534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09" name="rect-99"/>
            <p:cNvSpPr>
              <a:spLocks noGrp="1"/>
            </p:cNvSpPr>
            <p:nvPr/>
          </p:nvSpPr>
          <p:spPr>
            <a:xfrm>
              <a:off x="774" y="5912"/>
              <a:ext cx="11113" cy="8267"/>
            </a:xfrm>
            <a:prstGeom prst="roundRect">
              <a:avLst>
                <a:gd name="adj" fmla="val 1852"/>
              </a:avLst>
            </a:prstGeom>
            <a:solidFill>
              <a:srgbClr val="FFFFFF"/>
            </a:solidFill>
            <a:ln w="14288">
              <a:solidFill>
                <a:srgbClr val="BBF7D0"/>
              </a:solidFill>
              <a:prstDash val="solid"/>
            </a:ln>
          </p:spPr>
        </p:sp>
        <p:pic>
          <p:nvPicPr>
            <p:cNvPr id="364" name="图片 363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45" y="6033"/>
              <a:ext cx="360" cy="360"/>
            </a:xfrm>
            <a:prstGeom prst="rect">
              <a:avLst/>
            </a:prstGeom>
          </p:spPr>
        </p:pic>
        <p:sp>
          <p:nvSpPr>
            <p:cNvPr id="111" name="text-101"/>
            <p:cNvSpPr>
              <a:spLocks noGrp="1"/>
            </p:cNvSpPr>
            <p:nvPr/>
          </p:nvSpPr>
          <p:spPr>
            <a:xfrm>
              <a:off x="1365" y="6013"/>
              <a:ext cx="8581" cy="47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12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altLang="zh-CN" sz="16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Trajectory Stage Alignment Based on a Milestone Graph</a:t>
              </a:r>
              <a:endParaRPr lang="en-US" altLang="zh-CN" sz="1600" b="1">
                <a:solidFill>
                  <a:srgbClr val="166534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18" name="text-108"/>
            <p:cNvSpPr>
              <a:spLocks noGrp="1"/>
            </p:cNvSpPr>
            <p:nvPr/>
          </p:nvSpPr>
          <p:spPr>
            <a:xfrm>
              <a:off x="1050" y="6757"/>
              <a:ext cx="2257" cy="42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82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4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</a:t>
              </a:r>
              <a:r>
                <a:rPr lang="en-US" sz="14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ilestone Graph</a:t>
              </a:r>
              <a:endParaRPr lang="en-US" sz="1400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grpSp>
          <p:nvGrpSpPr>
            <p:cNvPr id="259" name="组合 258"/>
            <p:cNvGrpSpPr/>
            <p:nvPr/>
          </p:nvGrpSpPr>
          <p:grpSpPr>
            <a:xfrm>
              <a:off x="2928" y="7284"/>
              <a:ext cx="1050" cy="570"/>
              <a:chOff x="2115" y="7338"/>
              <a:chExt cx="1050" cy="570"/>
            </a:xfrm>
          </p:grpSpPr>
          <p:sp>
            <p:nvSpPr>
              <p:cNvPr id="122" name="rect-112"/>
              <p:cNvSpPr>
                <a:spLocks noGrp="1"/>
              </p:cNvSpPr>
              <p:nvPr/>
            </p:nvSpPr>
            <p:spPr>
              <a:xfrm>
                <a:off x="2115" y="7338"/>
                <a:ext cx="1050" cy="570"/>
              </a:xfrm>
              <a:prstGeom prst="roundRect">
                <a:avLst>
                  <a:gd name="adj" fmla="val 15789"/>
                </a:avLst>
              </a:prstGeom>
              <a:solidFill>
                <a:srgbClr val="DCFCE7"/>
              </a:solidFill>
              <a:ln w="15240">
                <a:solidFill>
                  <a:srgbClr val="22C55E"/>
                </a:solidFill>
                <a:prstDash val="solid"/>
              </a:ln>
            </p:spPr>
          </p:sp>
          <p:sp>
            <p:nvSpPr>
              <p:cNvPr id="123" name="text-113"/>
              <p:cNvSpPr>
                <a:spLocks noGrp="1"/>
              </p:cNvSpPr>
              <p:nvPr/>
            </p:nvSpPr>
            <p:spPr>
              <a:xfrm>
                <a:off x="2370" y="7484"/>
                <a:ext cx="540" cy="296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975" b="1">
                    <a:solidFill>
                      <a:srgbClr val="166534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1200" b="1">
                    <a:solidFill>
                      <a:srgbClr val="166534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M0</a:t>
                </a:r>
                <a:endParaRPr sz="12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262" name="组合 261"/>
            <p:cNvGrpSpPr/>
            <p:nvPr/>
          </p:nvGrpSpPr>
          <p:grpSpPr>
            <a:xfrm>
              <a:off x="5783" y="7033"/>
              <a:ext cx="1200" cy="450"/>
              <a:chOff x="4740" y="7263"/>
              <a:chExt cx="1200" cy="450"/>
            </a:xfrm>
          </p:grpSpPr>
          <p:sp>
            <p:nvSpPr>
              <p:cNvPr id="124" name="rect-114"/>
              <p:cNvSpPr>
                <a:spLocks noGrp="1"/>
              </p:cNvSpPr>
              <p:nvPr/>
            </p:nvSpPr>
            <p:spPr>
              <a:xfrm>
                <a:off x="4740" y="7263"/>
                <a:ext cx="1200" cy="450"/>
              </a:xfrm>
              <a:prstGeom prst="roundRect">
                <a:avLst>
                  <a:gd name="adj" fmla="val 20000"/>
                </a:avLst>
              </a:prstGeom>
              <a:solidFill>
                <a:srgbClr val="EFF6FF"/>
              </a:solidFill>
              <a:ln w="13335">
                <a:solidFill>
                  <a:srgbClr val="60A5FA"/>
                </a:solidFill>
                <a:prstDash val="solid"/>
              </a:ln>
            </p:spPr>
          </p:sp>
          <p:sp>
            <p:nvSpPr>
              <p:cNvPr id="125" name="text-115"/>
              <p:cNvSpPr>
                <a:spLocks noGrp="1"/>
              </p:cNvSpPr>
              <p:nvPr/>
            </p:nvSpPr>
            <p:spPr>
              <a:xfrm>
                <a:off x="5070" y="7328"/>
                <a:ext cx="540" cy="31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9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12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M1a</a:t>
                </a:r>
                <a:endParaRPr sz="12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260" name="组合 259"/>
            <p:cNvGrpSpPr/>
            <p:nvPr/>
          </p:nvGrpSpPr>
          <p:grpSpPr>
            <a:xfrm>
              <a:off x="8268" y="7854"/>
              <a:ext cx="1200" cy="450"/>
              <a:chOff x="4740" y="8088"/>
              <a:chExt cx="1200" cy="450"/>
            </a:xfrm>
          </p:grpSpPr>
          <p:sp>
            <p:nvSpPr>
              <p:cNvPr id="126" name="rect-116"/>
              <p:cNvSpPr>
                <a:spLocks noGrp="1"/>
              </p:cNvSpPr>
              <p:nvPr/>
            </p:nvSpPr>
            <p:spPr>
              <a:xfrm>
                <a:off x="4740" y="8088"/>
                <a:ext cx="1200" cy="450"/>
              </a:xfrm>
              <a:prstGeom prst="roundRect">
                <a:avLst>
                  <a:gd name="adj" fmla="val 20000"/>
                </a:avLst>
              </a:prstGeom>
              <a:solidFill>
                <a:srgbClr val="ECFDF5"/>
              </a:solidFill>
              <a:ln w="13335">
                <a:solidFill>
                  <a:srgbClr val="34D399"/>
                </a:solidFill>
                <a:prstDash val="solid"/>
              </a:ln>
            </p:spPr>
          </p:sp>
          <p:sp>
            <p:nvSpPr>
              <p:cNvPr id="127" name="text-117"/>
              <p:cNvSpPr>
                <a:spLocks noGrp="1"/>
              </p:cNvSpPr>
              <p:nvPr/>
            </p:nvSpPr>
            <p:spPr>
              <a:xfrm>
                <a:off x="5070" y="8151"/>
                <a:ext cx="540" cy="303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900" b="1">
                    <a:solidFill>
                      <a:srgbClr val="065F46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1200" b="1">
                    <a:solidFill>
                      <a:srgbClr val="065F46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M1b</a:t>
                </a:r>
                <a:endParaRPr sz="1200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258" name="组合 257"/>
            <p:cNvGrpSpPr/>
            <p:nvPr/>
          </p:nvGrpSpPr>
          <p:grpSpPr>
            <a:xfrm>
              <a:off x="10299" y="7272"/>
              <a:ext cx="1200" cy="582"/>
              <a:chOff x="10065" y="7338"/>
              <a:chExt cx="1200" cy="570"/>
            </a:xfrm>
          </p:grpSpPr>
          <p:sp>
            <p:nvSpPr>
              <p:cNvPr id="128" name="rect-118"/>
              <p:cNvSpPr>
                <a:spLocks noGrp="1"/>
              </p:cNvSpPr>
              <p:nvPr/>
            </p:nvSpPr>
            <p:spPr>
              <a:xfrm>
                <a:off x="10065" y="7338"/>
                <a:ext cx="1200" cy="570"/>
              </a:xfrm>
              <a:prstGeom prst="roundRect">
                <a:avLst>
                  <a:gd name="adj" fmla="val 15789"/>
                </a:avLst>
              </a:prstGeom>
              <a:solidFill>
                <a:srgbClr val="FEF9C3"/>
              </a:solidFill>
              <a:ln w="14288">
                <a:solidFill>
                  <a:srgbClr val="EAB308"/>
                </a:solidFill>
                <a:prstDash val="solid"/>
              </a:ln>
            </p:spPr>
          </p:sp>
          <p:sp>
            <p:nvSpPr>
              <p:cNvPr id="129" name="text-119"/>
              <p:cNvSpPr>
                <a:spLocks noGrp="1"/>
              </p:cNvSpPr>
              <p:nvPr/>
            </p:nvSpPr>
            <p:spPr>
              <a:xfrm>
                <a:off x="10395" y="7484"/>
                <a:ext cx="540" cy="296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975" b="1">
                    <a:solidFill>
                      <a:srgbClr val="854D0E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1200" b="1">
                    <a:solidFill>
                      <a:srgbClr val="854D0E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M2</a:t>
                </a:r>
                <a:endParaRPr sz="1200" b="1">
                  <a:solidFill>
                    <a:srgbClr val="854D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sp>
          <p:nvSpPr>
            <p:cNvPr id="134" name="text-121"/>
            <p:cNvSpPr>
              <a:spLocks noGrp="1"/>
            </p:cNvSpPr>
            <p:nvPr/>
          </p:nvSpPr>
          <p:spPr>
            <a:xfrm>
              <a:off x="1000" y="8304"/>
              <a:ext cx="2264" cy="389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82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4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Agent Trajectory</a:t>
              </a:r>
              <a:endParaRPr lang="en-US" sz="1400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66" name="text-146"/>
            <p:cNvSpPr>
              <a:spLocks noGrp="1"/>
            </p:cNvSpPr>
            <p:nvPr/>
          </p:nvSpPr>
          <p:spPr>
            <a:xfrm>
              <a:off x="999" y="10268"/>
              <a:ext cx="2265" cy="372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82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4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Stage Evaluation</a:t>
              </a:r>
              <a:endParaRPr lang="en-US" sz="1400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80" name="rect-157"/>
            <p:cNvSpPr>
              <a:spLocks noGrp="1"/>
            </p:cNvSpPr>
            <p:nvPr/>
          </p:nvSpPr>
          <p:spPr>
            <a:xfrm>
              <a:off x="12690" y="5913"/>
              <a:ext cx="10350" cy="8266"/>
            </a:xfrm>
            <a:prstGeom prst="roundRect">
              <a:avLst>
                <a:gd name="adj" fmla="val 1852"/>
              </a:avLst>
            </a:prstGeom>
            <a:solidFill>
              <a:srgbClr val="FFFFFF"/>
            </a:solidFill>
            <a:ln w="14288">
              <a:solidFill>
                <a:srgbClr val="BBF7D0"/>
              </a:solidFill>
              <a:prstDash val="solid"/>
            </a:ln>
          </p:spPr>
        </p:sp>
        <p:pic>
          <p:nvPicPr>
            <p:cNvPr id="435" name="图片 434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900" y="6033"/>
              <a:ext cx="360" cy="360"/>
            </a:xfrm>
            <a:prstGeom prst="rect">
              <a:avLst/>
            </a:prstGeom>
          </p:spPr>
        </p:pic>
        <p:sp>
          <p:nvSpPr>
            <p:cNvPr id="182" name="text-159"/>
            <p:cNvSpPr>
              <a:spLocks noGrp="1"/>
            </p:cNvSpPr>
            <p:nvPr/>
          </p:nvSpPr>
          <p:spPr>
            <a:xfrm>
              <a:off x="13320" y="6013"/>
              <a:ext cx="5142" cy="36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12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6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Uncertainty-adaptive review loop</a:t>
              </a:r>
              <a:endParaRPr sz="1600" b="1">
                <a:solidFill>
                  <a:srgbClr val="166534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83" name="rect-160"/>
            <p:cNvSpPr>
              <a:spLocks noGrp="1"/>
            </p:cNvSpPr>
            <p:nvPr/>
          </p:nvSpPr>
          <p:spPr>
            <a:xfrm>
              <a:off x="12954" y="6479"/>
              <a:ext cx="1944" cy="958"/>
            </a:xfrm>
            <a:prstGeom prst="roundRect">
              <a:avLst>
                <a:gd name="adj" fmla="val 10000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  <a:prstDash val="solid"/>
            </a:ln>
          </p:spPr>
        </p:sp>
        <p:sp>
          <p:nvSpPr>
            <p:cNvPr id="184" name="text-161"/>
            <p:cNvSpPr>
              <a:spLocks noGrp="1"/>
            </p:cNvSpPr>
            <p:nvPr/>
          </p:nvSpPr>
          <p:spPr>
            <a:xfrm>
              <a:off x="13021" y="6593"/>
              <a:ext cx="1653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Stage evidence</a:t>
              </a:r>
              <a:endParaRPr sz="100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85" name="text-162"/>
            <p:cNvSpPr>
              <a:spLocks noGrp="1"/>
            </p:cNvSpPr>
            <p:nvPr/>
          </p:nvSpPr>
          <p:spPr>
            <a:xfrm>
              <a:off x="13063" y="6881"/>
              <a:ext cx="1835" cy="519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825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93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scores</a:t>
              </a:r>
              <a:r>
                <a:rPr sz="93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, u</a:t>
              </a:r>
              <a:r>
                <a:rPr lang="en-US" sz="93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ncertainty</a:t>
              </a:r>
              <a:r>
                <a:rPr sz="93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,</a:t>
              </a:r>
              <a:br>
                <a:rPr sz="93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</a:br>
              <a:r>
                <a:rPr sz="900">
                  <a:sym typeface="+mn-ea"/>
                </a:rPr>
                <a:t>minefield </a:t>
              </a:r>
              <a:r>
                <a:rPr sz="930">
                  <a:sym typeface="+mn-ea"/>
                </a:rPr>
                <a:t>signal</a:t>
              </a:r>
              <a:r>
                <a:rPr lang="en-US" sz="930">
                  <a:sym typeface="+mn-ea"/>
                </a:rPr>
                <a:t> ……</a:t>
              </a:r>
              <a:r>
                <a:rPr sz="93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 </a:t>
              </a:r>
              <a:endParaRPr sz="930" b="1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87" name="rect-164"/>
            <p:cNvSpPr>
              <a:spLocks noGrp="1"/>
            </p:cNvSpPr>
            <p:nvPr/>
          </p:nvSpPr>
          <p:spPr>
            <a:xfrm>
              <a:off x="15569" y="6480"/>
              <a:ext cx="1939" cy="959"/>
            </a:xfrm>
            <a:prstGeom prst="roundRect">
              <a:avLst>
                <a:gd name="adj" fmla="val 10000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  <a:prstDash val="solid"/>
            </a:ln>
          </p:spPr>
        </p:sp>
        <p:sp>
          <p:nvSpPr>
            <p:cNvPr id="188" name="text-165"/>
            <p:cNvSpPr>
              <a:spLocks noGrp="1"/>
            </p:cNvSpPr>
            <p:nvPr/>
          </p:nvSpPr>
          <p:spPr>
            <a:xfrm>
              <a:off x="15648" y="6579"/>
              <a:ext cx="1265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Diagnose</a:t>
              </a:r>
              <a:endParaRPr sz="100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89" name="text-166"/>
            <p:cNvSpPr>
              <a:spLocks noGrp="1"/>
            </p:cNvSpPr>
            <p:nvPr/>
          </p:nvSpPr>
          <p:spPr>
            <a:xfrm>
              <a:off x="15629" y="6875"/>
              <a:ext cx="1805" cy="518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825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pass / warn / fail</a:t>
              </a:r>
              <a:endParaRPr sz="900" b="1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  <a:p>
              <a:pPr algn="l">
                <a:defRPr sz="825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900">
                  <a:sym typeface="+mn-ea"/>
                </a:rPr>
                <a:t>find weak dimension</a:t>
              </a:r>
              <a:endParaRPr lang="en-US" sz="900" b="1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  <a:sym typeface="+mn-ea"/>
              </a:endParaRPr>
            </a:p>
          </p:txBody>
        </p:sp>
        <p:sp>
          <p:nvSpPr>
            <p:cNvPr id="191" name="rect-168"/>
            <p:cNvSpPr>
              <a:spLocks noGrp="1"/>
            </p:cNvSpPr>
            <p:nvPr/>
          </p:nvSpPr>
          <p:spPr>
            <a:xfrm>
              <a:off x="18275" y="6481"/>
              <a:ext cx="1982" cy="958"/>
            </a:xfrm>
            <a:prstGeom prst="roundRect">
              <a:avLst>
                <a:gd name="adj" fmla="val 10000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  <a:prstDash val="solid"/>
            </a:ln>
          </p:spPr>
        </p:sp>
        <p:sp>
          <p:nvSpPr>
            <p:cNvPr id="192" name="text-169"/>
            <p:cNvSpPr>
              <a:spLocks noGrp="1"/>
            </p:cNvSpPr>
            <p:nvPr/>
          </p:nvSpPr>
          <p:spPr>
            <a:xfrm>
              <a:off x="18382" y="6582"/>
              <a:ext cx="1834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Dynamic </a:t>
              </a:r>
              <a:r>
                <a:rPr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Adapt</a:t>
              </a:r>
              <a:r>
                <a:rPr lang="en-US"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ion</a:t>
              </a:r>
              <a:endParaRPr lang="en-US" sz="100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93" name="text-170"/>
            <p:cNvSpPr>
              <a:spLocks noGrp="1"/>
            </p:cNvSpPr>
            <p:nvPr/>
          </p:nvSpPr>
          <p:spPr>
            <a:xfrm>
              <a:off x="18382" y="6879"/>
              <a:ext cx="1513" cy="46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825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select judge tier</a:t>
              </a:r>
              <a:endParaRPr sz="900" b="1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  <a:p>
              <a:pPr algn="l">
                <a:defRPr sz="825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>
                  <a:sym typeface="+mn-ea"/>
                </a:rPr>
                <a:t>update weights</a:t>
              </a:r>
              <a:endParaRPr sz="900" b="1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95" name="rect-172"/>
            <p:cNvSpPr>
              <a:spLocks noGrp="1"/>
            </p:cNvSpPr>
            <p:nvPr/>
          </p:nvSpPr>
          <p:spPr>
            <a:xfrm>
              <a:off x="20975" y="6478"/>
              <a:ext cx="1745" cy="959"/>
            </a:xfrm>
            <a:prstGeom prst="roundRect">
              <a:avLst>
                <a:gd name="adj" fmla="val 10000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  <a:prstDash val="solid"/>
            </a:ln>
          </p:spPr>
        </p:sp>
        <p:sp>
          <p:nvSpPr>
            <p:cNvPr id="196" name="text-173"/>
            <p:cNvSpPr>
              <a:spLocks noGrp="1"/>
            </p:cNvSpPr>
            <p:nvPr/>
          </p:nvSpPr>
          <p:spPr>
            <a:xfrm>
              <a:off x="21116" y="6579"/>
              <a:ext cx="1503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Control action</a:t>
              </a:r>
              <a:endParaRPr sz="100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97" name="text-174"/>
            <p:cNvSpPr>
              <a:spLocks noGrp="1"/>
            </p:cNvSpPr>
            <p:nvPr/>
          </p:nvSpPr>
          <p:spPr>
            <a:xfrm>
              <a:off x="21131" y="6880"/>
              <a:ext cx="1504" cy="42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825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90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contiue, optimize, </a:t>
              </a:r>
              <a:endParaRPr lang="en-US" sz="900" b="1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  <a:p>
              <a:pPr algn="l">
                <a:defRPr sz="825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90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or halt </a:t>
              </a:r>
              <a:r>
                <a:rPr sz="90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rollout</a:t>
              </a:r>
              <a:endParaRPr lang="en-US" sz="900" b="1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234" name="rect-207"/>
            <p:cNvSpPr>
              <a:spLocks noGrp="1"/>
            </p:cNvSpPr>
            <p:nvPr/>
          </p:nvSpPr>
          <p:spPr>
            <a:xfrm>
              <a:off x="18108" y="8791"/>
              <a:ext cx="4606" cy="3949"/>
            </a:xfrm>
            <a:prstGeom prst="roundRect">
              <a:avLst>
                <a:gd name="adj" fmla="val 5405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  <a:prstDash val="solid"/>
            </a:ln>
          </p:spPr>
        </p:sp>
        <p:pic>
          <p:nvPicPr>
            <p:cNvPr id="489" name="图片 488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8224" y="8967"/>
              <a:ext cx="363" cy="363"/>
            </a:xfrm>
            <a:prstGeom prst="rect">
              <a:avLst/>
            </a:prstGeom>
          </p:spPr>
        </p:pic>
        <p:sp>
          <p:nvSpPr>
            <p:cNvPr id="236" name="text-209"/>
            <p:cNvSpPr>
              <a:spLocks noGrp="1"/>
            </p:cNvSpPr>
            <p:nvPr/>
          </p:nvSpPr>
          <p:spPr>
            <a:xfrm>
              <a:off x="18690" y="8942"/>
              <a:ext cx="3540" cy="319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105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4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Dimension weight update</a:t>
              </a:r>
              <a:endParaRPr sz="1400" b="1">
                <a:solidFill>
                  <a:srgbClr val="1E40A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237" name="text-210"/>
            <p:cNvSpPr>
              <a:spLocks noGrp="1"/>
            </p:cNvSpPr>
            <p:nvPr/>
          </p:nvSpPr>
          <p:spPr>
            <a:xfrm>
              <a:off x="18330" y="9462"/>
              <a:ext cx="1243" cy="25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 anchor="ctr" anchorCtr="0">
              <a:noAutofit/>
            </a:bodyPr>
            <a:lstStyle/>
            <a:p>
              <a:pPr algn="l">
                <a:defRPr sz="82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Correctness</a:t>
              </a:r>
              <a:endParaRPr sz="1200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grpSp>
          <p:nvGrpSpPr>
            <p:cNvPr id="86" name="组合 85"/>
            <p:cNvGrpSpPr/>
            <p:nvPr/>
          </p:nvGrpSpPr>
          <p:grpSpPr>
            <a:xfrm>
              <a:off x="19773" y="9476"/>
              <a:ext cx="2722" cy="222"/>
              <a:chOff x="19773" y="9127"/>
              <a:chExt cx="2722" cy="174"/>
            </a:xfrm>
          </p:grpSpPr>
          <p:sp>
            <p:nvSpPr>
              <p:cNvPr id="238" name="rect-211"/>
              <p:cNvSpPr>
                <a:spLocks noGrp="1"/>
              </p:cNvSpPr>
              <p:nvPr/>
            </p:nvSpPr>
            <p:spPr>
              <a:xfrm>
                <a:off x="19773" y="9127"/>
                <a:ext cx="2722" cy="175"/>
              </a:xfrm>
              <a:prstGeom prst="roundRect">
                <a:avLst>
                  <a:gd name="adj" fmla="val 50000"/>
                </a:avLst>
              </a:prstGeom>
              <a:solidFill>
                <a:srgbClr val="BFDBFE"/>
              </a:solidFill>
              <a:ln w="0">
                <a:noFill/>
                <a:prstDash val="solid"/>
              </a:ln>
            </p:spPr>
          </p:sp>
          <p:sp>
            <p:nvSpPr>
              <p:cNvPr id="239" name="rect-212"/>
              <p:cNvSpPr>
                <a:spLocks noGrp="1"/>
              </p:cNvSpPr>
              <p:nvPr/>
            </p:nvSpPr>
            <p:spPr>
              <a:xfrm>
                <a:off x="19773" y="9127"/>
                <a:ext cx="1711" cy="175"/>
              </a:xfrm>
              <a:prstGeom prst="roundRect">
                <a:avLst>
                  <a:gd name="adj" fmla="val 50000"/>
                </a:avLst>
              </a:prstGeom>
              <a:solidFill>
                <a:srgbClr val="3B82F6"/>
              </a:solidFill>
              <a:ln w="0">
                <a:noFill/>
                <a:prstDash val="solid"/>
              </a:ln>
            </p:spPr>
          </p:sp>
        </p:grpSp>
        <p:sp>
          <p:nvSpPr>
            <p:cNvPr id="240" name="text-213"/>
            <p:cNvSpPr>
              <a:spLocks noGrp="1"/>
            </p:cNvSpPr>
            <p:nvPr/>
          </p:nvSpPr>
          <p:spPr>
            <a:xfrm>
              <a:off x="18330" y="9976"/>
              <a:ext cx="1242" cy="25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 anchor="ctr" anchorCtr="0">
              <a:noAutofit/>
            </a:bodyPr>
            <a:lstStyle/>
            <a:p>
              <a:pPr algn="l">
                <a:defRPr sz="82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Efficiency</a:t>
              </a:r>
              <a:endParaRPr sz="1200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grpSp>
          <p:nvGrpSpPr>
            <p:cNvPr id="85" name="组合 84"/>
            <p:cNvGrpSpPr/>
            <p:nvPr/>
          </p:nvGrpSpPr>
          <p:grpSpPr>
            <a:xfrm>
              <a:off x="19773" y="10006"/>
              <a:ext cx="2742" cy="222"/>
              <a:chOff x="19499" y="9563"/>
              <a:chExt cx="2100" cy="134"/>
            </a:xfrm>
          </p:grpSpPr>
          <p:sp>
            <p:nvSpPr>
              <p:cNvPr id="241" name="rect-214"/>
              <p:cNvSpPr>
                <a:spLocks noGrp="1"/>
              </p:cNvSpPr>
              <p:nvPr/>
            </p:nvSpPr>
            <p:spPr>
              <a:xfrm>
                <a:off x="19499" y="9563"/>
                <a:ext cx="2100" cy="135"/>
              </a:xfrm>
              <a:prstGeom prst="roundRect">
                <a:avLst>
                  <a:gd name="adj" fmla="val 50000"/>
                </a:avLst>
              </a:prstGeom>
              <a:solidFill>
                <a:srgbClr val="A7F3D0"/>
              </a:solidFill>
              <a:ln w="0">
                <a:noFill/>
                <a:prstDash val="solid"/>
              </a:ln>
            </p:spPr>
          </p:sp>
          <p:sp>
            <p:nvSpPr>
              <p:cNvPr id="242" name="rect-215"/>
              <p:cNvSpPr>
                <a:spLocks noGrp="1"/>
              </p:cNvSpPr>
              <p:nvPr/>
            </p:nvSpPr>
            <p:spPr>
              <a:xfrm>
                <a:off x="19499" y="9563"/>
                <a:ext cx="1680" cy="135"/>
              </a:xfrm>
              <a:prstGeom prst="roundRect">
                <a:avLst>
                  <a:gd name="adj" fmla="val 50000"/>
                </a:avLst>
              </a:prstGeom>
              <a:solidFill>
                <a:srgbClr val="059669"/>
              </a:solidFill>
              <a:ln w="0">
                <a:noFill/>
                <a:prstDash val="solid"/>
              </a:ln>
            </p:spPr>
          </p:sp>
        </p:grpSp>
        <p:sp>
          <p:nvSpPr>
            <p:cNvPr id="243" name="text-216"/>
            <p:cNvSpPr>
              <a:spLocks noGrp="1"/>
            </p:cNvSpPr>
            <p:nvPr/>
          </p:nvSpPr>
          <p:spPr>
            <a:xfrm>
              <a:off x="18330" y="10492"/>
              <a:ext cx="1242" cy="25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 anchor="ctr" anchorCtr="0">
              <a:noAutofit/>
            </a:bodyPr>
            <a:lstStyle/>
            <a:p>
              <a:pPr algn="l">
                <a:defRPr sz="82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Safety</a:t>
              </a:r>
              <a:endParaRPr sz="1200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grpSp>
          <p:nvGrpSpPr>
            <p:cNvPr id="87" name="组合 86"/>
            <p:cNvGrpSpPr/>
            <p:nvPr/>
          </p:nvGrpSpPr>
          <p:grpSpPr>
            <a:xfrm>
              <a:off x="19773" y="10526"/>
              <a:ext cx="2722" cy="217"/>
              <a:chOff x="19499" y="9923"/>
              <a:chExt cx="2100" cy="134"/>
            </a:xfrm>
          </p:grpSpPr>
          <p:sp>
            <p:nvSpPr>
              <p:cNvPr id="244" name="rect-217"/>
              <p:cNvSpPr>
                <a:spLocks noGrp="1"/>
              </p:cNvSpPr>
              <p:nvPr/>
            </p:nvSpPr>
            <p:spPr>
              <a:xfrm>
                <a:off x="19499" y="9923"/>
                <a:ext cx="2100" cy="135"/>
              </a:xfrm>
              <a:prstGeom prst="roundRect">
                <a:avLst>
                  <a:gd name="adj" fmla="val 50000"/>
                </a:avLst>
              </a:prstGeom>
              <a:solidFill>
                <a:srgbClr val="FECACA"/>
              </a:solidFill>
              <a:ln w="0">
                <a:noFill/>
                <a:prstDash val="solid"/>
              </a:ln>
            </p:spPr>
          </p:sp>
          <p:sp>
            <p:nvSpPr>
              <p:cNvPr id="245" name="rect-218"/>
              <p:cNvSpPr>
                <a:spLocks noGrp="1"/>
              </p:cNvSpPr>
              <p:nvPr/>
            </p:nvSpPr>
            <p:spPr>
              <a:xfrm>
                <a:off x="19499" y="9923"/>
                <a:ext cx="1890" cy="135"/>
              </a:xfrm>
              <a:prstGeom prst="roundRect">
                <a:avLst>
                  <a:gd name="adj" fmla="val 50000"/>
                </a:avLst>
              </a:prstGeom>
              <a:solidFill>
                <a:srgbClr val="DC2626"/>
              </a:solidFill>
              <a:ln w="0">
                <a:noFill/>
                <a:prstDash val="solid"/>
              </a:ln>
            </p:spPr>
          </p:sp>
        </p:grpSp>
        <p:sp>
          <p:nvSpPr>
            <p:cNvPr id="250" name="text-220"/>
            <p:cNvSpPr>
              <a:spLocks noGrp="1"/>
            </p:cNvSpPr>
            <p:nvPr/>
          </p:nvSpPr>
          <p:spPr>
            <a:xfrm>
              <a:off x="12890" y="8220"/>
              <a:ext cx="9822" cy="558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825" b="1">
                  <a:solidFill>
                    <a:srgbClr val="7E22C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6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Low score </a:t>
              </a:r>
              <a:r>
                <a:rPr lang="en-US" sz="16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or</a:t>
              </a:r>
              <a:r>
                <a:rPr sz="16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 high u</a:t>
              </a:r>
              <a:r>
                <a:rPr lang="en-US" sz="16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ncertainty</a:t>
              </a:r>
              <a:r>
                <a:rPr sz="16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 increases weight</a:t>
              </a:r>
              <a:r>
                <a:rPr lang="en-US" sz="16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 and judge level</a:t>
              </a:r>
              <a:endParaRPr lang="en-US" sz="1600" b="1">
                <a:solidFill>
                  <a:srgbClr val="1E40A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251" name="rect-221"/>
            <p:cNvSpPr>
              <a:spLocks noGrp="1"/>
            </p:cNvSpPr>
            <p:nvPr/>
          </p:nvSpPr>
          <p:spPr>
            <a:xfrm>
              <a:off x="12900" y="12957"/>
              <a:ext cx="9812" cy="960"/>
            </a:xfrm>
            <a:prstGeom prst="roundRect">
              <a:avLst>
                <a:gd name="adj" fmla="val 12500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  <a:prstDash val="solid"/>
            </a:ln>
          </p:spPr>
        </p:sp>
        <p:pic>
          <p:nvPicPr>
            <p:cNvPr id="506" name="图片 505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3014" y="13262"/>
              <a:ext cx="449" cy="454"/>
            </a:xfrm>
            <a:prstGeom prst="rect">
              <a:avLst/>
            </a:prstGeom>
          </p:spPr>
        </p:pic>
        <p:sp>
          <p:nvSpPr>
            <p:cNvPr id="253" name="text-223"/>
            <p:cNvSpPr>
              <a:spLocks noGrp="1"/>
            </p:cNvSpPr>
            <p:nvPr/>
          </p:nvSpPr>
          <p:spPr>
            <a:xfrm>
              <a:off x="13530" y="13118"/>
              <a:ext cx="3280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4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Auditable decision report</a:t>
              </a:r>
              <a:endParaRPr sz="140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254" name="text-224"/>
            <p:cNvSpPr>
              <a:spLocks noGrp="1"/>
            </p:cNvSpPr>
            <p:nvPr/>
          </p:nvSpPr>
          <p:spPr>
            <a:xfrm>
              <a:off x="13530" y="13479"/>
              <a:ext cx="7751" cy="338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825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20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trajectory</a:t>
              </a:r>
              <a:r>
                <a:rPr sz="120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 - </a:t>
              </a:r>
              <a:r>
                <a:rPr lang="en-US" sz="120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milestones</a:t>
              </a:r>
              <a:r>
                <a:rPr sz="1200" b="1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 - stage score - uncertainty - updated policy - stop reason</a:t>
              </a:r>
              <a:endParaRPr sz="1200" b="1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cxnSp>
          <p:nvCxnSpPr>
            <p:cNvPr id="7" name="直接箭头连接符 6"/>
            <p:cNvCxnSpPr/>
            <p:nvPr/>
          </p:nvCxnSpPr>
          <p:spPr>
            <a:xfrm flipV="1">
              <a:off x="19773" y="2158"/>
              <a:ext cx="603" cy="317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" name="直接箭头连接符 9"/>
            <p:cNvCxnSpPr/>
            <p:nvPr/>
          </p:nvCxnSpPr>
          <p:spPr>
            <a:xfrm>
              <a:off x="19773" y="2475"/>
              <a:ext cx="603" cy="286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3" name="直接箭头连接符 12"/>
            <p:cNvCxnSpPr/>
            <p:nvPr/>
          </p:nvCxnSpPr>
          <p:spPr>
            <a:xfrm>
              <a:off x="21260" y="2158"/>
              <a:ext cx="619" cy="311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" name="直接箭头连接符 15"/>
            <p:cNvCxnSpPr/>
            <p:nvPr/>
          </p:nvCxnSpPr>
          <p:spPr>
            <a:xfrm flipV="1">
              <a:off x="21260" y="2469"/>
              <a:ext cx="619" cy="292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" name="直接箭头连接符 22"/>
            <p:cNvCxnSpPr>
              <a:stCxn id="59" idx="3"/>
              <a:endCxn id="80" idx="1"/>
            </p:cNvCxnSpPr>
            <p:nvPr/>
          </p:nvCxnSpPr>
          <p:spPr>
            <a:xfrm>
              <a:off x="17036" y="2476"/>
              <a:ext cx="1550" cy="0"/>
            </a:xfrm>
            <a:prstGeom prst="straightConnector1">
              <a:avLst/>
            </a:prstGeom>
            <a:ln>
              <a:solidFill>
                <a:srgbClr val="2563EB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stCxn id="22" idx="3"/>
              <a:endCxn id="59" idx="1"/>
            </p:cNvCxnSpPr>
            <p:nvPr/>
          </p:nvCxnSpPr>
          <p:spPr>
            <a:xfrm>
              <a:off x="12581" y="2476"/>
              <a:ext cx="1195" cy="0"/>
            </a:xfrm>
            <a:prstGeom prst="straightConnector1">
              <a:avLst/>
            </a:prstGeom>
            <a:ln>
              <a:solidFill>
                <a:srgbClr val="2563EB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10" name="直接箭头连接符 109"/>
            <p:cNvCxnSpPr>
              <a:stCxn id="6" idx="3"/>
              <a:endCxn id="22" idx="1"/>
            </p:cNvCxnSpPr>
            <p:nvPr/>
          </p:nvCxnSpPr>
          <p:spPr>
            <a:xfrm flipV="1">
              <a:off x="4441" y="2476"/>
              <a:ext cx="1755" cy="1"/>
            </a:xfrm>
            <a:prstGeom prst="straightConnector1">
              <a:avLst/>
            </a:prstGeom>
            <a:ln>
              <a:solidFill>
                <a:srgbClr val="2563EB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225" name="组合 224"/>
            <p:cNvGrpSpPr/>
            <p:nvPr/>
          </p:nvGrpSpPr>
          <p:grpSpPr>
            <a:xfrm>
              <a:off x="717" y="384"/>
              <a:ext cx="456" cy="456"/>
              <a:chOff x="717" y="384"/>
              <a:chExt cx="456" cy="456"/>
            </a:xfrm>
          </p:grpSpPr>
          <p:sp>
            <p:nvSpPr>
              <p:cNvPr id="3" name="circle-3"/>
              <p:cNvSpPr>
                <a:spLocks noGrp="1"/>
              </p:cNvSpPr>
              <p:nvPr/>
            </p:nvSpPr>
            <p:spPr>
              <a:xfrm>
                <a:off x="717" y="384"/>
                <a:ext cx="456" cy="456"/>
              </a:xfrm>
              <a:prstGeom prst="ellipse">
                <a:avLst/>
              </a:prstGeom>
              <a:solidFill>
                <a:srgbClr val="2563EB"/>
              </a:solidFill>
              <a:ln w="0">
                <a:noFill/>
                <a:prstDash val="solid"/>
              </a:ln>
            </p:spPr>
          </p:sp>
          <p:sp>
            <p:nvSpPr>
              <p:cNvPr id="219" name="text-97"/>
              <p:cNvSpPr>
                <a:spLocks noGrp="1"/>
              </p:cNvSpPr>
              <p:nvPr/>
            </p:nvSpPr>
            <p:spPr>
              <a:xfrm>
                <a:off x="717" y="384"/>
                <a:ext cx="456" cy="456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lnSpc>
                    <a:spcPct val="100000"/>
                  </a:lnSpc>
                  <a:defRPr sz="1050" b="1">
                    <a:solidFill>
                      <a:srgbClr val="FFFFF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lang="en-US" sz="1800" b="1">
                    <a:solidFill>
                      <a:srgbClr val="FFFFF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1</a:t>
                </a:r>
                <a:endParaRPr lang="en-US" sz="1800" b="1">
                  <a:solidFill>
                    <a:srgbClr val="FFFFF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235" name="组合 234"/>
            <p:cNvGrpSpPr/>
            <p:nvPr/>
          </p:nvGrpSpPr>
          <p:grpSpPr>
            <a:xfrm>
              <a:off x="717" y="5232"/>
              <a:ext cx="456" cy="456"/>
              <a:chOff x="717" y="384"/>
              <a:chExt cx="456" cy="456"/>
            </a:xfrm>
          </p:grpSpPr>
          <p:sp>
            <p:nvSpPr>
              <p:cNvPr id="252" name="circle-3"/>
              <p:cNvSpPr>
                <a:spLocks noGrp="1"/>
              </p:cNvSpPr>
              <p:nvPr/>
            </p:nvSpPr>
            <p:spPr>
              <a:xfrm>
                <a:off x="717" y="384"/>
                <a:ext cx="456" cy="456"/>
              </a:xfrm>
              <a:prstGeom prst="ellipse">
                <a:avLst/>
              </a:prstGeom>
              <a:solidFill>
                <a:srgbClr val="10B980"/>
              </a:solidFill>
              <a:ln w="0">
                <a:noFill/>
                <a:prstDash val="solid"/>
              </a:ln>
            </p:spPr>
            <p:txBody>
              <a:bodyPr/>
              <a:p>
                <a:endParaRPr lang="zh-CN" altLang="en-US"/>
              </a:p>
            </p:txBody>
          </p:sp>
          <p:sp>
            <p:nvSpPr>
              <p:cNvPr id="256" name="text-97"/>
              <p:cNvSpPr>
                <a:spLocks noGrp="1"/>
              </p:cNvSpPr>
              <p:nvPr/>
            </p:nvSpPr>
            <p:spPr>
              <a:xfrm>
                <a:off x="717" y="384"/>
                <a:ext cx="456" cy="456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lnSpc>
                    <a:spcPct val="100000"/>
                  </a:lnSpc>
                  <a:defRPr sz="1050" b="1">
                    <a:solidFill>
                      <a:srgbClr val="FFFFF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lang="en-US" sz="1800" b="1">
                    <a:solidFill>
                      <a:srgbClr val="FFFFF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2</a:t>
                </a:r>
                <a:endParaRPr lang="en-US" sz="1800" b="1">
                  <a:solidFill>
                    <a:srgbClr val="FFFFF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sp>
          <p:nvSpPr>
            <p:cNvPr id="257" name="下箭头 256"/>
            <p:cNvSpPr/>
            <p:nvPr/>
          </p:nvSpPr>
          <p:spPr>
            <a:xfrm>
              <a:off x="11633" y="4408"/>
              <a:ext cx="1020" cy="600"/>
            </a:xfrm>
            <a:prstGeom prst="downArrow">
              <a:avLst/>
            </a:prstGeom>
            <a:solidFill>
              <a:srgbClr val="16653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4514" y="1943"/>
              <a:ext cx="1533" cy="1072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indent="0" fontAlgn="auto">
                <a:lnSpc>
                  <a:spcPct val="150000"/>
                </a:lnSpc>
              </a:pPr>
              <a:r>
                <a:rPr lang="en-US" sz="112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LLM Simulation</a:t>
              </a:r>
              <a:endParaRPr lang="en-US" altLang="zh-CN" b="1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17170" y="1943"/>
              <a:ext cx="1010" cy="57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indent="0" fontAlgn="auto">
                <a:lnSpc>
                  <a:spcPct val="150000"/>
                </a:lnSpc>
              </a:pPr>
              <a:r>
                <a:rPr lang="en-US" sz="112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Merge</a:t>
              </a:r>
              <a:endParaRPr lang="en-US" altLang="zh-CN" b="1"/>
            </a:p>
          </p:txBody>
        </p:sp>
        <p:cxnSp>
          <p:nvCxnSpPr>
            <p:cNvPr id="106" name="直接箭头连接符 105"/>
            <p:cNvCxnSpPr>
              <a:stCxn id="122" idx="3"/>
              <a:endCxn id="124" idx="1"/>
            </p:cNvCxnSpPr>
            <p:nvPr/>
          </p:nvCxnSpPr>
          <p:spPr>
            <a:xfrm flipV="1">
              <a:off x="3978" y="7258"/>
              <a:ext cx="1805" cy="311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12" name="直接箭头连接符 111"/>
            <p:cNvCxnSpPr>
              <a:stCxn id="124" idx="3"/>
              <a:endCxn id="128" idx="1"/>
            </p:cNvCxnSpPr>
            <p:nvPr/>
          </p:nvCxnSpPr>
          <p:spPr>
            <a:xfrm>
              <a:off x="6983" y="7258"/>
              <a:ext cx="3316" cy="305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1" name="直接箭头连接符 180"/>
            <p:cNvCxnSpPr>
              <a:stCxn id="126" idx="3"/>
              <a:endCxn id="128" idx="1"/>
            </p:cNvCxnSpPr>
            <p:nvPr/>
          </p:nvCxnSpPr>
          <p:spPr>
            <a:xfrm flipV="1">
              <a:off x="9468" y="7563"/>
              <a:ext cx="831" cy="516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99" name="直接连接符 298"/>
            <p:cNvCxnSpPr>
              <a:stCxn id="124" idx="2"/>
              <a:endCxn id="142" idx="0"/>
            </p:cNvCxnSpPr>
            <p:nvPr/>
          </p:nvCxnSpPr>
          <p:spPr>
            <a:xfrm flipH="1">
              <a:off x="6371" y="7483"/>
              <a:ext cx="12" cy="1420"/>
            </a:xfrm>
            <a:prstGeom prst="line">
              <a:avLst/>
            </a:prstGeom>
            <a:ln>
              <a:solidFill>
                <a:srgbClr val="60A5FA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263" name="组合 262"/>
            <p:cNvGrpSpPr/>
            <p:nvPr/>
          </p:nvGrpSpPr>
          <p:grpSpPr>
            <a:xfrm rot="0">
              <a:off x="10186" y="8841"/>
              <a:ext cx="781" cy="781"/>
              <a:chOff x="8024" y="10076"/>
              <a:chExt cx="688" cy="688"/>
            </a:xfrm>
          </p:grpSpPr>
          <p:sp>
            <p:nvSpPr>
              <p:cNvPr id="146" name="circle-133"/>
              <p:cNvSpPr>
                <a:spLocks noGrp="1"/>
              </p:cNvSpPr>
              <p:nvPr/>
            </p:nvSpPr>
            <p:spPr>
              <a:xfrm>
                <a:off x="8024" y="10076"/>
                <a:ext cx="688" cy="688"/>
              </a:xfrm>
              <a:prstGeom prst="ellipse">
                <a:avLst/>
              </a:prstGeom>
              <a:solidFill>
                <a:srgbClr val="FEE2E2"/>
              </a:solidFill>
              <a:ln w="20955">
                <a:solidFill>
                  <a:srgbClr val="EF4444"/>
                </a:solidFill>
                <a:prstDash val="solid"/>
              </a:ln>
            </p:spPr>
          </p:sp>
          <p:sp>
            <p:nvSpPr>
              <p:cNvPr id="147" name="text-134"/>
              <p:cNvSpPr>
                <a:spLocks noGrp="1"/>
              </p:cNvSpPr>
              <p:nvPr/>
            </p:nvSpPr>
            <p:spPr>
              <a:xfrm>
                <a:off x="8118" y="10289"/>
                <a:ext cx="540" cy="228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750" b="1">
                    <a:solidFill>
                      <a:srgbClr val="991B1B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1200" b="1">
                    <a:solidFill>
                      <a:srgbClr val="991B1B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STOP</a:t>
                </a:r>
                <a:endParaRPr sz="1200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271" name="组合 270"/>
            <p:cNvGrpSpPr/>
            <p:nvPr/>
          </p:nvGrpSpPr>
          <p:grpSpPr>
            <a:xfrm rot="0">
              <a:off x="2874" y="8877"/>
              <a:ext cx="1144" cy="1098"/>
              <a:chOff x="2136" y="10098"/>
              <a:chExt cx="1008" cy="968"/>
            </a:xfrm>
          </p:grpSpPr>
          <p:sp>
            <p:nvSpPr>
              <p:cNvPr id="138" name="circle-125"/>
              <p:cNvSpPr>
                <a:spLocks noGrp="1"/>
              </p:cNvSpPr>
              <p:nvPr/>
            </p:nvSpPr>
            <p:spPr>
              <a:xfrm>
                <a:off x="2325" y="10098"/>
                <a:ext cx="630" cy="630"/>
              </a:xfrm>
              <a:prstGeom prst="ellipse">
                <a:avLst/>
              </a:prstGeom>
              <a:solidFill>
                <a:srgbClr val="DCFCE7"/>
              </a:solidFill>
              <a:ln w="20955">
                <a:solidFill>
                  <a:srgbClr val="22C55E"/>
                </a:solidFill>
                <a:prstDash val="solid"/>
              </a:ln>
            </p:spPr>
          </p:sp>
          <p:sp>
            <p:nvSpPr>
              <p:cNvPr id="139" name="text-126"/>
              <p:cNvSpPr>
                <a:spLocks noGrp="1"/>
              </p:cNvSpPr>
              <p:nvPr/>
            </p:nvSpPr>
            <p:spPr>
              <a:xfrm>
                <a:off x="2465" y="10269"/>
                <a:ext cx="390" cy="274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900" b="1">
                    <a:solidFill>
                      <a:srgbClr val="166534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1200" b="1">
                    <a:solidFill>
                      <a:srgbClr val="166534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t1</a:t>
                </a:r>
                <a:endParaRPr sz="12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159" name="text-139"/>
              <p:cNvSpPr>
                <a:spLocks noGrp="1"/>
              </p:cNvSpPr>
              <p:nvPr/>
            </p:nvSpPr>
            <p:spPr>
              <a:xfrm>
                <a:off x="2136" y="10815"/>
                <a:ext cx="1008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825" b="1">
                    <a:solidFill>
                      <a:srgbClr val="166534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1200" b="1">
                    <a:solidFill>
                      <a:srgbClr val="166534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get time</a:t>
                </a:r>
                <a:endParaRPr sz="12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285" name="组合 284"/>
            <p:cNvGrpSpPr/>
            <p:nvPr/>
          </p:nvGrpSpPr>
          <p:grpSpPr>
            <a:xfrm rot="0">
              <a:off x="4718" y="8903"/>
              <a:ext cx="648" cy="1064"/>
              <a:chOff x="4740" y="10128"/>
              <a:chExt cx="571" cy="938"/>
            </a:xfrm>
          </p:grpSpPr>
          <p:sp>
            <p:nvSpPr>
              <p:cNvPr id="140" name="circle-127"/>
              <p:cNvSpPr>
                <a:spLocks noGrp="1"/>
              </p:cNvSpPr>
              <p:nvPr/>
            </p:nvSpPr>
            <p:spPr>
              <a:xfrm>
                <a:off x="4741" y="10128"/>
                <a:ext cx="570" cy="570"/>
              </a:xfrm>
              <a:prstGeom prst="ellipse">
                <a:avLst/>
              </a:prstGeom>
              <a:solidFill>
                <a:srgbClr val="EFF6FF"/>
              </a:solidFill>
              <a:ln w="19050">
                <a:solidFill>
                  <a:srgbClr val="60A5FA"/>
                </a:solidFill>
                <a:prstDash val="solid"/>
              </a:ln>
            </p:spPr>
          </p:sp>
          <p:sp>
            <p:nvSpPr>
              <p:cNvPr id="141" name="text-128"/>
              <p:cNvSpPr>
                <a:spLocks noGrp="1"/>
              </p:cNvSpPr>
              <p:nvPr/>
            </p:nvSpPr>
            <p:spPr>
              <a:xfrm>
                <a:off x="4837" y="10284"/>
                <a:ext cx="375" cy="274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9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12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t2</a:t>
                </a:r>
                <a:endParaRPr sz="12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160" name="text-140"/>
              <p:cNvSpPr>
                <a:spLocks noGrp="1"/>
              </p:cNvSpPr>
              <p:nvPr/>
            </p:nvSpPr>
            <p:spPr>
              <a:xfrm>
                <a:off x="4740" y="10815"/>
                <a:ext cx="570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825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lang="en-US" sz="12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prepare</a:t>
                </a:r>
                <a:endParaRPr lang="en-US" sz="12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286" name="组合 285"/>
            <p:cNvGrpSpPr/>
            <p:nvPr/>
          </p:nvGrpSpPr>
          <p:grpSpPr>
            <a:xfrm rot="0">
              <a:off x="6047" y="8903"/>
              <a:ext cx="647" cy="1064"/>
              <a:chOff x="5819" y="10128"/>
              <a:chExt cx="570" cy="938"/>
            </a:xfrm>
          </p:grpSpPr>
          <p:sp>
            <p:nvSpPr>
              <p:cNvPr id="142" name="circle-129"/>
              <p:cNvSpPr>
                <a:spLocks noGrp="1"/>
              </p:cNvSpPr>
              <p:nvPr/>
            </p:nvSpPr>
            <p:spPr>
              <a:xfrm>
                <a:off x="5819" y="10128"/>
                <a:ext cx="570" cy="570"/>
              </a:xfrm>
              <a:prstGeom prst="ellipse">
                <a:avLst/>
              </a:prstGeom>
              <a:solidFill>
                <a:srgbClr val="EFF6FF"/>
              </a:solidFill>
              <a:ln w="19050">
                <a:solidFill>
                  <a:srgbClr val="60A5FA"/>
                </a:solidFill>
                <a:prstDash val="solid"/>
              </a:ln>
            </p:spPr>
          </p:sp>
          <p:sp>
            <p:nvSpPr>
              <p:cNvPr id="143" name="text-130"/>
              <p:cNvSpPr>
                <a:spLocks noGrp="1"/>
              </p:cNvSpPr>
              <p:nvPr/>
            </p:nvSpPr>
            <p:spPr>
              <a:xfrm>
                <a:off x="5877" y="10282"/>
                <a:ext cx="470" cy="274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9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12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t3</a:t>
                </a:r>
                <a:endParaRPr sz="12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161" name="text-141"/>
              <p:cNvSpPr>
                <a:spLocks noGrp="1"/>
              </p:cNvSpPr>
              <p:nvPr/>
            </p:nvSpPr>
            <p:spPr>
              <a:xfrm>
                <a:off x="5819" y="10815"/>
                <a:ext cx="570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825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lang="en-US" sz="12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search</a:t>
                </a:r>
                <a:endParaRPr sz="12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284" name="组合 283"/>
            <p:cNvGrpSpPr/>
            <p:nvPr/>
          </p:nvGrpSpPr>
          <p:grpSpPr>
            <a:xfrm rot="0">
              <a:off x="8552" y="8903"/>
              <a:ext cx="648" cy="1035"/>
              <a:chOff x="7803" y="10128"/>
              <a:chExt cx="571" cy="912"/>
            </a:xfrm>
          </p:grpSpPr>
          <p:sp>
            <p:nvSpPr>
              <p:cNvPr id="144" name="circle-131"/>
              <p:cNvSpPr>
                <a:spLocks noGrp="1"/>
              </p:cNvSpPr>
              <p:nvPr/>
            </p:nvSpPr>
            <p:spPr>
              <a:xfrm>
                <a:off x="7804" y="10128"/>
                <a:ext cx="570" cy="570"/>
              </a:xfrm>
              <a:prstGeom prst="ellipse">
                <a:avLst/>
              </a:prstGeom>
              <a:solidFill>
                <a:srgbClr val="EFF6FF"/>
              </a:solidFill>
              <a:ln w="19050">
                <a:solidFill>
                  <a:srgbClr val="60A5FA"/>
                </a:solidFill>
                <a:prstDash val="solid"/>
              </a:ln>
            </p:spPr>
          </p:sp>
          <p:sp>
            <p:nvSpPr>
              <p:cNvPr id="145" name="text-132"/>
              <p:cNvSpPr>
                <a:spLocks noGrp="1"/>
              </p:cNvSpPr>
              <p:nvPr/>
            </p:nvSpPr>
            <p:spPr>
              <a:xfrm>
                <a:off x="7913" y="10284"/>
                <a:ext cx="352" cy="274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9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lang="en-US" sz="12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tN</a:t>
                </a:r>
                <a:endParaRPr lang="en-US" sz="12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162" name="text-142"/>
              <p:cNvSpPr>
                <a:spLocks noGrp="1"/>
              </p:cNvSpPr>
              <p:nvPr/>
            </p:nvSpPr>
            <p:spPr>
              <a:xfrm>
                <a:off x="7803" y="10815"/>
                <a:ext cx="571" cy="225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825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lang="en-US" sz="12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filter</a:t>
                </a:r>
                <a:endParaRPr lang="en-US" sz="12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272" name="组合 271"/>
            <p:cNvGrpSpPr/>
            <p:nvPr/>
          </p:nvGrpSpPr>
          <p:grpSpPr>
            <a:xfrm rot="0">
              <a:off x="1101" y="8877"/>
              <a:ext cx="1144" cy="1098"/>
              <a:chOff x="2136" y="10098"/>
              <a:chExt cx="1008" cy="968"/>
            </a:xfrm>
          </p:grpSpPr>
          <p:sp>
            <p:nvSpPr>
              <p:cNvPr id="273" name="circle-125"/>
              <p:cNvSpPr>
                <a:spLocks noGrp="1"/>
              </p:cNvSpPr>
              <p:nvPr/>
            </p:nvSpPr>
            <p:spPr>
              <a:xfrm>
                <a:off x="2325" y="10098"/>
                <a:ext cx="630" cy="63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20955">
                <a:solidFill>
                  <a:schemeClr val="bg1">
                    <a:lumMod val="50000"/>
                  </a:schemeClr>
                </a:solidFill>
                <a:prstDash val="solid"/>
              </a:ln>
            </p:spPr>
            <p:txBody>
              <a:bodyPr/>
              <a:p>
                <a:endParaRPr lang="zh-CN" altLang="en-US"/>
              </a:p>
            </p:txBody>
          </p:sp>
          <p:sp>
            <p:nvSpPr>
              <p:cNvPr id="274" name="text-126"/>
              <p:cNvSpPr>
                <a:spLocks noGrp="1"/>
              </p:cNvSpPr>
              <p:nvPr/>
            </p:nvSpPr>
            <p:spPr>
              <a:xfrm>
                <a:off x="2370" y="10269"/>
                <a:ext cx="540" cy="274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900" b="1">
                    <a:solidFill>
                      <a:srgbClr val="166534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lang="en-US" sz="1200" b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start</a:t>
                </a:r>
                <a:endParaRPr lang="en-US" sz="12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275" name="text-139"/>
              <p:cNvSpPr>
                <a:spLocks noGrp="1"/>
              </p:cNvSpPr>
              <p:nvPr/>
            </p:nvSpPr>
            <p:spPr>
              <a:xfrm>
                <a:off x="2136" y="10815"/>
                <a:ext cx="1008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825" b="1">
                    <a:solidFill>
                      <a:srgbClr val="166534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lang="en-US" sz="1200" b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__start__</a:t>
                </a:r>
                <a:endParaRPr lang="en-US" sz="12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grpSp>
          <p:nvGrpSpPr>
            <p:cNvPr id="302" name="组合 301"/>
            <p:cNvGrpSpPr/>
            <p:nvPr/>
          </p:nvGrpSpPr>
          <p:grpSpPr>
            <a:xfrm>
              <a:off x="7254" y="8903"/>
              <a:ext cx="646" cy="646"/>
              <a:chOff x="7254" y="10141"/>
              <a:chExt cx="646" cy="646"/>
            </a:xfrm>
          </p:grpSpPr>
          <p:sp>
            <p:nvSpPr>
              <p:cNvPr id="281" name="circle-131"/>
              <p:cNvSpPr>
                <a:spLocks noGrp="1"/>
              </p:cNvSpPr>
              <p:nvPr/>
            </p:nvSpPr>
            <p:spPr>
              <a:xfrm>
                <a:off x="7254" y="10141"/>
                <a:ext cx="647" cy="647"/>
              </a:xfrm>
              <a:prstGeom prst="ellipse">
                <a:avLst/>
              </a:prstGeom>
              <a:solidFill>
                <a:srgbClr val="EFF6FF"/>
              </a:solidFill>
              <a:ln w="19050">
                <a:solidFill>
                  <a:srgbClr val="60A5FA"/>
                </a:solidFill>
                <a:prstDash val="solid"/>
              </a:ln>
            </p:spPr>
          </p:sp>
          <p:sp>
            <p:nvSpPr>
              <p:cNvPr id="282" name="text-132"/>
              <p:cNvSpPr>
                <a:spLocks noGrp="1"/>
              </p:cNvSpPr>
              <p:nvPr/>
            </p:nvSpPr>
            <p:spPr>
              <a:xfrm>
                <a:off x="7334" y="10316"/>
                <a:ext cx="517" cy="31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>
                <a:noAutofit/>
              </a:bodyPr>
              <a:lstStyle/>
              <a:p>
                <a:pPr algn="ctr">
                  <a:defRPr sz="9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lang="en-US" sz="900" b="1">
                    <a:solidFill>
                      <a:srgbClr val="1E40AF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……</a:t>
                </a:r>
                <a:endParaRPr lang="en-US" sz="9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cxnSp>
          <p:nvCxnSpPr>
            <p:cNvPr id="288" name="直接箭头连接符 287"/>
            <p:cNvCxnSpPr/>
            <p:nvPr/>
          </p:nvCxnSpPr>
          <p:spPr>
            <a:xfrm>
              <a:off x="2031" y="9235"/>
              <a:ext cx="1058" cy="0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89" name="直接箭头连接符 288"/>
            <p:cNvCxnSpPr>
              <a:endCxn id="140" idx="2"/>
            </p:cNvCxnSpPr>
            <p:nvPr/>
          </p:nvCxnSpPr>
          <p:spPr>
            <a:xfrm flipV="1">
              <a:off x="3804" y="9227"/>
              <a:ext cx="915" cy="8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90" name="直接箭头连接符 289"/>
            <p:cNvCxnSpPr>
              <a:stCxn id="140" idx="6"/>
              <a:endCxn id="142" idx="2"/>
            </p:cNvCxnSpPr>
            <p:nvPr/>
          </p:nvCxnSpPr>
          <p:spPr>
            <a:xfrm>
              <a:off x="5366" y="9227"/>
              <a:ext cx="681" cy="0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91" name="直接箭头连接符 290"/>
            <p:cNvCxnSpPr/>
            <p:nvPr/>
          </p:nvCxnSpPr>
          <p:spPr>
            <a:xfrm>
              <a:off x="6768" y="9227"/>
              <a:ext cx="486" cy="0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92" name="直接箭头连接符 291"/>
            <p:cNvCxnSpPr>
              <a:endCxn id="144" idx="2"/>
            </p:cNvCxnSpPr>
            <p:nvPr/>
          </p:nvCxnSpPr>
          <p:spPr>
            <a:xfrm>
              <a:off x="7901" y="9227"/>
              <a:ext cx="652" cy="0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93" name="直接箭头连接符 292"/>
            <p:cNvCxnSpPr>
              <a:stCxn id="144" idx="6"/>
            </p:cNvCxnSpPr>
            <p:nvPr/>
          </p:nvCxnSpPr>
          <p:spPr>
            <a:xfrm>
              <a:off x="9200" y="9227"/>
              <a:ext cx="986" cy="5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98" name="直接连接符 297"/>
            <p:cNvCxnSpPr>
              <a:stCxn id="122" idx="2"/>
              <a:endCxn id="138" idx="0"/>
            </p:cNvCxnSpPr>
            <p:nvPr/>
          </p:nvCxnSpPr>
          <p:spPr>
            <a:xfrm flipH="1">
              <a:off x="3447" y="7854"/>
              <a:ext cx="6" cy="1023"/>
            </a:xfrm>
            <a:prstGeom prst="line">
              <a:avLst/>
            </a:prstGeom>
            <a:ln>
              <a:solidFill>
                <a:srgbClr val="22C55E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7" name="直接箭头连接符 106"/>
            <p:cNvCxnSpPr>
              <a:stCxn id="122" idx="3"/>
              <a:endCxn id="126" idx="1"/>
            </p:cNvCxnSpPr>
            <p:nvPr/>
          </p:nvCxnSpPr>
          <p:spPr>
            <a:xfrm>
              <a:off x="3978" y="7569"/>
              <a:ext cx="4290" cy="510"/>
            </a:xfrm>
            <a:prstGeom prst="straightConnector1">
              <a:avLst/>
            </a:prstGeom>
            <a:ln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00" name="直接连接符 299"/>
            <p:cNvCxnSpPr/>
            <p:nvPr/>
          </p:nvCxnSpPr>
          <p:spPr>
            <a:xfrm>
              <a:off x="8868" y="8304"/>
              <a:ext cx="9" cy="599"/>
            </a:xfrm>
            <a:prstGeom prst="line">
              <a:avLst/>
            </a:prstGeom>
            <a:ln>
              <a:solidFill>
                <a:srgbClr val="22C55E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05" name="rect-112"/>
            <p:cNvSpPr>
              <a:spLocks noGrp="1"/>
            </p:cNvSpPr>
            <p:nvPr/>
          </p:nvSpPr>
          <p:spPr>
            <a:xfrm>
              <a:off x="1342" y="10698"/>
              <a:ext cx="2111" cy="1309"/>
            </a:xfrm>
            <a:prstGeom prst="roundRect">
              <a:avLst>
                <a:gd name="adj" fmla="val 8096"/>
              </a:avLst>
            </a:prstGeom>
            <a:solidFill>
              <a:srgbClr val="DCFCE7"/>
            </a:solidFill>
            <a:ln w="15240">
              <a:solidFill>
                <a:srgbClr val="22C55E"/>
              </a:solidFill>
              <a:prstDash val="solid"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306" name="text-113"/>
            <p:cNvSpPr>
              <a:spLocks noGrp="1"/>
            </p:cNvSpPr>
            <p:nvPr/>
          </p:nvSpPr>
          <p:spPr>
            <a:xfrm>
              <a:off x="1447" y="10777"/>
              <a:ext cx="2022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2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Start→M0:  Pass</a:t>
              </a:r>
              <a:endParaRPr lang="zh-CN" altLang="en-US" sz="1200" b="1">
                <a:solidFill>
                  <a:srgbClr val="166534"/>
                </a:solidFill>
                <a:latin typeface="Segoe UI" panose="020B0502040204020203"/>
                <a:ea typeface="宋体" panose="02010600030101010101" pitchFamily="2" charset="-122"/>
                <a:cs typeface="Segoe UI" panose="020B0502040204020203"/>
              </a:endParaRPr>
            </a:p>
          </p:txBody>
        </p:sp>
        <p:grpSp>
          <p:nvGrpSpPr>
            <p:cNvPr id="321" name="组合 320"/>
            <p:cNvGrpSpPr/>
            <p:nvPr/>
          </p:nvGrpSpPr>
          <p:grpSpPr>
            <a:xfrm>
              <a:off x="1431" y="11073"/>
              <a:ext cx="1877" cy="904"/>
              <a:chOff x="1341" y="11696"/>
              <a:chExt cx="1877" cy="904"/>
            </a:xfrm>
          </p:grpSpPr>
          <p:sp>
            <p:nvSpPr>
              <p:cNvPr id="307" name="text-210"/>
              <p:cNvSpPr>
                <a:spLocks noGrp="1"/>
              </p:cNvSpPr>
              <p:nvPr/>
            </p:nvSpPr>
            <p:spPr>
              <a:xfrm>
                <a:off x="1350" y="11696"/>
                <a:ext cx="955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l">
                  <a:defRPr sz="825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800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Correctness</a:t>
                </a:r>
                <a:endParaRPr sz="8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308" name="rect-211"/>
              <p:cNvSpPr>
                <a:spLocks noGrp="1"/>
              </p:cNvSpPr>
              <p:nvPr/>
            </p:nvSpPr>
            <p:spPr>
              <a:xfrm>
                <a:off x="2262" y="11775"/>
                <a:ext cx="956" cy="135"/>
              </a:xfrm>
              <a:prstGeom prst="roundRect">
                <a:avLst>
                  <a:gd name="adj" fmla="val 50000"/>
                </a:avLst>
              </a:prstGeom>
              <a:solidFill>
                <a:srgbClr val="BFDBFE"/>
              </a:solidFill>
              <a:ln w="0">
                <a:noFill/>
                <a:prstDash val="solid"/>
              </a:ln>
            </p:spPr>
          </p:sp>
          <p:sp>
            <p:nvSpPr>
              <p:cNvPr id="309" name="rect-212"/>
              <p:cNvSpPr>
                <a:spLocks noGrp="1"/>
              </p:cNvSpPr>
              <p:nvPr/>
            </p:nvSpPr>
            <p:spPr>
              <a:xfrm>
                <a:off x="2262" y="11775"/>
                <a:ext cx="854" cy="135"/>
              </a:xfrm>
              <a:prstGeom prst="roundRect">
                <a:avLst>
                  <a:gd name="adj" fmla="val 50000"/>
                </a:avLst>
              </a:prstGeom>
              <a:solidFill>
                <a:srgbClr val="3B82F6"/>
              </a:solidFill>
              <a:ln w="0">
                <a:noFill/>
                <a:prstDash val="solid"/>
              </a:ln>
            </p:spPr>
          </p:sp>
          <p:sp>
            <p:nvSpPr>
              <p:cNvPr id="310" name="text-213"/>
              <p:cNvSpPr>
                <a:spLocks noGrp="1"/>
              </p:cNvSpPr>
              <p:nvPr/>
            </p:nvSpPr>
            <p:spPr>
              <a:xfrm>
                <a:off x="1351" y="11923"/>
                <a:ext cx="954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l">
                  <a:defRPr sz="825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800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Efficiency</a:t>
                </a:r>
                <a:endParaRPr sz="8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311" name="rect-214"/>
              <p:cNvSpPr>
                <a:spLocks noGrp="1"/>
              </p:cNvSpPr>
              <p:nvPr/>
            </p:nvSpPr>
            <p:spPr>
              <a:xfrm>
                <a:off x="2262" y="11990"/>
                <a:ext cx="956" cy="135"/>
              </a:xfrm>
              <a:prstGeom prst="roundRect">
                <a:avLst>
                  <a:gd name="adj" fmla="val 50000"/>
                </a:avLst>
              </a:prstGeom>
              <a:solidFill>
                <a:srgbClr val="A7F3D0"/>
              </a:solidFill>
              <a:ln w="0">
                <a:noFill/>
                <a:prstDash val="solid"/>
              </a:ln>
            </p:spPr>
          </p:sp>
          <p:sp>
            <p:nvSpPr>
              <p:cNvPr id="312" name="rect-215"/>
              <p:cNvSpPr>
                <a:spLocks noGrp="1"/>
              </p:cNvSpPr>
              <p:nvPr/>
            </p:nvSpPr>
            <p:spPr>
              <a:xfrm>
                <a:off x="2262" y="11990"/>
                <a:ext cx="696" cy="135"/>
              </a:xfrm>
              <a:prstGeom prst="roundRect">
                <a:avLst>
                  <a:gd name="adj" fmla="val 50000"/>
                </a:avLst>
              </a:prstGeom>
              <a:solidFill>
                <a:srgbClr val="059669"/>
              </a:solidFill>
              <a:ln w="0">
                <a:noFill/>
                <a:prstDash val="solid"/>
              </a:ln>
            </p:spPr>
          </p:sp>
          <p:sp>
            <p:nvSpPr>
              <p:cNvPr id="313" name="text-216"/>
              <p:cNvSpPr>
                <a:spLocks noGrp="1"/>
              </p:cNvSpPr>
              <p:nvPr/>
            </p:nvSpPr>
            <p:spPr>
              <a:xfrm>
                <a:off x="1341" y="12149"/>
                <a:ext cx="954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l">
                  <a:defRPr sz="825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800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Safety</a:t>
                </a:r>
                <a:endParaRPr sz="8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315" name="rect-217"/>
              <p:cNvSpPr>
                <a:spLocks noGrp="1"/>
              </p:cNvSpPr>
              <p:nvPr/>
            </p:nvSpPr>
            <p:spPr>
              <a:xfrm>
                <a:off x="2253" y="12206"/>
                <a:ext cx="956" cy="135"/>
              </a:xfrm>
              <a:prstGeom prst="roundRect">
                <a:avLst>
                  <a:gd name="adj" fmla="val 50000"/>
                </a:avLst>
              </a:prstGeom>
              <a:solidFill>
                <a:srgbClr val="FECACA"/>
              </a:solidFill>
              <a:ln w="0">
                <a:noFill/>
                <a:prstDash val="solid"/>
              </a:ln>
            </p:spPr>
          </p:sp>
          <p:sp>
            <p:nvSpPr>
              <p:cNvPr id="316" name="rect-218"/>
              <p:cNvSpPr>
                <a:spLocks noGrp="1"/>
              </p:cNvSpPr>
              <p:nvPr/>
            </p:nvSpPr>
            <p:spPr>
              <a:xfrm>
                <a:off x="2253" y="12206"/>
                <a:ext cx="860" cy="135"/>
              </a:xfrm>
              <a:prstGeom prst="roundRect">
                <a:avLst>
                  <a:gd name="adj" fmla="val 50000"/>
                </a:avLst>
              </a:prstGeom>
              <a:solidFill>
                <a:srgbClr val="DC2626"/>
              </a:solidFill>
              <a:ln w="0">
                <a:noFill/>
                <a:prstDash val="solid"/>
              </a:ln>
            </p:spPr>
          </p:sp>
          <p:sp>
            <p:nvSpPr>
              <p:cNvPr id="320" name="text-216"/>
              <p:cNvSpPr>
                <a:spLocks noGrp="1"/>
              </p:cNvSpPr>
              <p:nvPr/>
            </p:nvSpPr>
            <p:spPr>
              <a:xfrm>
                <a:off x="1342" y="12349"/>
                <a:ext cx="1875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ctr">
                  <a:defRPr sz="825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lang="en-US" sz="800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……</a:t>
                </a:r>
                <a:endParaRPr lang="en-US" sz="8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sp>
          <p:nvSpPr>
            <p:cNvPr id="322" name="rect-112"/>
            <p:cNvSpPr>
              <a:spLocks noGrp="1"/>
            </p:cNvSpPr>
            <p:nvPr/>
          </p:nvSpPr>
          <p:spPr>
            <a:xfrm>
              <a:off x="3601" y="11158"/>
              <a:ext cx="2788" cy="1309"/>
            </a:xfrm>
            <a:prstGeom prst="roundRect">
              <a:avLst>
                <a:gd name="adj" fmla="val 8096"/>
              </a:avLst>
            </a:prstGeom>
            <a:solidFill>
              <a:srgbClr val="EFF6FF"/>
            </a:solidFill>
            <a:ln w="13335">
              <a:solidFill>
                <a:srgbClr val="60A5FA"/>
              </a:solidFill>
              <a:prstDash val="solid"/>
            </a:ln>
          </p:spPr>
        </p:sp>
        <p:sp>
          <p:nvSpPr>
            <p:cNvPr id="323" name="text-113"/>
            <p:cNvSpPr>
              <a:spLocks noGrp="1"/>
            </p:cNvSpPr>
            <p:nvPr/>
          </p:nvSpPr>
          <p:spPr>
            <a:xfrm>
              <a:off x="3722" y="11204"/>
              <a:ext cx="1875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2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M0→M1a:  Pass</a:t>
              </a:r>
              <a:endParaRPr lang="en-US" altLang="en-US" sz="1200" b="1">
                <a:solidFill>
                  <a:srgbClr val="1E40A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grpSp>
          <p:nvGrpSpPr>
            <p:cNvPr id="324" name="组合 323"/>
            <p:cNvGrpSpPr/>
            <p:nvPr/>
          </p:nvGrpSpPr>
          <p:grpSpPr>
            <a:xfrm>
              <a:off x="3713" y="11533"/>
              <a:ext cx="1877" cy="904"/>
              <a:chOff x="1341" y="11696"/>
              <a:chExt cx="1877" cy="904"/>
            </a:xfrm>
          </p:grpSpPr>
          <p:sp>
            <p:nvSpPr>
              <p:cNvPr id="325" name="text-210"/>
              <p:cNvSpPr>
                <a:spLocks noGrp="1"/>
              </p:cNvSpPr>
              <p:nvPr/>
            </p:nvSpPr>
            <p:spPr>
              <a:xfrm>
                <a:off x="1350" y="11696"/>
                <a:ext cx="955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l">
                  <a:defRPr sz="825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800" b="1">
                    <a:solidFill>
                      <a:srgbClr val="C00000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Correctness</a:t>
                </a:r>
                <a:endParaRPr sz="800" b="1">
                  <a:solidFill>
                    <a:srgbClr val="C00000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326" name="rect-211"/>
              <p:cNvSpPr>
                <a:spLocks noGrp="1"/>
              </p:cNvSpPr>
              <p:nvPr/>
            </p:nvSpPr>
            <p:spPr>
              <a:xfrm>
                <a:off x="2262" y="11775"/>
                <a:ext cx="956" cy="135"/>
              </a:xfrm>
              <a:prstGeom prst="roundRect">
                <a:avLst>
                  <a:gd name="adj" fmla="val 50000"/>
                </a:avLst>
              </a:prstGeom>
              <a:solidFill>
                <a:srgbClr val="BFDBFE"/>
              </a:solidFill>
              <a:ln w="0">
                <a:noFill/>
                <a:prstDash val="solid"/>
              </a:ln>
            </p:spPr>
          </p:sp>
          <p:sp>
            <p:nvSpPr>
              <p:cNvPr id="327" name="rect-212"/>
              <p:cNvSpPr>
                <a:spLocks noGrp="1"/>
              </p:cNvSpPr>
              <p:nvPr/>
            </p:nvSpPr>
            <p:spPr>
              <a:xfrm>
                <a:off x="2262" y="11775"/>
                <a:ext cx="580" cy="135"/>
              </a:xfrm>
              <a:prstGeom prst="roundRect">
                <a:avLst>
                  <a:gd name="adj" fmla="val 50000"/>
                </a:avLst>
              </a:prstGeom>
              <a:solidFill>
                <a:srgbClr val="3B82F6"/>
              </a:solidFill>
              <a:ln w="0">
                <a:noFill/>
                <a:prstDash val="solid"/>
              </a:ln>
            </p:spPr>
          </p:sp>
          <p:sp>
            <p:nvSpPr>
              <p:cNvPr id="328" name="text-213"/>
              <p:cNvSpPr>
                <a:spLocks noGrp="1"/>
              </p:cNvSpPr>
              <p:nvPr/>
            </p:nvSpPr>
            <p:spPr>
              <a:xfrm>
                <a:off x="1351" y="11923"/>
                <a:ext cx="954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l">
                  <a:defRPr sz="825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800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Efficiency</a:t>
                </a:r>
                <a:endParaRPr sz="8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329" name="rect-214"/>
              <p:cNvSpPr>
                <a:spLocks noGrp="1"/>
              </p:cNvSpPr>
              <p:nvPr/>
            </p:nvSpPr>
            <p:spPr>
              <a:xfrm>
                <a:off x="2262" y="11990"/>
                <a:ext cx="956" cy="135"/>
              </a:xfrm>
              <a:prstGeom prst="roundRect">
                <a:avLst>
                  <a:gd name="adj" fmla="val 50000"/>
                </a:avLst>
              </a:prstGeom>
              <a:solidFill>
                <a:srgbClr val="A7F3D0"/>
              </a:solidFill>
              <a:ln w="0">
                <a:noFill/>
                <a:prstDash val="solid"/>
              </a:ln>
            </p:spPr>
          </p:sp>
          <p:sp>
            <p:nvSpPr>
              <p:cNvPr id="330" name="rect-215"/>
              <p:cNvSpPr>
                <a:spLocks noGrp="1"/>
              </p:cNvSpPr>
              <p:nvPr/>
            </p:nvSpPr>
            <p:spPr>
              <a:xfrm>
                <a:off x="2262" y="11990"/>
                <a:ext cx="866" cy="135"/>
              </a:xfrm>
              <a:prstGeom prst="roundRect">
                <a:avLst>
                  <a:gd name="adj" fmla="val 50000"/>
                </a:avLst>
              </a:prstGeom>
              <a:solidFill>
                <a:srgbClr val="059669"/>
              </a:solidFill>
              <a:ln w="0">
                <a:noFill/>
                <a:prstDash val="solid"/>
              </a:ln>
            </p:spPr>
          </p:sp>
          <p:sp>
            <p:nvSpPr>
              <p:cNvPr id="331" name="text-216"/>
              <p:cNvSpPr>
                <a:spLocks noGrp="1"/>
              </p:cNvSpPr>
              <p:nvPr/>
            </p:nvSpPr>
            <p:spPr>
              <a:xfrm>
                <a:off x="1341" y="12149"/>
                <a:ext cx="954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l">
                  <a:defRPr sz="825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800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Safety</a:t>
                </a:r>
                <a:endParaRPr sz="8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332" name="rect-217"/>
              <p:cNvSpPr>
                <a:spLocks noGrp="1"/>
              </p:cNvSpPr>
              <p:nvPr/>
            </p:nvSpPr>
            <p:spPr>
              <a:xfrm>
                <a:off x="2253" y="12206"/>
                <a:ext cx="956" cy="135"/>
              </a:xfrm>
              <a:prstGeom prst="roundRect">
                <a:avLst>
                  <a:gd name="adj" fmla="val 50000"/>
                </a:avLst>
              </a:prstGeom>
              <a:solidFill>
                <a:srgbClr val="FECACA"/>
              </a:solidFill>
              <a:ln w="0">
                <a:noFill/>
                <a:prstDash val="solid"/>
              </a:ln>
            </p:spPr>
          </p:sp>
          <p:sp>
            <p:nvSpPr>
              <p:cNvPr id="333" name="rect-218"/>
              <p:cNvSpPr>
                <a:spLocks noGrp="1"/>
              </p:cNvSpPr>
              <p:nvPr/>
            </p:nvSpPr>
            <p:spPr>
              <a:xfrm>
                <a:off x="2253" y="12206"/>
                <a:ext cx="781" cy="135"/>
              </a:xfrm>
              <a:prstGeom prst="roundRect">
                <a:avLst>
                  <a:gd name="adj" fmla="val 50000"/>
                </a:avLst>
              </a:prstGeom>
              <a:solidFill>
                <a:srgbClr val="DC2626"/>
              </a:solidFill>
              <a:ln w="0">
                <a:noFill/>
                <a:prstDash val="solid"/>
              </a:ln>
            </p:spPr>
          </p:sp>
          <p:sp>
            <p:nvSpPr>
              <p:cNvPr id="334" name="text-216"/>
              <p:cNvSpPr>
                <a:spLocks noGrp="1"/>
              </p:cNvSpPr>
              <p:nvPr/>
            </p:nvSpPr>
            <p:spPr>
              <a:xfrm>
                <a:off x="1342" y="12349"/>
                <a:ext cx="1875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ctr">
                  <a:defRPr sz="825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lang="en-US" sz="800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……</a:t>
                </a:r>
                <a:endParaRPr lang="en-US" sz="8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sp>
          <p:nvSpPr>
            <p:cNvPr id="337" name="rect-112"/>
            <p:cNvSpPr>
              <a:spLocks noGrp="1"/>
            </p:cNvSpPr>
            <p:nvPr/>
          </p:nvSpPr>
          <p:spPr>
            <a:xfrm>
              <a:off x="3601" y="12693"/>
              <a:ext cx="5267" cy="1309"/>
            </a:xfrm>
            <a:prstGeom prst="roundRect">
              <a:avLst>
                <a:gd name="adj" fmla="val 8096"/>
              </a:avLst>
            </a:prstGeom>
            <a:solidFill>
              <a:srgbClr val="FEE2E2"/>
            </a:solidFill>
            <a:ln w="20955">
              <a:solidFill>
                <a:srgbClr val="EF4444"/>
              </a:solidFill>
              <a:prstDash val="solid"/>
            </a:ln>
          </p:spPr>
        </p:sp>
        <p:sp>
          <p:nvSpPr>
            <p:cNvPr id="338" name="text-113"/>
            <p:cNvSpPr>
              <a:spLocks noGrp="1"/>
            </p:cNvSpPr>
            <p:nvPr/>
          </p:nvSpPr>
          <p:spPr>
            <a:xfrm>
              <a:off x="3723" y="12739"/>
              <a:ext cx="1875" cy="29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>
              <a:noAutofit/>
            </a:bodyPr>
            <a:lstStyle/>
            <a:p>
              <a:pPr algn="l">
                <a:defRPr sz="975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200" b="1">
                  <a:solidFill>
                    <a:srgbClr val="C00000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M0→M1b:  Fail</a:t>
              </a:r>
              <a:endParaRPr lang="en-US" altLang="en-US" sz="1200" b="1">
                <a:solidFill>
                  <a:srgbClr val="C00000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cxnSp>
          <p:nvCxnSpPr>
            <p:cNvPr id="350" name="直接连接符 349"/>
            <p:cNvCxnSpPr/>
            <p:nvPr/>
          </p:nvCxnSpPr>
          <p:spPr>
            <a:xfrm>
              <a:off x="8870" y="9995"/>
              <a:ext cx="7" cy="2768"/>
            </a:xfrm>
            <a:prstGeom prst="line">
              <a:avLst/>
            </a:prstGeom>
            <a:ln>
              <a:solidFill>
                <a:srgbClr val="22C55E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339" name="组合 338"/>
            <p:cNvGrpSpPr/>
            <p:nvPr/>
          </p:nvGrpSpPr>
          <p:grpSpPr>
            <a:xfrm>
              <a:off x="3714" y="13068"/>
              <a:ext cx="1877" cy="904"/>
              <a:chOff x="1341" y="11696"/>
              <a:chExt cx="1877" cy="904"/>
            </a:xfrm>
          </p:grpSpPr>
          <p:sp>
            <p:nvSpPr>
              <p:cNvPr id="340" name="text-210"/>
              <p:cNvSpPr>
                <a:spLocks noGrp="1"/>
              </p:cNvSpPr>
              <p:nvPr/>
            </p:nvSpPr>
            <p:spPr>
              <a:xfrm>
                <a:off x="1350" y="11696"/>
                <a:ext cx="955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l">
                  <a:defRPr sz="825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800" b="1">
                    <a:solidFill>
                      <a:srgbClr val="C00000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Correctness</a:t>
                </a:r>
                <a:endParaRPr sz="800" b="1">
                  <a:solidFill>
                    <a:srgbClr val="C00000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341" name="rect-211"/>
              <p:cNvSpPr>
                <a:spLocks noGrp="1"/>
              </p:cNvSpPr>
              <p:nvPr/>
            </p:nvSpPr>
            <p:spPr>
              <a:xfrm>
                <a:off x="2262" y="11775"/>
                <a:ext cx="956" cy="135"/>
              </a:xfrm>
              <a:prstGeom prst="roundRect">
                <a:avLst>
                  <a:gd name="adj" fmla="val 50000"/>
                </a:avLst>
              </a:prstGeom>
              <a:solidFill>
                <a:srgbClr val="BFDBFE"/>
              </a:solidFill>
              <a:ln w="0">
                <a:noFill/>
                <a:prstDash val="solid"/>
              </a:ln>
            </p:spPr>
          </p:sp>
          <p:sp>
            <p:nvSpPr>
              <p:cNvPr id="342" name="rect-212"/>
              <p:cNvSpPr>
                <a:spLocks noGrp="1"/>
              </p:cNvSpPr>
              <p:nvPr/>
            </p:nvSpPr>
            <p:spPr>
              <a:xfrm>
                <a:off x="2262" y="11775"/>
                <a:ext cx="454" cy="135"/>
              </a:xfrm>
              <a:prstGeom prst="roundRect">
                <a:avLst>
                  <a:gd name="adj" fmla="val 50000"/>
                </a:avLst>
              </a:prstGeom>
              <a:solidFill>
                <a:srgbClr val="3B82F6"/>
              </a:solidFill>
              <a:ln w="0">
                <a:noFill/>
                <a:prstDash val="solid"/>
              </a:ln>
            </p:spPr>
          </p:sp>
          <p:sp>
            <p:nvSpPr>
              <p:cNvPr id="343" name="text-213"/>
              <p:cNvSpPr>
                <a:spLocks noGrp="1"/>
              </p:cNvSpPr>
              <p:nvPr/>
            </p:nvSpPr>
            <p:spPr>
              <a:xfrm>
                <a:off x="1351" y="11923"/>
                <a:ext cx="954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l">
                  <a:defRPr sz="825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800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Efficiency</a:t>
                </a:r>
                <a:endParaRPr sz="8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344" name="rect-214"/>
              <p:cNvSpPr>
                <a:spLocks noGrp="1"/>
              </p:cNvSpPr>
              <p:nvPr/>
            </p:nvSpPr>
            <p:spPr>
              <a:xfrm>
                <a:off x="2262" y="11990"/>
                <a:ext cx="956" cy="135"/>
              </a:xfrm>
              <a:prstGeom prst="roundRect">
                <a:avLst>
                  <a:gd name="adj" fmla="val 50000"/>
                </a:avLst>
              </a:prstGeom>
              <a:solidFill>
                <a:srgbClr val="A7F3D0"/>
              </a:solidFill>
              <a:ln w="0">
                <a:noFill/>
                <a:prstDash val="solid"/>
              </a:ln>
            </p:spPr>
          </p:sp>
          <p:sp>
            <p:nvSpPr>
              <p:cNvPr id="345" name="rect-215"/>
              <p:cNvSpPr>
                <a:spLocks noGrp="1"/>
              </p:cNvSpPr>
              <p:nvPr/>
            </p:nvSpPr>
            <p:spPr>
              <a:xfrm>
                <a:off x="2262" y="11990"/>
                <a:ext cx="551" cy="135"/>
              </a:xfrm>
              <a:prstGeom prst="roundRect">
                <a:avLst>
                  <a:gd name="adj" fmla="val 50000"/>
                </a:avLst>
              </a:prstGeom>
              <a:solidFill>
                <a:srgbClr val="059669"/>
              </a:solidFill>
              <a:ln w="0">
                <a:noFill/>
                <a:prstDash val="solid"/>
              </a:ln>
            </p:spPr>
          </p:sp>
          <p:sp>
            <p:nvSpPr>
              <p:cNvPr id="346" name="text-216"/>
              <p:cNvSpPr>
                <a:spLocks noGrp="1"/>
              </p:cNvSpPr>
              <p:nvPr/>
            </p:nvSpPr>
            <p:spPr>
              <a:xfrm>
                <a:off x="1341" y="12149"/>
                <a:ext cx="954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l">
                  <a:defRPr sz="825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sz="800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Safety</a:t>
                </a:r>
                <a:endParaRPr sz="8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  <p:sp>
            <p:nvSpPr>
              <p:cNvPr id="347" name="rect-217"/>
              <p:cNvSpPr>
                <a:spLocks noGrp="1"/>
              </p:cNvSpPr>
              <p:nvPr/>
            </p:nvSpPr>
            <p:spPr>
              <a:xfrm>
                <a:off x="2253" y="12206"/>
                <a:ext cx="956" cy="135"/>
              </a:xfrm>
              <a:prstGeom prst="roundRect">
                <a:avLst>
                  <a:gd name="adj" fmla="val 50000"/>
                </a:avLst>
              </a:prstGeom>
              <a:solidFill>
                <a:srgbClr val="FECACA"/>
              </a:solidFill>
              <a:ln w="0">
                <a:noFill/>
                <a:prstDash val="solid"/>
              </a:ln>
            </p:spPr>
          </p:sp>
          <p:sp>
            <p:nvSpPr>
              <p:cNvPr id="348" name="rect-218"/>
              <p:cNvSpPr>
                <a:spLocks noGrp="1"/>
              </p:cNvSpPr>
              <p:nvPr/>
            </p:nvSpPr>
            <p:spPr>
              <a:xfrm>
                <a:off x="2253" y="12206"/>
                <a:ext cx="846" cy="135"/>
              </a:xfrm>
              <a:prstGeom prst="roundRect">
                <a:avLst>
                  <a:gd name="adj" fmla="val 50000"/>
                </a:avLst>
              </a:prstGeom>
              <a:solidFill>
                <a:srgbClr val="DC2626"/>
              </a:solidFill>
              <a:ln w="0">
                <a:noFill/>
                <a:prstDash val="solid"/>
              </a:ln>
            </p:spPr>
          </p:sp>
          <p:sp>
            <p:nvSpPr>
              <p:cNvPr id="349" name="text-216"/>
              <p:cNvSpPr>
                <a:spLocks noGrp="1"/>
              </p:cNvSpPr>
              <p:nvPr/>
            </p:nvSpPr>
            <p:spPr>
              <a:xfrm>
                <a:off x="1342" y="12349"/>
                <a:ext cx="1875" cy="251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ctr">
                  <a:defRPr sz="825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defRPr>
                </a:pPr>
                <a:r>
                  <a:rPr lang="en-US" sz="800" b="1">
                    <a:solidFill>
                      <a:srgbClr val="475569"/>
                    </a:solidFill>
                    <a:latin typeface="Segoe UI" panose="020B0502040204020203"/>
                    <a:ea typeface="Segoe UI" panose="020B0502040204020203"/>
                    <a:cs typeface="Segoe UI" panose="020B0502040204020203"/>
                  </a:rPr>
                  <a:t>……</a:t>
                </a:r>
                <a:endParaRPr lang="en-US" sz="80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endParaRPr>
              </a:p>
            </p:txBody>
          </p:sp>
        </p:grpSp>
        <p:cxnSp>
          <p:nvCxnSpPr>
            <p:cNvPr id="351" name="直接连接符 350"/>
            <p:cNvCxnSpPr/>
            <p:nvPr/>
          </p:nvCxnSpPr>
          <p:spPr>
            <a:xfrm>
              <a:off x="6371" y="9995"/>
              <a:ext cx="8" cy="1134"/>
            </a:xfrm>
            <a:prstGeom prst="line">
              <a:avLst/>
            </a:prstGeom>
            <a:ln>
              <a:solidFill>
                <a:srgbClr val="60A5FA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52" name="直接连接符 351"/>
            <p:cNvCxnSpPr/>
            <p:nvPr/>
          </p:nvCxnSpPr>
          <p:spPr>
            <a:xfrm>
              <a:off x="3447" y="10020"/>
              <a:ext cx="2" cy="655"/>
            </a:xfrm>
            <a:prstGeom prst="line">
              <a:avLst/>
            </a:prstGeom>
            <a:ln>
              <a:solidFill>
                <a:srgbClr val="22C55E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54" name="曲线连接符 353"/>
            <p:cNvCxnSpPr>
              <a:stCxn id="305" idx="2"/>
            </p:cNvCxnSpPr>
            <p:nvPr/>
          </p:nvCxnSpPr>
          <p:spPr>
            <a:xfrm rot="5400000" flipV="1">
              <a:off x="2875" y="11529"/>
              <a:ext cx="256" cy="1211"/>
            </a:xfrm>
            <a:prstGeom prst="curved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55" name="曲线连接符 354"/>
            <p:cNvCxnSpPr>
              <a:stCxn id="322" idx="3"/>
            </p:cNvCxnSpPr>
            <p:nvPr/>
          </p:nvCxnSpPr>
          <p:spPr>
            <a:xfrm>
              <a:off x="6389" y="11813"/>
              <a:ext cx="735" cy="903"/>
            </a:xfrm>
            <a:prstGeom prst="curved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56" name="文本框 355"/>
            <p:cNvSpPr txBox="1"/>
            <p:nvPr/>
          </p:nvSpPr>
          <p:spPr>
            <a:xfrm>
              <a:off x="1326" y="12178"/>
              <a:ext cx="2169" cy="6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200" b="1">
                  <a:solidFill>
                    <a:srgbClr val="7E22CE"/>
                  </a:solidFill>
                </a:rPr>
                <a:t>Dynamic Adjust: </a:t>
              </a:r>
              <a:endParaRPr lang="en-US" altLang="zh-CN" sz="1200" b="1">
                <a:solidFill>
                  <a:srgbClr val="7E22CE"/>
                </a:solidFill>
              </a:endParaRPr>
            </a:p>
            <a:p>
              <a:r>
                <a:rPr lang="en-US" altLang="zh-CN" sz="1000">
                  <a:solidFill>
                    <a:srgbClr val="475569"/>
                  </a:solidFill>
                </a:rPr>
                <a:t>Weight of Efficiency ↑</a:t>
              </a:r>
              <a:endParaRPr lang="en-US" altLang="zh-CN" sz="1000">
                <a:solidFill>
                  <a:srgbClr val="475569"/>
                </a:solidFill>
              </a:endParaRPr>
            </a:p>
          </p:txBody>
        </p:sp>
        <p:sp>
          <p:nvSpPr>
            <p:cNvPr id="357" name="文本框 356"/>
            <p:cNvSpPr txBox="1"/>
            <p:nvPr/>
          </p:nvSpPr>
          <p:spPr>
            <a:xfrm>
              <a:off x="6404" y="10702"/>
              <a:ext cx="3122" cy="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200" b="1">
                  <a:solidFill>
                    <a:srgbClr val="7E22CE"/>
                  </a:solidFill>
                </a:rPr>
                <a:t>Dynamic Adjust: </a:t>
              </a:r>
              <a:endParaRPr lang="en-US" altLang="zh-CN" sz="1200" b="1">
                <a:solidFill>
                  <a:srgbClr val="7E22CE"/>
                </a:solidFill>
              </a:endParaRPr>
            </a:p>
            <a:p>
              <a:r>
                <a:rPr lang="en-US" altLang="zh-CN" sz="1000">
                  <a:solidFill>
                    <a:srgbClr val="475569"/>
                  </a:solidFill>
                </a:rPr>
                <a:t>Focus on Correctness</a:t>
              </a:r>
              <a:endParaRPr lang="en-US" altLang="zh-CN" sz="1000">
                <a:solidFill>
                  <a:srgbClr val="475569"/>
                </a:solidFill>
              </a:endParaRPr>
            </a:p>
            <a:p>
              <a:r>
                <a:rPr lang="en-US" altLang="zh-CN" sz="1000">
                  <a:solidFill>
                    <a:srgbClr val="475569"/>
                  </a:solidFill>
                </a:rPr>
                <a:t>weight↑ &amp; Judge level ↑</a:t>
              </a:r>
              <a:endParaRPr lang="en-US" altLang="zh-CN" sz="1000">
                <a:solidFill>
                  <a:srgbClr val="475569"/>
                </a:solidFill>
              </a:endParaRPr>
            </a:p>
          </p:txBody>
        </p:sp>
        <p:sp>
          <p:nvSpPr>
            <p:cNvPr id="358" name="text-194"/>
            <p:cNvSpPr>
              <a:spLocks noGrp="1"/>
            </p:cNvSpPr>
            <p:nvPr/>
          </p:nvSpPr>
          <p:spPr>
            <a:xfrm>
              <a:off x="5990" y="12830"/>
              <a:ext cx="2660" cy="683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>
              <a:noAutofit/>
            </a:bodyPr>
            <a:lstStyle/>
            <a:p>
              <a:pPr indent="0" algn="l" fontAlgn="auto" latinLnBrk="1">
                <a:lnSpc>
                  <a:spcPct val="115000"/>
                </a:lnSpc>
                <a:defRPr sz="825" b="1">
                  <a:solidFill>
                    <a:srgbClr val="7F1D1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800" b="1">
                  <a:solidFill>
                    <a:srgbClr val="7F1D1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Agent repeatedly call unnecessary</a:t>
              </a:r>
              <a:endParaRPr lang="en-US" sz="800" b="1">
                <a:solidFill>
                  <a:srgbClr val="7F1D1D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  <a:p>
              <a:pPr indent="0" algn="l" fontAlgn="auto" latinLnBrk="1">
                <a:lnSpc>
                  <a:spcPct val="115000"/>
                </a:lnSpc>
                <a:defRPr sz="825" b="1">
                  <a:solidFill>
                    <a:srgbClr val="7F1D1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800" b="1">
                  <a:solidFill>
                    <a:srgbClr val="7F1D1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tools for filter and get false filter</a:t>
              </a:r>
              <a:endParaRPr lang="en-US" sz="800" b="1">
                <a:solidFill>
                  <a:srgbClr val="7F1D1D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  <a:p>
              <a:pPr indent="0" algn="l" fontAlgn="auto" latinLnBrk="1">
                <a:lnSpc>
                  <a:spcPct val="115000"/>
                </a:lnSpc>
                <a:defRPr sz="825" b="1">
                  <a:solidFill>
                    <a:srgbClr val="7F1D1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800" b="1">
                  <a:solidFill>
                    <a:srgbClr val="7F1D1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results …… </a:t>
              </a:r>
              <a:endParaRPr lang="en-US" sz="800" b="1">
                <a:solidFill>
                  <a:srgbClr val="7F1D1D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59" name="text-194"/>
            <p:cNvSpPr>
              <a:spLocks noGrp="1"/>
            </p:cNvSpPr>
            <p:nvPr/>
          </p:nvSpPr>
          <p:spPr>
            <a:xfrm>
              <a:off x="5990" y="13497"/>
              <a:ext cx="2283" cy="42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>
              <a:noAutofit/>
            </a:bodyPr>
            <a:lstStyle/>
            <a:p>
              <a:pPr indent="0" algn="l" fontAlgn="auto" latinLnBrk="1">
                <a:lnSpc>
                  <a:spcPct val="115000"/>
                </a:lnSpc>
                <a:defRPr sz="825" b="1">
                  <a:solidFill>
                    <a:srgbClr val="7F1D1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200" b="1">
                  <a:solidFill>
                    <a:srgbClr val="EF444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Early Stop !</a:t>
              </a:r>
              <a:endParaRPr lang="en-US" sz="1200" b="1">
                <a:solidFill>
                  <a:srgbClr val="EF4444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cxnSp>
          <p:nvCxnSpPr>
            <p:cNvPr id="363" name="直接箭头连接符 362"/>
            <p:cNvCxnSpPr>
              <a:stCxn id="109" idx="3"/>
              <a:endCxn id="180" idx="1"/>
            </p:cNvCxnSpPr>
            <p:nvPr/>
          </p:nvCxnSpPr>
          <p:spPr>
            <a:xfrm>
              <a:off x="11887" y="10046"/>
              <a:ext cx="803" cy="0"/>
            </a:xfrm>
            <a:prstGeom prst="straightConnector1">
              <a:avLst/>
            </a:prstGeom>
            <a:ln>
              <a:solidFill>
                <a:srgbClr val="05966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65" name="直接箭头连接符 364"/>
            <p:cNvCxnSpPr/>
            <p:nvPr/>
          </p:nvCxnSpPr>
          <p:spPr>
            <a:xfrm>
              <a:off x="11887" y="11928"/>
              <a:ext cx="803" cy="0"/>
            </a:xfrm>
            <a:prstGeom prst="straightConnector1">
              <a:avLst/>
            </a:prstGeom>
            <a:ln>
              <a:solidFill>
                <a:srgbClr val="05966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68" name="直接箭头连接符 367"/>
            <p:cNvCxnSpPr/>
            <p:nvPr/>
          </p:nvCxnSpPr>
          <p:spPr>
            <a:xfrm>
              <a:off x="11887" y="8171"/>
              <a:ext cx="803" cy="0"/>
            </a:xfrm>
            <a:prstGeom prst="straightConnector1">
              <a:avLst/>
            </a:prstGeom>
            <a:ln>
              <a:solidFill>
                <a:srgbClr val="05966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8" name="曲线连接符 57"/>
            <p:cNvCxnSpPr>
              <a:stCxn id="195" idx="2"/>
              <a:endCxn id="183" idx="2"/>
            </p:cNvCxnSpPr>
            <p:nvPr/>
          </p:nvCxnSpPr>
          <p:spPr>
            <a:xfrm rot="5400000">
              <a:off x="17887" y="3476"/>
              <a:ext cx="5" cy="7922"/>
            </a:xfrm>
            <a:prstGeom prst="curvedConnector3">
              <a:avLst>
                <a:gd name="adj1" fmla="val 7550000"/>
              </a:avLst>
            </a:prstGeom>
            <a:ln>
              <a:solidFill>
                <a:srgbClr val="7E22CE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0" name="直接箭头连接符 59"/>
            <p:cNvCxnSpPr>
              <a:stCxn id="183" idx="3"/>
              <a:endCxn id="187" idx="1"/>
            </p:cNvCxnSpPr>
            <p:nvPr/>
          </p:nvCxnSpPr>
          <p:spPr>
            <a:xfrm>
              <a:off x="14898" y="6958"/>
              <a:ext cx="671" cy="2"/>
            </a:xfrm>
            <a:prstGeom prst="straightConnector1">
              <a:avLst/>
            </a:prstGeom>
            <a:ln>
              <a:solidFill>
                <a:srgbClr val="05966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187" idx="3"/>
              <a:endCxn id="191" idx="1"/>
            </p:cNvCxnSpPr>
            <p:nvPr/>
          </p:nvCxnSpPr>
          <p:spPr>
            <a:xfrm>
              <a:off x="17508" y="6960"/>
              <a:ext cx="767" cy="0"/>
            </a:xfrm>
            <a:prstGeom prst="straightConnector1">
              <a:avLst/>
            </a:prstGeom>
            <a:ln>
              <a:solidFill>
                <a:srgbClr val="05966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9" name="直接箭头连接符 78"/>
            <p:cNvCxnSpPr>
              <a:stCxn id="191" idx="3"/>
              <a:endCxn id="195" idx="1"/>
            </p:cNvCxnSpPr>
            <p:nvPr/>
          </p:nvCxnSpPr>
          <p:spPr>
            <a:xfrm flipV="1">
              <a:off x="20257" y="6958"/>
              <a:ext cx="718" cy="2"/>
            </a:xfrm>
            <a:prstGeom prst="straightConnector1">
              <a:avLst/>
            </a:prstGeom>
            <a:ln>
              <a:solidFill>
                <a:srgbClr val="05966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5" name="圆角矩形 394"/>
            <p:cNvSpPr>
              <a:spLocks noGrp="1"/>
            </p:cNvSpPr>
            <p:nvPr/>
          </p:nvSpPr>
          <p:spPr>
            <a:xfrm>
              <a:off x="12904" y="8782"/>
              <a:ext cx="4950" cy="3957"/>
            </a:xfrm>
            <a:prstGeom prst="roundRect">
              <a:avLst>
                <a:gd name="adj" fmla="val 4595"/>
              </a:avLst>
            </a:prstGeom>
            <a:solidFill>
              <a:srgbClr val="F8FAFC"/>
            </a:solidFill>
            <a:ln w="14288">
              <a:solidFill>
                <a:srgbClr val="E2E8F0"/>
              </a:solidFill>
            </a:ln>
          </p:spPr>
        </p:sp>
        <p:sp>
          <p:nvSpPr>
            <p:cNvPr id="396" name="矩形 395"/>
            <p:cNvSpPr>
              <a:spLocks noGrp="1"/>
            </p:cNvSpPr>
            <p:nvPr/>
          </p:nvSpPr>
          <p:spPr>
            <a:xfrm>
              <a:off x="13384" y="8896"/>
              <a:ext cx="4050" cy="434"/>
            </a:xfrm>
            <a:prstGeom prst="rect">
              <a:avLst/>
            </a:prstGeom>
          </p:spPr>
          <p:txBody>
            <a:bodyPr anchor="ctr" anchorCtr="0"/>
            <a:lstStyle/>
            <a:p>
              <a:pPr algn="l">
                <a:lnSpc>
                  <a:spcPct val="90000"/>
                </a:lnSpc>
                <a:defRPr sz="15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altLang="zh-CN" sz="1400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Dynamic Multi-level Judge</a:t>
              </a:r>
              <a:endParaRPr lang="en-US" altLang="zh-CN" sz="1400" b="1">
                <a:solidFill>
                  <a:srgbClr val="1E40A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97" name="圆角矩形 396"/>
            <p:cNvSpPr>
              <a:spLocks noGrp="1"/>
            </p:cNvSpPr>
            <p:nvPr/>
          </p:nvSpPr>
          <p:spPr>
            <a:xfrm>
              <a:off x="13114" y="9446"/>
              <a:ext cx="4530" cy="9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</p:spPr>
        </p:sp>
        <p:pic>
          <p:nvPicPr>
            <p:cNvPr id="637" name="图片 636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3324" y="9686"/>
              <a:ext cx="420" cy="420"/>
            </a:xfrm>
            <a:prstGeom prst="rect">
              <a:avLst/>
            </a:prstGeom>
          </p:spPr>
        </p:pic>
        <p:sp>
          <p:nvSpPr>
            <p:cNvPr id="399" name="矩形 398"/>
            <p:cNvSpPr>
              <a:spLocks noGrp="1"/>
            </p:cNvSpPr>
            <p:nvPr/>
          </p:nvSpPr>
          <p:spPr>
            <a:xfrm>
              <a:off x="13894" y="9512"/>
              <a:ext cx="3540" cy="330"/>
            </a:xfrm>
            <a:prstGeom prst="rect">
              <a:avLst/>
            </a:prstGeom>
          </p:spPr>
          <p:txBody>
            <a:bodyPr/>
            <a:lstStyle/>
            <a:p>
              <a:pPr algn="l">
                <a:defRPr sz="1275" b="1">
                  <a:solidFill>
                    <a:srgbClr val="1F2937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1F2937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Cheap judge</a:t>
              </a:r>
              <a:endParaRPr sz="1200" b="1">
                <a:solidFill>
                  <a:srgbClr val="1F2937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400" name="矩形 399"/>
            <p:cNvSpPr>
              <a:spLocks noGrp="1"/>
            </p:cNvSpPr>
            <p:nvPr/>
          </p:nvSpPr>
          <p:spPr>
            <a:xfrm>
              <a:off x="13894" y="9902"/>
              <a:ext cx="3540" cy="300"/>
            </a:xfrm>
            <a:prstGeom prst="rect">
              <a:avLst/>
            </a:prstGeom>
          </p:spPr>
          <p:txBody>
            <a:bodyPr/>
            <a:lstStyle/>
            <a:p>
              <a:pPr algn="l">
                <a:defRPr sz="975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Rule and schema check</a:t>
              </a:r>
              <a:endParaRPr sz="1000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401" name="圆角矩形 400"/>
            <p:cNvSpPr>
              <a:spLocks noGrp="1"/>
            </p:cNvSpPr>
            <p:nvPr/>
          </p:nvSpPr>
          <p:spPr>
            <a:xfrm>
              <a:off x="13114" y="10526"/>
              <a:ext cx="4530" cy="9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</p:spPr>
        </p:sp>
        <p:pic>
          <p:nvPicPr>
            <p:cNvPr id="641" name="图片 640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3324" y="10766"/>
              <a:ext cx="420" cy="420"/>
            </a:xfrm>
            <a:prstGeom prst="rect">
              <a:avLst/>
            </a:prstGeom>
          </p:spPr>
        </p:pic>
        <p:sp>
          <p:nvSpPr>
            <p:cNvPr id="403" name="矩形 402"/>
            <p:cNvSpPr>
              <a:spLocks noGrp="1"/>
            </p:cNvSpPr>
            <p:nvPr/>
          </p:nvSpPr>
          <p:spPr>
            <a:xfrm>
              <a:off x="13894" y="10597"/>
              <a:ext cx="3540" cy="442"/>
            </a:xfrm>
            <a:prstGeom prst="rect">
              <a:avLst/>
            </a:prstGeom>
          </p:spPr>
          <p:txBody>
            <a:bodyPr/>
            <a:lstStyle/>
            <a:p>
              <a:pPr algn="l">
                <a:defRPr sz="1275" b="1">
                  <a:solidFill>
                    <a:srgbClr val="1F2937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1F2937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Standard judge</a:t>
              </a:r>
              <a:endParaRPr sz="1200" b="1">
                <a:solidFill>
                  <a:srgbClr val="1F2937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404" name="矩形 403"/>
            <p:cNvSpPr>
              <a:spLocks noGrp="1"/>
            </p:cNvSpPr>
            <p:nvPr/>
          </p:nvSpPr>
          <p:spPr>
            <a:xfrm>
              <a:off x="13894" y="11006"/>
              <a:ext cx="3540" cy="300"/>
            </a:xfrm>
            <a:prstGeom prst="rect">
              <a:avLst/>
            </a:prstGeom>
          </p:spPr>
          <p:txBody>
            <a:bodyPr/>
            <a:lstStyle/>
            <a:p>
              <a:pPr algn="l">
                <a:defRPr sz="975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Unified LLM </a:t>
              </a:r>
              <a:r>
                <a:rPr lang="en-US" sz="1000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judge</a:t>
              </a:r>
              <a:endParaRPr lang="en-US" sz="1000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405" name="圆角矩形 404"/>
            <p:cNvSpPr>
              <a:spLocks noGrp="1"/>
            </p:cNvSpPr>
            <p:nvPr/>
          </p:nvSpPr>
          <p:spPr>
            <a:xfrm>
              <a:off x="13114" y="11606"/>
              <a:ext cx="4530" cy="9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</p:spPr>
        </p:sp>
        <p:pic>
          <p:nvPicPr>
            <p:cNvPr id="645" name="图片 644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3324" y="11846"/>
              <a:ext cx="420" cy="420"/>
            </a:xfrm>
            <a:prstGeom prst="rect">
              <a:avLst/>
            </a:prstGeom>
          </p:spPr>
        </p:pic>
        <p:sp>
          <p:nvSpPr>
            <p:cNvPr id="407" name="矩形 406"/>
            <p:cNvSpPr>
              <a:spLocks noGrp="1"/>
            </p:cNvSpPr>
            <p:nvPr/>
          </p:nvSpPr>
          <p:spPr>
            <a:xfrm>
              <a:off x="13894" y="11662"/>
              <a:ext cx="3540" cy="414"/>
            </a:xfrm>
            <a:prstGeom prst="rect">
              <a:avLst/>
            </a:prstGeom>
          </p:spPr>
          <p:txBody>
            <a:bodyPr/>
            <a:lstStyle/>
            <a:p>
              <a:pPr algn="l">
                <a:defRPr sz="1275" b="1">
                  <a:solidFill>
                    <a:srgbClr val="1F2937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1F2937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Expensive judge</a:t>
              </a:r>
              <a:endParaRPr sz="1200" b="1">
                <a:solidFill>
                  <a:srgbClr val="1F2937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408" name="矩形 407"/>
            <p:cNvSpPr>
              <a:spLocks noGrp="1"/>
            </p:cNvSpPr>
            <p:nvPr/>
          </p:nvSpPr>
          <p:spPr>
            <a:xfrm>
              <a:off x="13894" y="12052"/>
              <a:ext cx="3540" cy="365"/>
            </a:xfrm>
            <a:prstGeom prst="rect">
              <a:avLst/>
            </a:prstGeom>
          </p:spPr>
          <p:txBody>
            <a:bodyPr/>
            <a:lstStyle/>
            <a:p>
              <a:pPr algn="l">
                <a:defRPr sz="975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Dimension specialist </a:t>
              </a:r>
              <a:r>
                <a:rPr lang="en-US" sz="1000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LLM judge</a:t>
              </a:r>
              <a:endParaRPr sz="1000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pic>
          <p:nvPicPr>
            <p:cNvPr id="479" name="图片 478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3019" y="8896"/>
              <a:ext cx="425" cy="425"/>
            </a:xfrm>
            <a:prstGeom prst="rect">
              <a:avLst/>
            </a:prstGeom>
          </p:spPr>
        </p:pic>
        <p:sp>
          <p:nvSpPr>
            <p:cNvPr id="88" name="矩形 87"/>
            <p:cNvSpPr/>
            <p:nvPr/>
          </p:nvSpPr>
          <p:spPr>
            <a:xfrm>
              <a:off x="18330" y="11968"/>
              <a:ext cx="3537" cy="517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 rtlCol="0">
              <a:noAutofit/>
            </a:bodyPr>
            <a:lstStyle/>
            <a:p>
              <a:pPr lvl="0" algn="l">
                <a:buClrTx/>
                <a:buSzTx/>
                <a:buFontTx/>
                <a:defRPr sz="825" b="1">
                  <a:solidFill>
                    <a:srgbClr val="7E22C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600">
                  <a:solidFill>
                    <a:srgbClr val="1E40AF"/>
                  </a:solidFill>
                  <a:sym typeface="+mn-ea"/>
                </a:rPr>
                <a:t>W</a:t>
              </a:r>
              <a:r>
                <a:rPr lang="en-US" sz="1600" baseline="-25000">
                  <a:solidFill>
                    <a:srgbClr val="1E40AF"/>
                  </a:solidFill>
                  <a:sym typeface="+mn-ea"/>
                </a:rPr>
                <a:t>Efficiency</a:t>
              </a:r>
              <a:r>
                <a:rPr lang="en-US" sz="2400">
                  <a:solidFill>
                    <a:srgbClr val="1E40AF"/>
                  </a:solidFill>
                  <a:sym typeface="+mn-ea"/>
                </a:rPr>
                <a:t>↑    </a:t>
              </a:r>
              <a:r>
                <a:rPr lang="en-US" sz="1600">
                  <a:solidFill>
                    <a:srgbClr val="1E40AF"/>
                  </a:solidFill>
                  <a:sym typeface="+mn-ea"/>
                </a:rPr>
                <a:t>W</a:t>
              </a:r>
              <a:r>
                <a:rPr lang="en-US" sz="1600" baseline="-25000">
                  <a:solidFill>
                    <a:srgbClr val="1E40AF"/>
                  </a:solidFill>
                  <a:sym typeface="+mn-ea"/>
                </a:rPr>
                <a:t>Safety</a:t>
              </a:r>
              <a:r>
                <a:rPr lang="en-US" sz="2400">
                  <a:solidFill>
                    <a:srgbClr val="1E40AF"/>
                  </a:solidFill>
                  <a:sym typeface="+mn-ea"/>
                </a:rPr>
                <a:t>↓    </a:t>
              </a:r>
              <a:r>
                <a:rPr lang="en-US" sz="1600">
                  <a:solidFill>
                    <a:srgbClr val="1E40AF"/>
                  </a:solidFill>
                  <a:sym typeface="+mn-ea"/>
                </a:rPr>
                <a:t>……</a:t>
              </a:r>
              <a:endParaRPr lang="en-US" sz="1600">
                <a:solidFill>
                  <a:srgbClr val="1E40AF"/>
                </a:solidFill>
                <a:sym typeface="+mn-ea"/>
              </a:endParaRPr>
            </a:p>
          </p:txBody>
        </p:sp>
        <p:sp>
          <p:nvSpPr>
            <p:cNvPr id="97" name="下箭头 96"/>
            <p:cNvSpPr/>
            <p:nvPr/>
          </p:nvSpPr>
          <p:spPr>
            <a:xfrm>
              <a:off x="18330" y="11124"/>
              <a:ext cx="456" cy="793"/>
            </a:xfrm>
            <a:prstGeom prst="downArrow">
              <a:avLst/>
            </a:prstGeom>
            <a:solidFill>
              <a:srgbClr val="1E40A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8" name="矩形 97"/>
            <p:cNvSpPr/>
            <p:nvPr/>
          </p:nvSpPr>
          <p:spPr>
            <a:xfrm>
              <a:off x="18804" y="11112"/>
              <a:ext cx="3823" cy="80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none" lIns="0" tIns="0" rIns="0" bIns="0" rtlCol="0">
              <a:noAutofit/>
            </a:bodyPr>
            <a:lstStyle/>
            <a:p>
              <a:pPr lvl="0" indent="0" algn="l" fontAlgn="auto">
                <a:lnSpc>
                  <a:spcPct val="120000"/>
                </a:lnSpc>
                <a:buClrTx/>
                <a:buSzTx/>
                <a:buFontTx/>
                <a:defRPr sz="825" b="1">
                  <a:solidFill>
                    <a:srgbClr val="7E22C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200">
                  <a:solidFill>
                    <a:srgbClr val="1E40AF"/>
                  </a:solidFill>
                  <a:sym typeface="+mn-ea"/>
                </a:rPr>
                <a:t>weights ∝</a:t>
              </a:r>
              <a:r>
                <a:rPr lang="en-US" sz="1200">
                  <a:solidFill>
                    <a:srgbClr val="1E40AF"/>
                  </a:solidFill>
                  <a:sym typeface="+mn-ea"/>
                </a:rPr>
                <a:t> softmin(Score</a:t>
              </a:r>
              <a:r>
                <a:rPr lang="en-US" sz="1200" baseline="-25000">
                  <a:solidFill>
                    <a:srgbClr val="1E40AF"/>
                  </a:solidFill>
                  <a:sym typeface="+mn-ea"/>
                </a:rPr>
                <a:t>d</a:t>
              </a:r>
              <a:r>
                <a:rPr lang="en-US" sz="1200">
                  <a:solidFill>
                    <a:srgbClr val="1E40AF"/>
                  </a:solidFill>
                  <a:sym typeface="+mn-ea"/>
                </a:rPr>
                <a:t>)</a:t>
              </a:r>
              <a:endParaRPr lang="en-US" sz="1200">
                <a:solidFill>
                  <a:srgbClr val="1E40AF"/>
                </a:solidFill>
                <a:sym typeface="+mn-ea"/>
              </a:endParaRPr>
            </a:p>
            <a:p>
              <a:pPr lvl="0" indent="0" algn="l" fontAlgn="auto">
                <a:lnSpc>
                  <a:spcPct val="120000"/>
                </a:lnSpc>
                <a:buClrTx/>
                <a:buSzTx/>
                <a:buFontTx/>
                <a:defRPr sz="825" b="1">
                  <a:solidFill>
                    <a:srgbClr val="7E22C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200">
                  <a:solidFill>
                    <a:srgbClr val="1E40AF"/>
                  </a:solidFill>
                  <a:sym typeface="+mn-ea"/>
                </a:rPr>
                <a:t>              ∝ softmax(Uncertainty</a:t>
              </a:r>
              <a:r>
                <a:rPr lang="en-US" sz="1200" baseline="-25000">
                  <a:solidFill>
                    <a:srgbClr val="1E40AF"/>
                  </a:solidFill>
                  <a:sym typeface="+mn-ea"/>
                </a:rPr>
                <a:t>d</a:t>
              </a:r>
              <a:r>
                <a:rPr lang="en-US" sz="1200">
                  <a:solidFill>
                    <a:srgbClr val="1E40AF"/>
                  </a:solidFill>
                  <a:sym typeface="+mn-ea"/>
                </a:rPr>
                <a:t>)</a:t>
              </a:r>
              <a:endParaRPr lang="en-US" sz="1200">
                <a:solidFill>
                  <a:srgbClr val="1E40AF"/>
                </a:solidFill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93" name="组合 92"/>
          <p:cNvGrpSpPr/>
          <p:nvPr/>
        </p:nvGrpSpPr>
        <p:grpSpPr>
          <a:xfrm>
            <a:off x="1333500" y="2238375"/>
            <a:ext cx="12573000" cy="5190490"/>
            <a:chOff x="2100" y="3525"/>
            <a:chExt cx="19800" cy="8174"/>
          </a:xfrm>
        </p:grpSpPr>
        <p:sp>
          <p:nvSpPr>
            <p:cNvPr id="79" name="panel-60-115"/>
            <p:cNvSpPr>
              <a:spLocks noGrp="1"/>
            </p:cNvSpPr>
            <p:nvPr/>
          </p:nvSpPr>
          <p:spPr>
            <a:xfrm>
              <a:off x="2100" y="3525"/>
              <a:ext cx="9450" cy="8175"/>
            </a:xfrm>
            <a:prstGeom prst="roundRect">
              <a:avLst>
                <a:gd name="adj" fmla="val 2936"/>
              </a:avLst>
            </a:prstGeom>
            <a:solidFill>
              <a:srgbClr val="FFF5F5"/>
            </a:solidFill>
            <a:ln w="19050">
              <a:solidFill>
                <a:srgbClr val="FECACA"/>
              </a:solidFill>
              <a:prstDash val="solid"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10">
              <a:srgbClr val="FFFFFF"/>
            </a:effectRef>
            <a:fontRef idx="major"/>
          </p:style>
        </p:sp>
        <p:sp>
          <p:nvSpPr>
            <p:cNvPr id="2" name="panel-60-115"/>
            <p:cNvSpPr>
              <a:spLocks noGrp="1"/>
            </p:cNvSpPr>
            <p:nvPr/>
          </p:nvSpPr>
          <p:spPr>
            <a:xfrm>
              <a:off x="2100" y="3525"/>
              <a:ext cx="9450" cy="780"/>
            </a:xfrm>
            <a:prstGeom prst="roundRect">
              <a:avLst>
                <a:gd name="adj" fmla="val 30769"/>
              </a:avLst>
            </a:prstGeom>
            <a:solidFill>
              <a:srgbClr val="FEE2E2"/>
            </a:solidFill>
            <a:ln w="9525">
              <a:solidFill>
                <a:srgbClr val="FECACA"/>
              </a:solidFill>
              <a:prstDash val="solid"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10">
              <a:srgbClr val="FFFFFF"/>
            </a:effectRef>
            <a:fontRef idx="major"/>
          </p:style>
        </p:sp>
        <p:sp>
          <p:nvSpPr>
            <p:cNvPr id="3" name="circle-80-129"/>
            <p:cNvSpPr>
              <a:spLocks noGrp="1"/>
            </p:cNvSpPr>
            <p:nvPr/>
          </p:nvSpPr>
          <p:spPr>
            <a:xfrm>
              <a:off x="2400" y="3758"/>
              <a:ext cx="360" cy="360"/>
            </a:xfrm>
            <a:prstGeom prst="ellipse">
              <a:avLst/>
            </a:prstGeom>
            <a:solidFill>
              <a:srgbClr val="EF4444"/>
            </a:solidFill>
            <a:ln w="14288">
              <a:solidFill>
                <a:srgbClr val="EF4444"/>
              </a:solidFill>
              <a:prstDash val="solid"/>
            </a:ln>
          </p:spPr>
          <p:txBody>
            <a:bodyPr lIns="0" tIns="0" rIns="0" bIns="0" anchor="ctr">
              <a:noAutofit/>
            </a:bodyPr>
            <a:lstStyle/>
            <a:p>
              <a:pPr algn="ctr">
                <a:buNone/>
                <a:defRPr sz="975" b="1">
                  <a:solidFill>
                    <a:srgbClr val="FFFFF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75" b="1">
                  <a:solidFill>
                    <a:srgbClr val="FFFFF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✕</a:t>
              </a:r>
              <a:endParaRPr sz="9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4" name="text-114-123"/>
            <p:cNvSpPr>
              <a:spLocks noGrp="1"/>
            </p:cNvSpPr>
            <p:nvPr/>
          </p:nvSpPr>
          <p:spPr>
            <a:xfrm>
              <a:off x="2880" y="3758"/>
              <a:ext cx="8550" cy="30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1240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400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(a) Conventional: Untargeted Full-Trajectory &amp; Single-Reference</a:t>
              </a:r>
              <a:endParaRPr sz="1400" b="1">
                <a:solidFill>
                  <a:srgbClr val="991B1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5" name="card-84-187"/>
            <p:cNvSpPr>
              <a:spLocks noGrp="1"/>
            </p:cNvSpPr>
            <p:nvPr/>
          </p:nvSpPr>
          <p:spPr>
            <a:xfrm>
              <a:off x="2460" y="4605"/>
              <a:ext cx="8730" cy="2025"/>
            </a:xfrm>
            <a:prstGeom prst="roundRect">
              <a:avLst>
                <a:gd name="adj" fmla="val 7407"/>
              </a:avLst>
            </a:prstGeom>
            <a:solidFill>
              <a:srgbClr val="FFFFFF"/>
            </a:solidFill>
            <a:ln w="14288">
              <a:solidFill>
                <a:srgbClr val="FED7D7"/>
              </a:solidFill>
              <a:prstDash val="solid"/>
            </a:ln>
          </p:spPr>
        </p:sp>
        <p:sp>
          <p:nvSpPr>
            <p:cNvPr id="6" name="text-100-195"/>
            <p:cNvSpPr>
              <a:spLocks noGrp="1"/>
            </p:cNvSpPr>
            <p:nvPr/>
          </p:nvSpPr>
          <p:spPr>
            <a:xfrm>
              <a:off x="2700" y="4725"/>
              <a:ext cx="8250" cy="27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105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1. Granularity Gap in Trajectory Evaluation</a:t>
              </a:r>
              <a:endParaRPr sz="1200" b="1">
                <a:solidFill>
                  <a:srgbClr val="B91C1C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7" name="text-100-215"/>
            <p:cNvSpPr>
              <a:spLocks noGrp="1"/>
            </p:cNvSpPr>
            <p:nvPr/>
          </p:nvSpPr>
          <p:spPr>
            <a:xfrm>
              <a:off x="2700" y="5025"/>
              <a:ext cx="8250" cy="24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825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Full-trajectory review hides failures; atomic steps lose context and flag benign events.</a:t>
              </a:r>
              <a:endParaRPr sz="1000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8" name="card-100-239"/>
            <p:cNvSpPr>
              <a:spLocks noGrp="1"/>
            </p:cNvSpPr>
            <p:nvPr/>
          </p:nvSpPr>
          <p:spPr>
            <a:xfrm>
              <a:off x="2700" y="5385"/>
              <a:ext cx="4065" cy="915"/>
            </a:xfrm>
            <a:prstGeom prst="roundRect">
              <a:avLst>
                <a:gd name="adj" fmla="val 11429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  <a:prstDash val="solid"/>
            </a:ln>
          </p:spPr>
        </p:sp>
        <p:sp>
          <p:nvSpPr>
            <p:cNvPr id="9" name="text-112-260"/>
            <p:cNvSpPr>
              <a:spLocks noGrp="1"/>
            </p:cNvSpPr>
            <p:nvPr/>
          </p:nvSpPr>
          <p:spPr>
            <a:xfrm>
              <a:off x="2880" y="5459"/>
              <a:ext cx="3300" cy="21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79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Full-trajectory: Too Coarse</a:t>
              </a:r>
              <a:endParaRPr sz="100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0" name="card-112-276"/>
            <p:cNvSpPr>
              <a:spLocks noGrp="1"/>
            </p:cNvSpPr>
            <p:nvPr/>
          </p:nvSpPr>
          <p:spPr>
            <a:xfrm>
              <a:off x="2886" y="5799"/>
              <a:ext cx="360" cy="270"/>
            </a:xfrm>
            <a:prstGeom prst="roundRect">
              <a:avLst>
                <a:gd name="adj" fmla="val 16667"/>
              </a:avLst>
            </a:prstGeom>
            <a:solidFill>
              <a:srgbClr val="E2E8F0"/>
            </a:solidFill>
            <a:ln w="9525">
              <a:solidFill>
                <a:srgbClr val="94A3B8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56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56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S1</a:t>
              </a:r>
              <a:endParaRPr sz="565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1" name="card-138-276"/>
            <p:cNvSpPr>
              <a:spLocks noGrp="1"/>
            </p:cNvSpPr>
            <p:nvPr/>
          </p:nvSpPr>
          <p:spPr>
            <a:xfrm>
              <a:off x="3276" y="5799"/>
              <a:ext cx="360" cy="270"/>
            </a:xfrm>
            <a:prstGeom prst="roundRect">
              <a:avLst>
                <a:gd name="adj" fmla="val 16667"/>
              </a:avLst>
            </a:prstGeom>
            <a:solidFill>
              <a:srgbClr val="E2E8F0"/>
            </a:solidFill>
            <a:ln w="9525">
              <a:solidFill>
                <a:srgbClr val="94A3B8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56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56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S2</a:t>
              </a:r>
              <a:endParaRPr sz="565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2" name="card-164-276"/>
            <p:cNvSpPr>
              <a:spLocks noGrp="1"/>
            </p:cNvSpPr>
            <p:nvPr/>
          </p:nvSpPr>
          <p:spPr>
            <a:xfrm>
              <a:off x="3666" y="5799"/>
              <a:ext cx="360" cy="270"/>
            </a:xfrm>
            <a:prstGeom prst="roundRect">
              <a:avLst>
                <a:gd name="adj" fmla="val 16667"/>
              </a:avLst>
            </a:prstGeom>
            <a:solidFill>
              <a:srgbClr val="FEE2E2"/>
            </a:solidFill>
            <a:ln w="14288">
              <a:solidFill>
                <a:srgbClr val="EF4444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565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565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E3</a:t>
              </a:r>
              <a:endParaRPr sz="565" b="1">
                <a:solidFill>
                  <a:srgbClr val="991B1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3" name="card-190-276"/>
            <p:cNvSpPr>
              <a:spLocks noGrp="1"/>
            </p:cNvSpPr>
            <p:nvPr/>
          </p:nvSpPr>
          <p:spPr>
            <a:xfrm>
              <a:off x="4056" y="5799"/>
              <a:ext cx="360" cy="270"/>
            </a:xfrm>
            <a:prstGeom prst="roundRect">
              <a:avLst>
                <a:gd name="adj" fmla="val 16667"/>
              </a:avLst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565" b="1">
                  <a:solidFill>
                    <a:srgbClr val="9240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565" b="1">
                  <a:solidFill>
                    <a:srgbClr val="9240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R4</a:t>
              </a:r>
              <a:endParaRPr sz="565" b="1">
                <a:solidFill>
                  <a:srgbClr val="92400E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4" name="card-216-276"/>
            <p:cNvSpPr>
              <a:spLocks noGrp="1"/>
            </p:cNvSpPr>
            <p:nvPr/>
          </p:nvSpPr>
          <p:spPr>
            <a:xfrm>
              <a:off x="4446" y="5799"/>
              <a:ext cx="360" cy="270"/>
            </a:xfrm>
            <a:prstGeom prst="roundRect">
              <a:avLst>
                <a:gd name="adj" fmla="val 16667"/>
              </a:avLst>
            </a:prstGeom>
            <a:solidFill>
              <a:srgbClr val="E2E8F0"/>
            </a:solidFill>
            <a:ln w="9525">
              <a:solidFill>
                <a:srgbClr val="94A3B8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56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56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O5</a:t>
              </a:r>
              <a:endParaRPr sz="565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5" name="card-242-276"/>
            <p:cNvSpPr>
              <a:spLocks noGrp="1"/>
            </p:cNvSpPr>
            <p:nvPr/>
          </p:nvSpPr>
          <p:spPr>
            <a:xfrm>
              <a:off x="4836" y="5799"/>
              <a:ext cx="470" cy="270"/>
            </a:xfrm>
            <a:prstGeom prst="roundRect">
              <a:avLst>
                <a:gd name="adj" fmla="val 16667"/>
              </a:avLst>
            </a:prstGeom>
            <a:solidFill>
              <a:srgbClr val="D1FAE5"/>
            </a:solidFill>
            <a:ln w="9525">
              <a:solidFill>
                <a:srgbClr val="10B981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565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565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Goal</a:t>
              </a:r>
              <a:endParaRPr sz="565" b="1">
                <a:solidFill>
                  <a:srgbClr val="065F46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7" name="card-287-272"/>
            <p:cNvSpPr>
              <a:spLocks noGrp="1"/>
            </p:cNvSpPr>
            <p:nvPr/>
          </p:nvSpPr>
          <p:spPr>
            <a:xfrm>
              <a:off x="5752" y="5739"/>
              <a:ext cx="864" cy="420"/>
            </a:xfrm>
            <a:prstGeom prst="roundRect">
              <a:avLst>
                <a:gd name="adj" fmla="val 17857"/>
              </a:avLst>
            </a:prstGeom>
            <a:solidFill>
              <a:srgbClr val="FEF2F2"/>
            </a:solidFill>
            <a:ln w="14288">
              <a:solidFill>
                <a:srgbClr val="EF4444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lnSpc>
                  <a:spcPct val="105000"/>
                </a:lnSpc>
                <a:buNone/>
                <a:defRPr sz="565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565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Score 1.0</a:t>
              </a:r>
              <a:endParaRPr sz="565" b="1">
                <a:solidFill>
                  <a:srgbClr val="991B1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  <a:p>
              <a:pPr algn="ctr">
                <a:lnSpc>
                  <a:spcPct val="105000"/>
                </a:lnSpc>
                <a:buNone/>
                <a:defRPr sz="565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565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post-hoc</a:t>
              </a:r>
              <a:endParaRPr sz="565" b="1">
                <a:solidFill>
                  <a:srgbClr val="991B1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18" name="text-112-309"/>
            <p:cNvSpPr>
              <a:spLocks noGrp="1"/>
            </p:cNvSpPr>
            <p:nvPr/>
          </p:nvSpPr>
          <p:spPr>
            <a:xfrm>
              <a:off x="2701" y="6330"/>
              <a:ext cx="3931" cy="19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64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0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First failure (E3) is buried in the aggregate trace.</a:t>
              </a:r>
              <a:endParaRPr sz="800" b="1">
                <a:solidFill>
                  <a:srgbClr val="B91C1C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20" name="card-391-239"/>
            <p:cNvSpPr>
              <a:spLocks noGrp="1"/>
            </p:cNvSpPr>
            <p:nvPr/>
          </p:nvSpPr>
          <p:spPr>
            <a:xfrm>
              <a:off x="7065" y="5385"/>
              <a:ext cx="3885" cy="915"/>
            </a:xfrm>
            <a:prstGeom prst="roundRect">
              <a:avLst>
                <a:gd name="adj" fmla="val 11429"/>
              </a:avLst>
            </a:prstGeom>
            <a:solidFill>
              <a:srgbClr val="FFFBEF"/>
            </a:solidFill>
            <a:ln w="9525">
              <a:solidFill>
                <a:srgbClr val="FDE68A"/>
              </a:solidFill>
              <a:prstDash val="solid"/>
            </a:ln>
          </p:spPr>
        </p:sp>
        <p:sp>
          <p:nvSpPr>
            <p:cNvPr id="21" name="text-403-260"/>
            <p:cNvSpPr>
              <a:spLocks noGrp="1"/>
            </p:cNvSpPr>
            <p:nvPr/>
          </p:nvSpPr>
          <p:spPr>
            <a:xfrm>
              <a:off x="7237" y="5459"/>
              <a:ext cx="3450" cy="21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790" b="1">
                  <a:solidFill>
                    <a:srgbClr val="9240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9240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Atomic-step: Too Fine</a:t>
              </a:r>
              <a:endParaRPr sz="1000" b="1">
                <a:solidFill>
                  <a:srgbClr val="92400E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28" name="card-593-274"/>
            <p:cNvSpPr>
              <a:spLocks noGrp="1"/>
            </p:cNvSpPr>
            <p:nvPr/>
          </p:nvSpPr>
          <p:spPr>
            <a:xfrm>
              <a:off x="10116" y="5769"/>
              <a:ext cx="736" cy="330"/>
            </a:xfrm>
            <a:prstGeom prst="roundRect">
              <a:avLst>
                <a:gd name="adj" fmla="val 13636"/>
              </a:avLst>
            </a:prstGeom>
            <a:solidFill>
              <a:srgbClr val="FEF2F2"/>
            </a:solidFill>
            <a:ln w="9525">
              <a:solidFill>
                <a:srgbClr val="EF4444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565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>
                  <a:solidFill>
                    <a:srgbClr val="DC2626"/>
                  </a:solidFill>
                  <a:sym typeface="+mn-ea"/>
                </a:rPr>
                <a:t>⚠</a:t>
              </a:r>
              <a:r>
                <a:rPr lang="en-US">
                  <a:solidFill>
                    <a:srgbClr val="DC2626"/>
                  </a:solidFill>
                  <a:sym typeface="+mn-ea"/>
                </a:rPr>
                <a:t>   </a:t>
              </a:r>
              <a:endParaRPr lang="en-US">
                <a:solidFill>
                  <a:srgbClr val="DC2626"/>
                </a:solidFill>
                <a:sym typeface="+mn-ea"/>
              </a:endParaRPr>
            </a:p>
            <a:p>
              <a:pPr algn="ctr">
                <a:buNone/>
                <a:defRPr sz="565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565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High Cost!</a:t>
              </a:r>
              <a:endParaRPr lang="en-US" sz="565">
                <a:solidFill>
                  <a:srgbClr val="991B1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29" name="text-403-309"/>
            <p:cNvSpPr>
              <a:spLocks noGrp="1"/>
            </p:cNvSpPr>
            <p:nvPr/>
          </p:nvSpPr>
          <p:spPr>
            <a:xfrm>
              <a:off x="7207" y="6330"/>
              <a:ext cx="3600" cy="19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64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0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Missing context</a:t>
              </a:r>
              <a:r>
                <a:rPr lang="en-US" sz="80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 &amp; High cost</a:t>
              </a:r>
              <a:endParaRPr lang="en-US" sz="800" b="1">
                <a:solidFill>
                  <a:srgbClr val="B91C1C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0" name="card-84-337"/>
            <p:cNvSpPr>
              <a:spLocks noGrp="1"/>
            </p:cNvSpPr>
            <p:nvPr/>
          </p:nvSpPr>
          <p:spPr>
            <a:xfrm>
              <a:off x="2460" y="6855"/>
              <a:ext cx="8730" cy="2025"/>
            </a:xfrm>
            <a:prstGeom prst="roundRect">
              <a:avLst>
                <a:gd name="adj" fmla="val 7407"/>
              </a:avLst>
            </a:prstGeom>
            <a:solidFill>
              <a:srgbClr val="FFFFFF"/>
            </a:solidFill>
            <a:ln w="14288">
              <a:solidFill>
                <a:srgbClr val="FED7D7"/>
              </a:solidFill>
              <a:prstDash val="solid"/>
            </a:ln>
          </p:spPr>
        </p:sp>
        <p:sp>
          <p:nvSpPr>
            <p:cNvPr id="31" name="text-100-345"/>
            <p:cNvSpPr>
              <a:spLocks noGrp="1"/>
            </p:cNvSpPr>
            <p:nvPr/>
          </p:nvSpPr>
          <p:spPr>
            <a:xfrm>
              <a:off x="2700" y="6975"/>
              <a:ext cx="8250" cy="27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105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2. Single-Reference Bias (Penalizing Valid Exploration)</a:t>
              </a:r>
              <a:endParaRPr sz="1200" b="1">
                <a:solidFill>
                  <a:srgbClr val="B91C1C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2" name="text-100-365"/>
            <p:cNvSpPr>
              <a:spLocks noGrp="1"/>
            </p:cNvSpPr>
            <p:nvPr/>
          </p:nvSpPr>
          <p:spPr>
            <a:xfrm>
              <a:off x="2700" y="7273"/>
              <a:ext cx="8250" cy="24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9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Agent discovers an alternative, highly efficient valid path not in the single reference trace.</a:t>
              </a:r>
              <a:endParaRPr sz="1000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3" name="text-116-392"/>
            <p:cNvSpPr>
              <a:spLocks noGrp="1"/>
            </p:cNvSpPr>
            <p:nvPr/>
          </p:nvSpPr>
          <p:spPr>
            <a:xfrm>
              <a:off x="2940" y="7800"/>
              <a:ext cx="4800" cy="24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82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30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Ref: Search(Name) ➔ Call(Phone)</a:t>
              </a:r>
              <a:endParaRPr sz="930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4" name="text-116-424"/>
            <p:cNvSpPr>
              <a:spLocks noGrp="1"/>
            </p:cNvSpPr>
            <p:nvPr/>
          </p:nvSpPr>
          <p:spPr>
            <a:xfrm>
              <a:off x="2940" y="8280"/>
              <a:ext cx="4800" cy="24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825" b="1">
                  <a:solidFill>
                    <a:srgbClr val="2563E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30" b="1">
                  <a:solidFill>
                    <a:srgbClr val="2563E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Agent: Filter(Date) ➔ Call(Phone)</a:t>
              </a:r>
              <a:endParaRPr sz="930" b="1">
                <a:solidFill>
                  <a:srgbClr val="2563E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5" name="card-449-400"/>
            <p:cNvSpPr>
              <a:spLocks noGrp="1"/>
            </p:cNvSpPr>
            <p:nvPr/>
          </p:nvSpPr>
          <p:spPr>
            <a:xfrm>
              <a:off x="7353" y="7800"/>
              <a:ext cx="3599" cy="854"/>
            </a:xfrm>
            <a:prstGeom prst="roundRect">
              <a:avLst>
                <a:gd name="adj" fmla="val 11538"/>
              </a:avLst>
            </a:prstGeom>
            <a:solidFill>
              <a:srgbClr val="FEF2F2"/>
            </a:solidFill>
            <a:ln w="14288">
              <a:solidFill>
                <a:srgbClr val="EF4444"/>
              </a:solidFill>
              <a:prstDash val="solid"/>
            </a:ln>
          </p:spPr>
          <p:txBody>
            <a:bodyPr lIns="95250" tIns="19050" rIns="47625" bIns="19050" anchor="ctr">
              <a:noAutofit/>
            </a:bodyPr>
            <a:lstStyle/>
            <a:p>
              <a:pPr algn="l">
                <a:lnSpc>
                  <a:spcPct val="120000"/>
                </a:lnSpc>
                <a:buNone/>
                <a:defRPr sz="715"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Trajectory Sim = 0.12 (Fail!)</a:t>
              </a:r>
              <a:endParaRPr sz="1000" b="1">
                <a:solidFill>
                  <a:srgbClr val="991B1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  <a:p>
              <a:pPr algn="l">
                <a:lnSpc>
                  <a:spcPct val="120000"/>
                </a:lnSpc>
                <a:buNone/>
                <a:defRPr sz="715"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20">
                  <a:solidFill>
                    <a:srgbClr val="DC262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⚠</a:t>
              </a:r>
              <a:r>
                <a:rPr lang="en-US" sz="820">
                  <a:solidFill>
                    <a:srgbClr val="DC262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  </a:t>
              </a:r>
              <a:r>
                <a:rPr sz="820">
                  <a:solidFill>
                    <a:srgbClr val="DC262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Correct outcome rejected</a:t>
              </a:r>
              <a:r>
                <a:rPr lang="en-US" sz="820">
                  <a:solidFill>
                    <a:srgbClr val="DC262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 </a:t>
              </a:r>
              <a:r>
                <a:rPr sz="820">
                  <a:solidFill>
                    <a:srgbClr val="DC262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due to rigid single-path alignment</a:t>
              </a:r>
              <a:endParaRPr sz="820">
                <a:solidFill>
                  <a:srgbClr val="DC2626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6" name="card-84-487"/>
            <p:cNvSpPr>
              <a:spLocks noGrp="1"/>
            </p:cNvSpPr>
            <p:nvPr/>
          </p:nvSpPr>
          <p:spPr>
            <a:xfrm>
              <a:off x="2460" y="9105"/>
              <a:ext cx="8730" cy="2175"/>
            </a:xfrm>
            <a:prstGeom prst="roundRect">
              <a:avLst>
                <a:gd name="adj" fmla="val 6897"/>
              </a:avLst>
            </a:prstGeom>
            <a:solidFill>
              <a:srgbClr val="FFFFFF"/>
            </a:solidFill>
            <a:ln w="14288">
              <a:solidFill>
                <a:srgbClr val="FED7D7"/>
              </a:solidFill>
              <a:prstDash val="solid"/>
            </a:ln>
          </p:spPr>
        </p:sp>
        <p:sp>
          <p:nvSpPr>
            <p:cNvPr id="37" name="text-100-495"/>
            <p:cNvSpPr>
              <a:spLocks noGrp="1"/>
            </p:cNvSpPr>
            <p:nvPr/>
          </p:nvSpPr>
          <p:spPr>
            <a:xfrm>
              <a:off x="2700" y="9225"/>
              <a:ext cx="8250" cy="27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105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3. Delayed Evaluation &amp; Wasteful Execution Runout</a:t>
              </a:r>
              <a:endParaRPr sz="1200" b="1">
                <a:solidFill>
                  <a:srgbClr val="B91C1C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8" name="text-100-515"/>
            <p:cNvSpPr>
              <a:spLocks noGrp="1"/>
            </p:cNvSpPr>
            <p:nvPr/>
          </p:nvSpPr>
          <p:spPr>
            <a:xfrm>
              <a:off x="2700" y="9541"/>
              <a:ext cx="8250" cy="24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9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Agent derails into infinite parameter loops at turn 18, but harness runs blindly to turn 100.</a:t>
              </a:r>
              <a:endParaRPr sz="1000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39" name="card-100-569"/>
            <p:cNvSpPr>
              <a:spLocks noGrp="1"/>
            </p:cNvSpPr>
            <p:nvPr/>
          </p:nvSpPr>
          <p:spPr>
            <a:xfrm>
              <a:off x="4191" y="10260"/>
              <a:ext cx="6749" cy="419"/>
            </a:xfrm>
            <a:prstGeom prst="roundRect">
              <a:avLst>
                <a:gd name="adj" fmla="val 33333"/>
              </a:avLst>
            </a:prstGeom>
            <a:solidFill>
              <a:srgbClr val="FEF2F2"/>
            </a:solidFill>
            <a:ln w="14288">
              <a:solidFill>
                <a:srgbClr val="EF4444"/>
              </a:solidFill>
              <a:prstDash val="dash"/>
            </a:ln>
          </p:spPr>
        </p:sp>
        <p:sp>
          <p:nvSpPr>
            <p:cNvPr id="40" name="card-100-569"/>
            <p:cNvSpPr>
              <a:spLocks noGrp="1"/>
            </p:cNvSpPr>
            <p:nvPr/>
          </p:nvSpPr>
          <p:spPr>
            <a:xfrm>
              <a:off x="2700" y="10335"/>
              <a:ext cx="1500" cy="270"/>
            </a:xfrm>
            <a:prstGeom prst="roundRect">
              <a:avLst>
                <a:gd name="adj" fmla="val 33333"/>
              </a:avLst>
            </a:prstGeom>
            <a:solidFill>
              <a:srgbClr val="FCA5A5"/>
            </a:solidFill>
            <a:ln w="0">
              <a:noFill/>
              <a:prstDash val="solid"/>
            </a:ln>
          </p:spPr>
        </p:sp>
        <p:sp>
          <p:nvSpPr>
            <p:cNvPr id="43" name="text-180-597"/>
            <p:cNvSpPr>
              <a:spLocks noGrp="1"/>
            </p:cNvSpPr>
            <p:nvPr/>
          </p:nvSpPr>
          <p:spPr>
            <a:xfrm>
              <a:off x="3900" y="10755"/>
              <a:ext cx="1350" cy="21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ct val="105000"/>
                </a:lnSpc>
                <a:buNone/>
                <a:defRPr sz="75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750" b="1">
                  <a:solidFill>
                    <a:srgbClr val="B91C1C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Step 18 (Stuck)</a:t>
              </a:r>
              <a:endParaRPr sz="750" b="1">
                <a:solidFill>
                  <a:srgbClr val="B91C1C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44" name="text-260-572"/>
            <p:cNvSpPr>
              <a:spLocks noGrp="1"/>
            </p:cNvSpPr>
            <p:nvPr/>
          </p:nvSpPr>
          <p:spPr>
            <a:xfrm>
              <a:off x="5196" y="10335"/>
              <a:ext cx="5250" cy="27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ct val="105000"/>
                </a:lnSpc>
                <a:buNone/>
                <a:defRPr sz="750" b="1">
                  <a:solidFill>
                    <a:srgbClr val="DC262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DC262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Wasteful Prefix: 82 turns, 185s, 32k tokens squandered</a:t>
              </a:r>
              <a:endParaRPr sz="1000" b="1">
                <a:solidFill>
                  <a:srgbClr val="DC2626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46" name="panel-750-115"/>
            <p:cNvSpPr>
              <a:spLocks noGrp="1"/>
            </p:cNvSpPr>
            <p:nvPr/>
          </p:nvSpPr>
          <p:spPr>
            <a:xfrm>
              <a:off x="12450" y="3525"/>
              <a:ext cx="9450" cy="8175"/>
            </a:xfrm>
            <a:prstGeom prst="roundRect">
              <a:avLst>
                <a:gd name="adj" fmla="val 2936"/>
              </a:avLst>
            </a:prstGeom>
            <a:solidFill>
              <a:srgbClr val="F0FDF4"/>
            </a:solidFill>
            <a:ln w="19050">
              <a:solidFill>
                <a:srgbClr val="BBF7D0"/>
              </a:solidFill>
              <a:prstDash val="solid"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10">
              <a:srgbClr val="FFFFFF"/>
            </a:effectRef>
            <a:fontRef idx="major"/>
          </p:style>
        </p:sp>
        <p:sp>
          <p:nvSpPr>
            <p:cNvPr id="47" name="panel-750-115"/>
            <p:cNvSpPr>
              <a:spLocks noGrp="1"/>
            </p:cNvSpPr>
            <p:nvPr/>
          </p:nvSpPr>
          <p:spPr>
            <a:xfrm>
              <a:off x="12450" y="3525"/>
              <a:ext cx="9450" cy="780"/>
            </a:xfrm>
            <a:prstGeom prst="roundRect">
              <a:avLst>
                <a:gd name="adj" fmla="val 30769"/>
              </a:avLst>
            </a:prstGeom>
            <a:solidFill>
              <a:srgbClr val="DCFCE7"/>
            </a:solidFill>
            <a:ln w="9525">
              <a:solidFill>
                <a:srgbClr val="BBF7D0"/>
              </a:solidFill>
              <a:prstDash val="solid"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10">
              <a:srgbClr val="FFFFFF"/>
            </a:effectRef>
            <a:fontRef idx="major"/>
          </p:style>
        </p:sp>
        <p:sp>
          <p:nvSpPr>
            <p:cNvPr id="48" name="circle-770-129"/>
            <p:cNvSpPr>
              <a:spLocks noGrp="1"/>
            </p:cNvSpPr>
            <p:nvPr/>
          </p:nvSpPr>
          <p:spPr>
            <a:xfrm>
              <a:off x="12750" y="3735"/>
              <a:ext cx="360" cy="360"/>
            </a:xfrm>
            <a:prstGeom prst="ellipse">
              <a:avLst/>
            </a:prstGeom>
            <a:solidFill>
              <a:srgbClr val="10B981"/>
            </a:solidFill>
            <a:ln w="14288">
              <a:solidFill>
                <a:srgbClr val="10B981"/>
              </a:solidFill>
              <a:prstDash val="solid"/>
            </a:ln>
          </p:spPr>
          <p:txBody>
            <a:bodyPr lIns="0" tIns="0" rIns="0" bIns="0" anchor="ctr">
              <a:noAutofit/>
            </a:bodyPr>
            <a:lstStyle/>
            <a:p>
              <a:pPr algn="ctr">
                <a:buNone/>
                <a:defRPr sz="975" b="1">
                  <a:solidFill>
                    <a:srgbClr val="FFFFF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75" b="1">
                  <a:solidFill>
                    <a:srgbClr val="FFFFF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✓</a:t>
              </a:r>
              <a:endParaRPr sz="9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49" name="text-804-123"/>
            <p:cNvSpPr>
              <a:spLocks noGrp="1"/>
            </p:cNvSpPr>
            <p:nvPr/>
          </p:nvSpPr>
          <p:spPr>
            <a:xfrm>
              <a:off x="13260" y="3735"/>
              <a:ext cx="8550" cy="30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124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4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(b) DynSTEER: Targeted Stage Review &amp; Proactive Control</a:t>
              </a:r>
              <a:endParaRPr sz="1400" b="1">
                <a:solidFill>
                  <a:srgbClr val="166534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50" name="card-774-187"/>
            <p:cNvSpPr>
              <a:spLocks noGrp="1"/>
            </p:cNvSpPr>
            <p:nvPr/>
          </p:nvSpPr>
          <p:spPr>
            <a:xfrm>
              <a:off x="12810" y="4605"/>
              <a:ext cx="8730" cy="2025"/>
            </a:xfrm>
            <a:prstGeom prst="roundRect">
              <a:avLst>
                <a:gd name="adj" fmla="val 7407"/>
              </a:avLst>
            </a:prstGeom>
            <a:solidFill>
              <a:srgbClr val="FFFFFF"/>
            </a:solidFill>
            <a:ln w="14288">
              <a:solidFill>
                <a:srgbClr val="BBF7D0"/>
              </a:solidFill>
              <a:prstDash val="solid"/>
            </a:ln>
          </p:spPr>
        </p:sp>
        <p:sp>
          <p:nvSpPr>
            <p:cNvPr id="51" name="text-790-195"/>
            <p:cNvSpPr>
              <a:spLocks noGrp="1"/>
            </p:cNvSpPr>
            <p:nvPr/>
          </p:nvSpPr>
          <p:spPr>
            <a:xfrm>
              <a:off x="13050" y="4725"/>
              <a:ext cx="8250" cy="27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105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1. Targeted Stage-wise Review with Rich Trajectory Context</a:t>
              </a:r>
              <a:endParaRPr sz="1200" b="1">
                <a:solidFill>
                  <a:srgbClr val="15803D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52" name="text-790-215"/>
            <p:cNvSpPr>
              <a:spLocks noGrp="1"/>
            </p:cNvSpPr>
            <p:nvPr/>
          </p:nvSpPr>
          <p:spPr>
            <a:xfrm>
              <a:off x="13050" y="5025"/>
              <a:ext cx="8250" cy="58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9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Focuses on essential milestones with adequate context; </a:t>
              </a:r>
              <a:endParaRPr sz="1000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  <a:p>
              <a:pPr algn="l">
                <a:lnSpc>
                  <a:spcPct val="105000"/>
                </a:lnSpc>
                <a:buNone/>
                <a:defRPr sz="9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lang="en-US" sz="10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D</a:t>
              </a:r>
              <a:r>
                <a:rPr sz="10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ynamically adapts strategy toward weak links.</a:t>
              </a:r>
              <a:endParaRPr sz="1000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53" name="card-790-272"/>
            <p:cNvSpPr>
              <a:spLocks noGrp="1"/>
            </p:cNvSpPr>
            <p:nvPr/>
          </p:nvSpPr>
          <p:spPr>
            <a:xfrm>
              <a:off x="13050" y="5610"/>
              <a:ext cx="1800" cy="660"/>
            </a:xfrm>
            <a:prstGeom prst="roundRect">
              <a:avLst>
                <a:gd name="adj" fmla="val 13636"/>
              </a:avLst>
            </a:prstGeom>
            <a:solidFill>
              <a:srgbClr val="F8FAFC"/>
            </a:solidFill>
            <a:ln w="14288">
              <a:solidFill>
                <a:srgbClr val="CBD5E1"/>
              </a:solidFill>
              <a:prstDash val="solid"/>
            </a:ln>
          </p:spPr>
          <p:txBody>
            <a:bodyPr lIns="95250" tIns="19050" rIns="38100" bIns="19050" anchor="ctr">
              <a:noAutofit/>
            </a:bodyPr>
            <a:lstStyle/>
            <a:p>
              <a:pPr algn="l">
                <a:lnSpc>
                  <a:spcPct val="120000"/>
                </a:lnSpc>
                <a:buNone/>
                <a:defRPr sz="750"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5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Stage 1 [s0 ➔ M1]</a:t>
              </a:r>
              <a:endParaRPr sz="85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  <a:p>
              <a:pPr algn="l">
                <a:lnSpc>
                  <a:spcPct val="120000"/>
                </a:lnSpc>
                <a:buNone/>
                <a:defRPr sz="750"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50">
                  <a:solidFill>
                    <a:srgbClr val="10B981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Correctness: 1.0 ✓</a:t>
              </a:r>
              <a:endParaRPr sz="850">
                <a:solidFill>
                  <a:srgbClr val="10B981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54" name="card-945-272"/>
            <p:cNvSpPr>
              <a:spLocks noGrp="1"/>
            </p:cNvSpPr>
            <p:nvPr/>
          </p:nvSpPr>
          <p:spPr>
            <a:xfrm>
              <a:off x="15375" y="5610"/>
              <a:ext cx="2989" cy="660"/>
            </a:xfrm>
            <a:prstGeom prst="roundRect">
              <a:avLst>
                <a:gd name="adj" fmla="val 13636"/>
              </a:avLst>
            </a:prstGeom>
            <a:solidFill>
              <a:srgbClr val="FEF2F2"/>
            </a:solidFill>
            <a:ln w="14288">
              <a:solidFill>
                <a:srgbClr val="EF4444"/>
              </a:solidFill>
              <a:prstDash val="solid"/>
            </a:ln>
          </p:spPr>
          <p:txBody>
            <a:bodyPr lIns="76200" tIns="19050" rIns="38100" bIns="19050" anchor="ctr">
              <a:noAutofit/>
            </a:bodyPr>
            <a:lstStyle/>
            <a:p>
              <a:pPr algn="l">
                <a:lnSpc>
                  <a:spcPct val="120000"/>
                </a:lnSpc>
                <a:buNone/>
                <a:defRPr sz="715"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20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Stage 2 [M1 ➔ M2] (Targeted)</a:t>
              </a:r>
              <a:endParaRPr sz="820" b="1">
                <a:solidFill>
                  <a:srgbClr val="991B1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  <a:p>
              <a:pPr algn="l">
                <a:lnSpc>
                  <a:spcPct val="120000"/>
                </a:lnSpc>
                <a:buNone/>
                <a:defRPr sz="715"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820" b="1">
                  <a:solidFill>
                    <a:srgbClr val="DC262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⚠️ First Error Isolated at Step 3!</a:t>
              </a:r>
              <a:endParaRPr sz="820" b="1">
                <a:solidFill>
                  <a:srgbClr val="DC2626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55" name="card-1125-272"/>
            <p:cNvSpPr>
              <a:spLocks noGrp="1"/>
            </p:cNvSpPr>
            <p:nvPr/>
          </p:nvSpPr>
          <p:spPr>
            <a:xfrm>
              <a:off x="18570" y="5610"/>
              <a:ext cx="2745" cy="720"/>
            </a:xfrm>
            <a:prstGeom prst="roundRect">
              <a:avLst>
                <a:gd name="adj" fmla="val 12500"/>
              </a:avLst>
            </a:prstGeom>
            <a:solidFill>
              <a:srgbClr val="F0FDF4"/>
            </a:solidFill>
            <a:ln w="14288">
              <a:solidFill>
                <a:srgbClr val="10B981"/>
              </a:solidFill>
              <a:prstDash val="solid"/>
            </a:ln>
          </p:spPr>
          <p:txBody>
            <a:bodyPr lIns="95250" tIns="19050" rIns="47625" bIns="19050" anchor="ctr">
              <a:noAutofit/>
            </a:bodyPr>
            <a:lstStyle/>
            <a:p>
              <a:pPr algn="l">
                <a:lnSpc>
                  <a:spcPct val="120000"/>
                </a:lnSpc>
                <a:buNone/>
                <a:defRPr sz="675"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Dynamic Strategy Escalation</a:t>
              </a:r>
              <a:endParaRPr sz="900" b="1">
                <a:solidFill>
                  <a:srgbClr val="166534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  <a:p>
              <a:pPr algn="l">
                <a:lnSpc>
                  <a:spcPct val="120000"/>
                </a:lnSpc>
                <a:buNone/>
                <a:defRPr sz="675"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680">
                  <a:solidFill>
                    <a:srgbClr val="047857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✓ Focuses on agent's weak link
Sufficient Context: Avoids Step Noise</a:t>
              </a:r>
              <a:endParaRPr sz="680">
                <a:solidFill>
                  <a:srgbClr val="047857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cxnSp>
          <p:nvCxnSpPr>
            <p:cNvPr id="270" name="直接箭头连接符 201"/>
            <p:cNvCxnSpPr>
              <a:stCxn id="53" idx="3"/>
              <a:endCxn id="54" idx="1"/>
            </p:cNvCxnSpPr>
            <p:nvPr/>
          </p:nvCxnSpPr>
          <p:spPr>
            <a:xfrm>
              <a:off x="14850" y="5940"/>
              <a:ext cx="525" cy="0"/>
            </a:xfrm>
            <a:prstGeom prst="straightConnector1">
              <a:avLst/>
            </a:prstGeom>
            <a:ln w="19050">
              <a:solidFill>
                <a:srgbClr val="10B981"/>
              </a:solidFill>
              <a:prstDash val="solid"/>
              <a:headEnd type="triangle" w="sm" len="sm"/>
              <a:tailEnd type="none" w="med" len="med"/>
            </a:ln>
          </p:spPr>
        </p:cxnSp>
        <p:sp>
          <p:nvSpPr>
            <p:cNvPr id="57" name="card-774-337"/>
            <p:cNvSpPr>
              <a:spLocks noGrp="1"/>
            </p:cNvSpPr>
            <p:nvPr/>
          </p:nvSpPr>
          <p:spPr>
            <a:xfrm>
              <a:off x="12810" y="6855"/>
              <a:ext cx="8730" cy="2025"/>
            </a:xfrm>
            <a:prstGeom prst="roundRect">
              <a:avLst>
                <a:gd name="adj" fmla="val 7407"/>
              </a:avLst>
            </a:prstGeom>
            <a:solidFill>
              <a:srgbClr val="FFFFFF"/>
            </a:solidFill>
            <a:ln w="14288">
              <a:solidFill>
                <a:srgbClr val="BBF7D0"/>
              </a:solidFill>
              <a:prstDash val="solid"/>
            </a:ln>
          </p:spPr>
        </p:sp>
        <p:sp>
          <p:nvSpPr>
            <p:cNvPr id="58" name="text-790-345"/>
            <p:cNvSpPr>
              <a:spLocks noGrp="1"/>
            </p:cNvSpPr>
            <p:nvPr/>
          </p:nvSpPr>
          <p:spPr>
            <a:xfrm>
              <a:off x="13050" y="6975"/>
              <a:ext cx="8250" cy="27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105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2. Path-Tolerant Milestone DAG (Simulated Planning)</a:t>
              </a:r>
              <a:endParaRPr sz="1200" b="1">
                <a:solidFill>
                  <a:srgbClr val="15803D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59" name="text-790-365"/>
            <p:cNvSpPr>
              <a:spLocks noGrp="1"/>
            </p:cNvSpPr>
            <p:nvPr/>
          </p:nvSpPr>
          <p:spPr>
            <a:xfrm>
              <a:off x="13050" y="7275"/>
              <a:ext cx="8250" cy="24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9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Aggregates multiple public candidates; respects diverse valid exploratory branches.</a:t>
              </a:r>
              <a:endParaRPr sz="1000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60" name="circle-841-409"/>
            <p:cNvSpPr>
              <a:spLocks noGrp="1"/>
            </p:cNvSpPr>
            <p:nvPr/>
          </p:nvSpPr>
          <p:spPr>
            <a:xfrm>
              <a:off x="13701" y="7935"/>
              <a:ext cx="420" cy="420"/>
            </a:xfrm>
            <a:prstGeom prst="ellipse">
              <a:avLst/>
            </a:prstGeom>
            <a:solidFill>
              <a:srgbClr val="E2E8F0"/>
            </a:solidFill>
            <a:ln w="14288">
              <a:solidFill>
                <a:srgbClr val="94A3B8"/>
              </a:solidFill>
              <a:prstDash val="solid"/>
            </a:ln>
          </p:spPr>
          <p:txBody>
            <a:bodyPr lIns="0" tIns="0" rIns="0" bIns="0" anchor="ctr">
              <a:noAutofit/>
            </a:bodyPr>
            <a:lstStyle/>
            <a:p>
              <a:pPr algn="ctr">
                <a:buNone/>
                <a:defRPr sz="75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750" b="1">
                  <a:solidFill>
                    <a:srgbClr val="334155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s0</a:t>
              </a:r>
              <a:endParaRPr sz="750" b="1">
                <a:solidFill>
                  <a:srgbClr val="334155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61" name="card-901-399"/>
            <p:cNvSpPr>
              <a:spLocks noGrp="1"/>
            </p:cNvSpPr>
            <p:nvPr/>
          </p:nvSpPr>
          <p:spPr>
            <a:xfrm>
              <a:off x="14715" y="7727"/>
              <a:ext cx="1425" cy="360"/>
            </a:xfrm>
            <a:prstGeom prst="roundRect">
              <a:avLst>
                <a:gd name="adj" fmla="val 16667"/>
              </a:avLst>
            </a:prstGeom>
            <a:solidFill>
              <a:srgbClr val="EFF6FF"/>
            </a:solidFill>
            <a:ln w="9525">
              <a:solidFill>
                <a:srgbClr val="3B82F6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67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675" b="1">
                  <a:solidFill>
                    <a:srgbClr val="1E40A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Search(Name)</a:t>
              </a:r>
              <a:endParaRPr sz="675" b="1">
                <a:solidFill>
                  <a:srgbClr val="1E40A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62" name="card-901-427"/>
            <p:cNvSpPr>
              <a:spLocks noGrp="1"/>
            </p:cNvSpPr>
            <p:nvPr/>
          </p:nvSpPr>
          <p:spPr>
            <a:xfrm>
              <a:off x="14722" y="8294"/>
              <a:ext cx="1425" cy="360"/>
            </a:xfrm>
            <a:prstGeom prst="roundRect">
              <a:avLst>
                <a:gd name="adj" fmla="val 16667"/>
              </a:avLst>
            </a:prstGeom>
            <a:solidFill>
              <a:srgbClr val="ECFDF5"/>
            </a:solidFill>
            <a:ln w="9525">
              <a:solidFill>
                <a:srgbClr val="10B981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675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675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Filter(Date)</a:t>
              </a:r>
              <a:endParaRPr sz="675" b="1">
                <a:solidFill>
                  <a:srgbClr val="065F46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63" name="circle-1006-409"/>
            <p:cNvSpPr>
              <a:spLocks noGrp="1"/>
            </p:cNvSpPr>
            <p:nvPr/>
          </p:nvSpPr>
          <p:spPr>
            <a:xfrm>
              <a:off x="16876" y="7935"/>
              <a:ext cx="420" cy="420"/>
            </a:xfrm>
            <a:prstGeom prst="ellipse">
              <a:avLst/>
            </a:prstGeom>
            <a:solidFill>
              <a:srgbClr val="D1FAE5"/>
            </a:solidFill>
            <a:ln w="19050">
              <a:solidFill>
                <a:srgbClr val="10B981"/>
              </a:solidFill>
              <a:prstDash val="solid"/>
            </a:ln>
          </p:spPr>
          <p:txBody>
            <a:bodyPr lIns="0" tIns="0" rIns="0" bIns="0" anchor="ctr">
              <a:noAutofit/>
            </a:bodyPr>
            <a:lstStyle/>
            <a:p>
              <a:pPr algn="ctr">
                <a:buNone/>
                <a:defRPr sz="750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750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Call</a:t>
              </a:r>
              <a:endParaRPr sz="750" b="1">
                <a:solidFill>
                  <a:srgbClr val="065F46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64" name="card-1055-405"/>
            <p:cNvSpPr>
              <a:spLocks noGrp="1"/>
            </p:cNvSpPr>
            <p:nvPr/>
          </p:nvSpPr>
          <p:spPr>
            <a:xfrm>
              <a:off x="18691" y="7875"/>
              <a:ext cx="2656" cy="660"/>
            </a:xfrm>
            <a:prstGeom prst="roundRect">
              <a:avLst>
                <a:gd name="adj" fmla="val 13636"/>
              </a:avLst>
            </a:prstGeom>
            <a:solidFill>
              <a:srgbClr val="F0FDF4"/>
            </a:solidFill>
            <a:ln w="14288">
              <a:solidFill>
                <a:srgbClr val="10B981"/>
              </a:solidFill>
              <a:prstDash val="solid"/>
            </a:ln>
          </p:spPr>
          <p:txBody>
            <a:bodyPr lIns="95250" tIns="19050" rIns="47625" bIns="19050" anchor="ctr">
              <a:noAutofit/>
            </a:bodyPr>
            <a:lstStyle/>
            <a:p>
              <a:pPr algn="l">
                <a:lnSpc>
                  <a:spcPct val="120000"/>
                </a:lnSpc>
                <a:buNone/>
                <a:defRPr sz="750"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900" b="1">
                  <a:solidFill>
                    <a:srgbClr val="166534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Both Paths Accepted (Pass!)</a:t>
              </a:r>
              <a:endParaRPr sz="900" b="1">
                <a:solidFill>
                  <a:srgbClr val="166534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  <a:p>
              <a:pPr algn="l">
                <a:lnSpc>
                  <a:spcPct val="120000"/>
                </a:lnSpc>
                <a:buNone/>
                <a:defRPr sz="750"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750">
                  <a:solidFill>
                    <a:srgbClr val="047857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✓ Preserves LLM agent exploration</a:t>
              </a:r>
              <a:endParaRPr sz="750">
                <a:solidFill>
                  <a:srgbClr val="047857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69" name="card-774-487"/>
            <p:cNvSpPr>
              <a:spLocks noGrp="1"/>
            </p:cNvSpPr>
            <p:nvPr/>
          </p:nvSpPr>
          <p:spPr>
            <a:xfrm>
              <a:off x="12810" y="9105"/>
              <a:ext cx="8730" cy="2175"/>
            </a:xfrm>
            <a:prstGeom prst="roundRect">
              <a:avLst>
                <a:gd name="adj" fmla="val 6897"/>
              </a:avLst>
            </a:prstGeom>
            <a:solidFill>
              <a:srgbClr val="FFFFFF"/>
            </a:solidFill>
            <a:ln w="14288">
              <a:solidFill>
                <a:srgbClr val="BBF7D0"/>
              </a:solidFill>
              <a:prstDash val="solid"/>
            </a:ln>
          </p:spPr>
        </p:sp>
        <p:sp>
          <p:nvSpPr>
            <p:cNvPr id="70" name="text-790-495"/>
            <p:cNvSpPr>
              <a:spLocks noGrp="1"/>
            </p:cNvSpPr>
            <p:nvPr/>
          </p:nvSpPr>
          <p:spPr>
            <a:xfrm>
              <a:off x="13050" y="9225"/>
              <a:ext cx="8250" cy="27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105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200" b="1">
                  <a:solidFill>
                    <a:srgbClr val="15803D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3. Proactive Execution Control: Adaptive Early Termination</a:t>
              </a:r>
              <a:endParaRPr sz="1200" b="1">
                <a:solidFill>
                  <a:srgbClr val="15803D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71" name="text-790-515"/>
            <p:cNvSpPr>
              <a:spLocks noGrp="1"/>
            </p:cNvSpPr>
            <p:nvPr/>
          </p:nvSpPr>
          <p:spPr>
            <a:xfrm>
              <a:off x="13050" y="9525"/>
              <a:ext cx="8250" cy="24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9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>
                  <a:solidFill>
                    <a:srgbClr val="64748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Halts deadlocks &amp; fatal violations during execution; surfaces failure diagnostics immediately.</a:t>
              </a:r>
              <a:endParaRPr sz="1000">
                <a:solidFill>
                  <a:srgbClr val="64748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72" name="card-790-569"/>
            <p:cNvSpPr>
              <a:spLocks noGrp="1"/>
            </p:cNvSpPr>
            <p:nvPr/>
          </p:nvSpPr>
          <p:spPr>
            <a:xfrm>
              <a:off x="13050" y="10335"/>
              <a:ext cx="8014" cy="270"/>
            </a:xfrm>
            <a:prstGeom prst="roundRect">
              <a:avLst>
                <a:gd name="adj" fmla="val 33333"/>
              </a:avLst>
            </a:prstGeom>
            <a:solidFill>
              <a:srgbClr val="F1F5F9"/>
            </a:solidFill>
            <a:ln w="0">
              <a:noFill/>
              <a:prstDash val="solid"/>
            </a:ln>
          </p:spPr>
        </p:sp>
        <p:sp>
          <p:nvSpPr>
            <p:cNvPr id="73" name="card-790-569"/>
            <p:cNvSpPr>
              <a:spLocks noGrp="1"/>
            </p:cNvSpPr>
            <p:nvPr/>
          </p:nvSpPr>
          <p:spPr>
            <a:xfrm>
              <a:off x="13050" y="10335"/>
              <a:ext cx="1500" cy="270"/>
            </a:xfrm>
            <a:prstGeom prst="roundRect">
              <a:avLst>
                <a:gd name="adj" fmla="val 33333"/>
              </a:avLst>
            </a:prstGeom>
            <a:solidFill>
              <a:srgbClr val="10B981"/>
            </a:solidFill>
            <a:ln w="0">
              <a:noFill/>
              <a:prstDash val="solid"/>
            </a:ln>
          </p:spPr>
        </p:sp>
        <p:sp>
          <p:nvSpPr>
            <p:cNvPr id="75" name="card-845-541"/>
            <p:cNvSpPr>
              <a:spLocks noGrp="1"/>
            </p:cNvSpPr>
            <p:nvPr/>
          </p:nvSpPr>
          <p:spPr>
            <a:xfrm>
              <a:off x="13875" y="9915"/>
              <a:ext cx="1539" cy="270"/>
            </a:xfrm>
            <a:prstGeom prst="roundRect">
              <a:avLst>
                <a:gd name="adj" fmla="val 22222"/>
              </a:avLst>
            </a:prstGeom>
            <a:solidFill>
              <a:srgbClr val="059669"/>
            </a:solidFill>
            <a:ln w="0">
              <a:noFill/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750" b="1">
                  <a:solidFill>
                    <a:srgbClr val="FFFFF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750" b="1">
                  <a:solidFill>
                    <a:srgbClr val="FFFFFF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STOP AT STEP 18</a:t>
              </a:r>
              <a:endParaRPr sz="7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76" name="card-905-564"/>
            <p:cNvSpPr>
              <a:spLocks noGrp="1"/>
            </p:cNvSpPr>
            <p:nvPr/>
          </p:nvSpPr>
          <p:spPr>
            <a:xfrm>
              <a:off x="14775" y="10260"/>
              <a:ext cx="6572" cy="420"/>
            </a:xfrm>
            <a:prstGeom prst="roundRect">
              <a:avLst>
                <a:gd name="adj" fmla="val 21429"/>
              </a:avLst>
            </a:prstGeom>
            <a:solidFill>
              <a:srgbClr val="ECFDF5"/>
            </a:solidFill>
            <a:ln w="14288">
              <a:solidFill>
                <a:srgbClr val="10B981"/>
              </a:solidFill>
              <a:prstDash val="dash"/>
            </a:ln>
          </p:spPr>
        </p:sp>
        <p:sp>
          <p:nvSpPr>
            <p:cNvPr id="77" name="text-925-571"/>
            <p:cNvSpPr>
              <a:spLocks noGrp="1"/>
            </p:cNvSpPr>
            <p:nvPr/>
          </p:nvSpPr>
          <p:spPr>
            <a:xfrm>
              <a:off x="15075" y="10365"/>
              <a:ext cx="6000" cy="24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825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065F46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⚡ SAVED 82 TURNS (82% Execution Time &amp; 32k Tokens Saved)</a:t>
              </a:r>
              <a:endParaRPr sz="1000" b="1">
                <a:solidFill>
                  <a:srgbClr val="065F46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78" name="text-800-599"/>
            <p:cNvSpPr>
              <a:spLocks noGrp="1"/>
            </p:cNvSpPr>
            <p:nvPr/>
          </p:nvSpPr>
          <p:spPr>
            <a:xfrm>
              <a:off x="13200" y="10785"/>
              <a:ext cx="6750" cy="24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5000"/>
                </a:lnSpc>
                <a:buNone/>
                <a:defRPr sz="825" b="1">
                  <a:solidFill>
                    <a:srgbClr val="0F172A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1000" b="1">
                  <a:solidFill>
                    <a:srgbClr val="0F172A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Reason: Frontier Deadlock detected across ready milestones.</a:t>
              </a:r>
              <a:endParaRPr sz="1000" b="1">
                <a:solidFill>
                  <a:srgbClr val="0F172A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cxnSp>
          <p:nvCxnSpPr>
            <p:cNvPr id="56" name="直接连接符 55"/>
            <p:cNvCxnSpPr/>
            <p:nvPr/>
          </p:nvCxnSpPr>
          <p:spPr>
            <a:xfrm>
              <a:off x="14550" y="10185"/>
              <a:ext cx="0" cy="575"/>
            </a:xfrm>
            <a:prstGeom prst="line">
              <a:avLst/>
            </a:prstGeom>
            <a:ln w="27305">
              <a:solidFill>
                <a:srgbClr val="059669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5" name="直接箭头连接符 64"/>
            <p:cNvCxnSpPr>
              <a:stCxn id="60" idx="6"/>
              <a:endCxn id="61" idx="1"/>
            </p:cNvCxnSpPr>
            <p:nvPr/>
          </p:nvCxnSpPr>
          <p:spPr>
            <a:xfrm flipV="1">
              <a:off x="14121" y="7907"/>
              <a:ext cx="594" cy="238"/>
            </a:xfrm>
            <a:prstGeom prst="straightConnector1">
              <a:avLst/>
            </a:prstGeom>
            <a:ln w="14288">
              <a:solidFill>
                <a:srgbClr val="3B82F6"/>
              </a:solidFill>
              <a:prstDash val="solid"/>
              <a:headEnd type="none" w="sm" len="sm"/>
              <a:tailEnd type="triangle" w="med" len="med"/>
            </a:ln>
          </p:spPr>
        </p:cxnSp>
        <p:cxnSp>
          <p:nvCxnSpPr>
            <p:cNvPr id="66" name="直接箭头连接符 65"/>
            <p:cNvCxnSpPr>
              <a:stCxn id="60" idx="6"/>
              <a:endCxn id="62" idx="1"/>
            </p:cNvCxnSpPr>
            <p:nvPr/>
          </p:nvCxnSpPr>
          <p:spPr>
            <a:xfrm>
              <a:off x="14121" y="8145"/>
              <a:ext cx="601" cy="329"/>
            </a:xfrm>
            <a:prstGeom prst="straightConnector1">
              <a:avLst/>
            </a:prstGeom>
            <a:ln w="14288">
              <a:solidFill>
                <a:srgbClr val="10B981"/>
              </a:solidFill>
              <a:prstDash val="solid"/>
              <a:headEnd type="none" w="sm" len="sm"/>
              <a:tailEnd type="triangle" w="med" len="med"/>
            </a:ln>
          </p:spPr>
        </p:cxnSp>
        <p:cxnSp>
          <p:nvCxnSpPr>
            <p:cNvPr id="67" name="直接箭头连接符 66"/>
            <p:cNvCxnSpPr>
              <a:stCxn id="61" idx="3"/>
              <a:endCxn id="63" idx="2"/>
            </p:cNvCxnSpPr>
            <p:nvPr/>
          </p:nvCxnSpPr>
          <p:spPr>
            <a:xfrm>
              <a:off x="16140" y="7907"/>
              <a:ext cx="736" cy="238"/>
            </a:xfrm>
            <a:prstGeom prst="straightConnector1">
              <a:avLst/>
            </a:prstGeom>
            <a:ln w="14288">
              <a:solidFill>
                <a:srgbClr val="3B82F6"/>
              </a:solidFill>
              <a:prstDash val="solid"/>
              <a:headEnd type="none" w="sm" len="sm"/>
              <a:tailEnd type="triangle" w="med" len="med"/>
            </a:ln>
          </p:spPr>
        </p:cxnSp>
        <p:cxnSp>
          <p:nvCxnSpPr>
            <p:cNvPr id="68" name="直接箭头连接符 67"/>
            <p:cNvCxnSpPr>
              <a:stCxn id="62" idx="3"/>
              <a:endCxn id="63" idx="2"/>
            </p:cNvCxnSpPr>
            <p:nvPr/>
          </p:nvCxnSpPr>
          <p:spPr>
            <a:xfrm flipV="1">
              <a:off x="16147" y="8145"/>
              <a:ext cx="729" cy="329"/>
            </a:xfrm>
            <a:prstGeom prst="straightConnector1">
              <a:avLst/>
            </a:prstGeom>
            <a:ln w="14288">
              <a:solidFill>
                <a:srgbClr val="10B981"/>
              </a:solidFill>
              <a:prstDash val="solid"/>
              <a:headEnd type="none" w="sm" len="sm"/>
              <a:tailEnd type="triangle" w="med" len="med"/>
            </a:ln>
          </p:spPr>
        </p:cxnSp>
        <p:cxnSp>
          <p:nvCxnSpPr>
            <p:cNvPr id="80" name="直接连接符 79"/>
            <p:cNvCxnSpPr/>
            <p:nvPr/>
          </p:nvCxnSpPr>
          <p:spPr>
            <a:xfrm>
              <a:off x="4176" y="10185"/>
              <a:ext cx="0" cy="575"/>
            </a:xfrm>
            <a:prstGeom prst="line">
              <a:avLst/>
            </a:prstGeom>
            <a:ln w="27305">
              <a:solidFill>
                <a:srgbClr val="B91C1C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2" name="直接连接符 81"/>
            <p:cNvCxnSpPr/>
            <p:nvPr/>
          </p:nvCxnSpPr>
          <p:spPr>
            <a:xfrm>
              <a:off x="7691" y="5739"/>
              <a:ext cx="0" cy="435"/>
            </a:xfrm>
            <a:prstGeom prst="line">
              <a:avLst/>
            </a:prstGeom>
            <a:ln w="12700">
              <a:solidFill>
                <a:srgbClr val="F59E0B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/>
            <p:nvPr/>
          </p:nvCxnSpPr>
          <p:spPr>
            <a:xfrm>
              <a:off x="8258" y="5739"/>
              <a:ext cx="0" cy="435"/>
            </a:xfrm>
            <a:prstGeom prst="line">
              <a:avLst/>
            </a:prstGeom>
            <a:ln w="12700">
              <a:solidFill>
                <a:srgbClr val="F59E0B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4" name="直接连接符 83"/>
            <p:cNvCxnSpPr/>
            <p:nvPr/>
          </p:nvCxnSpPr>
          <p:spPr>
            <a:xfrm>
              <a:off x="8825" y="5724"/>
              <a:ext cx="0" cy="435"/>
            </a:xfrm>
            <a:prstGeom prst="line">
              <a:avLst/>
            </a:prstGeom>
            <a:ln w="12700">
              <a:solidFill>
                <a:srgbClr val="F59E0B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85" name="右箭头 84"/>
            <p:cNvSpPr/>
            <p:nvPr/>
          </p:nvSpPr>
          <p:spPr>
            <a:xfrm>
              <a:off x="5423" y="5880"/>
              <a:ext cx="227" cy="119"/>
            </a:xfrm>
            <a:prstGeom prst="rightArrow">
              <a:avLst>
                <a:gd name="adj1" fmla="val 32773"/>
                <a:gd name="adj2" fmla="val 49579"/>
              </a:avLst>
            </a:prstGeom>
            <a:solidFill>
              <a:srgbClr val="94A3B8"/>
            </a:solidFill>
            <a:ln w="12700">
              <a:solidFill>
                <a:srgbClr val="94A3B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6" name="card-112-276"/>
            <p:cNvSpPr>
              <a:spLocks noGrp="1"/>
            </p:cNvSpPr>
            <p:nvPr/>
          </p:nvSpPr>
          <p:spPr>
            <a:xfrm>
              <a:off x="7237" y="5814"/>
              <a:ext cx="360" cy="270"/>
            </a:xfrm>
            <a:prstGeom prst="roundRect">
              <a:avLst>
                <a:gd name="adj" fmla="val 16667"/>
              </a:avLst>
            </a:prstGeom>
            <a:solidFill>
              <a:srgbClr val="E2E8F0"/>
            </a:solidFill>
            <a:ln w="9525">
              <a:solidFill>
                <a:srgbClr val="94A3B8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56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56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S1</a:t>
              </a:r>
              <a:endParaRPr sz="565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87" name="card-138-276"/>
            <p:cNvSpPr>
              <a:spLocks noGrp="1"/>
            </p:cNvSpPr>
            <p:nvPr/>
          </p:nvSpPr>
          <p:spPr>
            <a:xfrm>
              <a:off x="7804" y="5814"/>
              <a:ext cx="360" cy="270"/>
            </a:xfrm>
            <a:prstGeom prst="roundRect">
              <a:avLst>
                <a:gd name="adj" fmla="val 16667"/>
              </a:avLst>
            </a:prstGeom>
            <a:solidFill>
              <a:srgbClr val="E2E8F0"/>
            </a:solidFill>
            <a:ln w="9525">
              <a:solidFill>
                <a:srgbClr val="94A3B8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56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565" b="1">
                  <a:solidFill>
                    <a:srgbClr val="475569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S2</a:t>
              </a:r>
              <a:endParaRPr sz="565" b="1">
                <a:solidFill>
                  <a:srgbClr val="475569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88" name="card-164-276"/>
            <p:cNvSpPr>
              <a:spLocks noGrp="1"/>
            </p:cNvSpPr>
            <p:nvPr/>
          </p:nvSpPr>
          <p:spPr>
            <a:xfrm>
              <a:off x="8371" y="5814"/>
              <a:ext cx="360" cy="270"/>
            </a:xfrm>
            <a:prstGeom prst="roundRect">
              <a:avLst>
                <a:gd name="adj" fmla="val 16667"/>
              </a:avLst>
            </a:prstGeom>
            <a:solidFill>
              <a:srgbClr val="FEE2E2"/>
            </a:solidFill>
            <a:ln w="14288">
              <a:solidFill>
                <a:srgbClr val="EF4444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565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565" b="1">
                  <a:solidFill>
                    <a:srgbClr val="991B1B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E3</a:t>
              </a:r>
              <a:endParaRPr sz="565" b="1">
                <a:solidFill>
                  <a:srgbClr val="991B1B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sp>
          <p:nvSpPr>
            <p:cNvPr id="89" name="card-190-276"/>
            <p:cNvSpPr>
              <a:spLocks noGrp="1"/>
            </p:cNvSpPr>
            <p:nvPr/>
          </p:nvSpPr>
          <p:spPr>
            <a:xfrm>
              <a:off x="8938" y="5814"/>
              <a:ext cx="360" cy="270"/>
            </a:xfrm>
            <a:prstGeom prst="roundRect">
              <a:avLst>
                <a:gd name="adj" fmla="val 16667"/>
              </a:avLst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 wrap="square" lIns="57150" tIns="9525" rIns="38100" bIns="9525" anchor="ctr">
              <a:noAutofit/>
            </a:bodyPr>
            <a:lstStyle/>
            <a:p>
              <a:pPr algn="ctr">
                <a:buNone/>
                <a:defRPr sz="565" b="1">
                  <a:solidFill>
                    <a:srgbClr val="9240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defRPr>
              </a:pPr>
              <a:r>
                <a:rPr sz="565" b="1">
                  <a:solidFill>
                    <a:srgbClr val="92400E"/>
                  </a:solidFill>
                  <a:latin typeface="Segoe UI" panose="020B0502040204020203"/>
                  <a:ea typeface="Segoe UI" panose="020B0502040204020203"/>
                  <a:cs typeface="Segoe UI" panose="020B0502040204020203"/>
                </a:rPr>
                <a:t>R4</a:t>
              </a:r>
              <a:endParaRPr sz="565" b="1">
                <a:solidFill>
                  <a:srgbClr val="92400E"/>
                </a:solidFill>
                <a:latin typeface="Segoe UI" panose="020B0502040204020203"/>
                <a:ea typeface="Segoe UI" panose="020B0502040204020203"/>
                <a:cs typeface="Segoe UI" panose="020B0502040204020203"/>
              </a:endParaRPr>
            </a:p>
          </p:txBody>
        </p:sp>
        <p:cxnSp>
          <p:nvCxnSpPr>
            <p:cNvPr id="90" name="直接连接符 89"/>
            <p:cNvCxnSpPr/>
            <p:nvPr/>
          </p:nvCxnSpPr>
          <p:spPr>
            <a:xfrm>
              <a:off x="9392" y="5724"/>
              <a:ext cx="0" cy="435"/>
            </a:xfrm>
            <a:prstGeom prst="line">
              <a:avLst/>
            </a:prstGeom>
            <a:ln w="12700">
              <a:solidFill>
                <a:srgbClr val="F59E0B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2" name="文本框 91"/>
            <p:cNvSpPr txBox="1"/>
            <p:nvPr/>
          </p:nvSpPr>
          <p:spPr>
            <a:xfrm>
              <a:off x="9505" y="5814"/>
              <a:ext cx="340" cy="25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indent="0" algn="ctr" fontAlgn="auto">
                <a:lnSpc>
                  <a:spcPct val="50000"/>
                </a:lnSpc>
              </a:pPr>
              <a:r>
                <a:rPr lang="en-US" altLang="zh-CN" sz="1200"/>
                <a:t>…</a:t>
              </a:r>
              <a:endParaRPr lang="en-US" altLang="zh-CN" sz="120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14300" dist="38100" dir="5400000">
              <a:srgbClr val="0F172A">
                <a:alpha val="6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14300" dist="38100" dir="5400000">
              <a:srgbClr val="0F172A">
                <a:alpha val="6000"/>
              </a:srgbClr>
            </a:outerShdw>
          </a:effectLst>
        </a:effectStyle>
        <a:effectStyle>
          <a:effectLst>
            <a:outerShdw blurRad="114300" dist="51294" dir="4091915">
              <a:srgbClr val="0F172A">
                <a:alpha val="6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3366</Words>
  <Application>WPS 演示</Application>
  <PresentationFormat>Converted Presentation</PresentationFormat>
  <Paragraphs>327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Arial</vt:lpstr>
      <vt:lpstr>宋体</vt:lpstr>
      <vt:lpstr>Wingdings</vt:lpstr>
      <vt:lpstr>Segoe UI</vt:lpstr>
      <vt:lpstr>Calibri</vt:lpstr>
      <vt:lpstr>微软雅黑</vt:lpstr>
      <vt:lpstr>Arial Unicode MS</vt:lpstr>
      <vt:lpstr>MS PGothic</vt:lpstr>
      <vt:lpstr>ChatGPT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某石</cp:lastModifiedBy>
  <cp:revision>190</cp:revision>
  <dcterms:created xsi:type="dcterms:W3CDTF">2026-09-22T17:26:00Z</dcterms:created>
  <dcterms:modified xsi:type="dcterms:W3CDTF">2026-09-23T18:35:31Z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03C558085EB9403792955B5E0EE86CDD_12</vt:lpwstr>
  </property>
  <property fmtid="{D5CDD505-2E9C-101B-9397-08002B2CF9AE}" pid="3" name="KSOProductBuildVer">
    <vt:lpwstr>2052-12.1.0.28505</vt:lpwstr>
  </property>
</Properties>
</file>