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5240000" cy="9525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Native editable conversion of docs/paper/iclr2027/figures/overall-framework.svg. Geometry, colors, labels, font scale, and icon placements follow the finalized PNG at 1600 x 1000.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23" name="曲线连接符 422"/>
          <p:cNvCxnSpPr>
            <a:stCxn id="387" idx="2"/>
            <a:endCxn id="378" idx="2"/>
          </p:cNvCxnSpPr>
          <p:nvPr/>
        </p:nvCxnSpPr>
        <p:spPr>
          <a:xfrm flipH="1">
            <a:off x="9010650" y="5619750"/>
            <a:ext cx="4572000" cy="0"/>
          </a:xfrm>
          <a:prstGeom prst="curvedConnector2">
            <a:avLst/>
          </a:prstGeom>
          <a:ln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424" name="直接箭头连接符 423"/>
          <p:cNvCxnSpPr>
            <a:stCxn id="384" idx="3"/>
            <a:endCxn id="387" idx="1"/>
          </p:cNvCxnSpPr>
          <p:nvPr/>
        </p:nvCxnSpPr>
        <p:spPr>
          <a:prstGeom prst="straightConnector1">
            <a:avLst/>
          </a:prstGeom>
          <a:ln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425" name="直接箭头连接符 424"/>
          <p:cNvCxnSpPr>
            <a:stCxn id="381" idx="3"/>
            <a:endCxn id="384" idx="1"/>
          </p:cNvCxnSpPr>
          <p:nvPr/>
        </p:nvCxnSpPr>
        <p:spPr>
          <a:prstGeom prst="straightConnector1">
            <a:avLst/>
          </a:prstGeom>
          <a:ln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426" name="直接箭头连接符 425"/>
          <p:cNvCxnSpPr>
            <a:stCxn id="378" idx="3"/>
            <a:endCxn id="381" idx="1"/>
          </p:cNvCxnSpPr>
          <p:nvPr/>
        </p:nvCxnSpPr>
        <p:spPr>
          <a:prstGeom prst="straightConnector1">
            <a:avLst/>
          </a:prstGeom>
          <a:ln w="19050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255" name="rect-1"/>
          <p:cNvSpPr>
            <a:spLocks noGrp="1"/>
          </p:cNvSpPr>
          <p:nvPr/>
        </p:nvSpPr>
        <p:spPr>
          <a:xfrm>
            <a:off x="333375" y="190500"/>
            <a:ext cx="14573250" cy="2512695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1">
            <a:srgbClr val="FFFFFF"/>
          </a:effectRef>
          <a:fontRef idx="major"/>
        </p:style>
      </p:sp>
      <p:sp>
        <p:nvSpPr>
          <p:cNvPr id="5" name="text-5"/>
          <p:cNvSpPr>
            <a:spLocks noGrp="1"/>
          </p:cNvSpPr>
          <p:nvPr/>
        </p:nvSpPr>
        <p:spPr>
          <a:xfrm>
            <a:off x="828675" y="243840"/>
            <a:ext cx="57912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15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Milestone Graph Generation</a:t>
            </a:r>
            <a:endParaRPr sz="18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" name="rect-6"/>
          <p:cNvSpPr>
            <a:spLocks noGrp="1"/>
          </p:cNvSpPr>
          <p:nvPr/>
        </p:nvSpPr>
        <p:spPr>
          <a:xfrm>
            <a:off x="563245" y="658495"/>
            <a:ext cx="2256790" cy="18288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4288">
            <a:solidFill>
              <a:srgbClr val="DBEAFE"/>
            </a:solidFill>
            <a:prstDash val="solid"/>
          </a:ln>
        </p:spPr>
      </p:sp>
      <p:pic>
        <p:nvPicPr>
          <p:cNvPr id="430" name="图片 2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595" y="734695"/>
            <a:ext cx="190500" cy="190500"/>
          </a:xfrm>
          <a:prstGeom prst="rect">
            <a:avLst/>
          </a:prstGeom>
        </p:spPr>
      </p:pic>
      <p:sp>
        <p:nvSpPr>
          <p:cNvPr id="8" name="text-8"/>
          <p:cNvSpPr>
            <a:spLocks noGrp="1"/>
          </p:cNvSpPr>
          <p:nvPr/>
        </p:nvSpPr>
        <p:spPr>
          <a:xfrm>
            <a:off x="963295" y="731838"/>
            <a:ext cx="15811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11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Task Inputs</a:t>
            </a:r>
            <a:endParaRPr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rect-9"/>
          <p:cNvSpPr>
            <a:spLocks noGrp="1"/>
          </p:cNvSpPr>
          <p:nvPr/>
        </p:nvSpPr>
        <p:spPr>
          <a:xfrm>
            <a:off x="696595" y="982345"/>
            <a:ext cx="197104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33" name="图片 2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45" y="1058545"/>
            <a:ext cx="171450" cy="171450"/>
          </a:xfrm>
          <a:prstGeom prst="rect">
            <a:avLst/>
          </a:prstGeom>
        </p:spPr>
      </p:pic>
      <p:sp>
        <p:nvSpPr>
          <p:cNvPr id="11" name="text-11"/>
          <p:cNvSpPr>
            <a:spLocks noGrp="1"/>
          </p:cNvSpPr>
          <p:nvPr/>
        </p:nvSpPr>
        <p:spPr>
          <a:xfrm>
            <a:off x="1039495" y="1056069"/>
            <a:ext cx="980599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Instruction</a:t>
            </a:r>
            <a:endParaRPr sz="100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rect-12"/>
          <p:cNvSpPr>
            <a:spLocks noGrp="1"/>
          </p:cNvSpPr>
          <p:nvPr/>
        </p:nvSpPr>
        <p:spPr>
          <a:xfrm>
            <a:off x="696595" y="1458595"/>
            <a:ext cx="197104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36" name="图片 2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45" y="1534795"/>
            <a:ext cx="171450" cy="171450"/>
          </a:xfrm>
          <a:prstGeom prst="rect">
            <a:avLst/>
          </a:prstGeom>
        </p:spPr>
      </p:pic>
      <p:sp>
        <p:nvSpPr>
          <p:cNvPr id="14" name="text-14"/>
          <p:cNvSpPr>
            <a:spLocks noGrp="1"/>
          </p:cNvSpPr>
          <p:nvPr/>
        </p:nvSpPr>
        <p:spPr>
          <a:xfrm>
            <a:off x="1039495" y="1532319"/>
            <a:ext cx="1061085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Tool schemas</a:t>
            </a:r>
            <a:endParaRPr sz="100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rect-15"/>
          <p:cNvSpPr>
            <a:spLocks noGrp="1"/>
          </p:cNvSpPr>
          <p:nvPr/>
        </p:nvSpPr>
        <p:spPr>
          <a:xfrm>
            <a:off x="696595" y="1925320"/>
            <a:ext cx="197104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39" name="图片 2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45" y="2001520"/>
            <a:ext cx="171450" cy="171450"/>
          </a:xfrm>
          <a:prstGeom prst="rect">
            <a:avLst/>
          </a:prstGeom>
        </p:spPr>
      </p:pic>
      <p:sp>
        <p:nvSpPr>
          <p:cNvPr id="17" name="text-17"/>
          <p:cNvSpPr>
            <a:spLocks noGrp="1"/>
          </p:cNvSpPr>
          <p:nvPr/>
        </p:nvSpPr>
        <p:spPr>
          <a:xfrm>
            <a:off x="1039495" y="1999044"/>
            <a:ext cx="1383030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Initial metadata</a:t>
            </a:r>
            <a:endParaRPr sz="100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" name="rect-21"/>
          <p:cNvSpPr>
            <a:spLocks noGrp="1"/>
          </p:cNvSpPr>
          <p:nvPr/>
        </p:nvSpPr>
        <p:spPr>
          <a:xfrm>
            <a:off x="3934460" y="657860"/>
            <a:ext cx="4054475" cy="18288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4288">
            <a:solidFill>
              <a:srgbClr val="DBEAFE"/>
            </a:solidFill>
            <a:prstDash val="solid"/>
          </a:ln>
        </p:spPr>
      </p:sp>
      <p:pic>
        <p:nvPicPr>
          <p:cNvPr id="442" name="图片 2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540" y="731520"/>
            <a:ext cx="190500" cy="190500"/>
          </a:xfrm>
          <a:prstGeom prst="rect">
            <a:avLst/>
          </a:prstGeom>
        </p:spPr>
      </p:pic>
      <p:sp>
        <p:nvSpPr>
          <p:cNvPr id="24" name="text-23"/>
          <p:cNvSpPr>
            <a:spLocks noGrp="1"/>
          </p:cNvSpPr>
          <p:nvPr/>
        </p:nvSpPr>
        <p:spPr>
          <a:xfrm>
            <a:off x="4333240" y="728663"/>
            <a:ext cx="2509838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11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Simulated candidate graphs</a:t>
            </a:r>
            <a:endParaRPr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5" name="rect-24"/>
          <p:cNvSpPr>
            <a:spLocks noGrp="1"/>
          </p:cNvSpPr>
          <p:nvPr/>
        </p:nvSpPr>
        <p:spPr>
          <a:xfrm>
            <a:off x="4057015" y="962660"/>
            <a:ext cx="118491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-25"/>
          <p:cNvSpPr>
            <a:spLocks noGrp="1"/>
          </p:cNvSpPr>
          <p:nvPr/>
        </p:nvSpPr>
        <p:spPr>
          <a:xfrm>
            <a:off x="4122420" y="1007745"/>
            <a:ext cx="737870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</a:t>
            </a: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andidate</a:t>
            </a: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</a:t>
            </a:r>
            <a:endParaRPr sz="100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" name="rect-26"/>
          <p:cNvSpPr>
            <a:spLocks noGrp="1"/>
          </p:cNvSpPr>
          <p:nvPr/>
        </p:nvSpPr>
        <p:spPr>
          <a:xfrm>
            <a:off x="4409440" y="12293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8" name="text-27"/>
          <p:cNvSpPr>
            <a:spLocks noGrp="1"/>
          </p:cNvSpPr>
          <p:nvPr/>
        </p:nvSpPr>
        <p:spPr>
          <a:xfrm>
            <a:off x="4485640" y="12558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</a:t>
            </a:r>
            <a:endParaRPr sz="82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9" name="rect-28"/>
          <p:cNvSpPr>
            <a:spLocks noGrp="1"/>
          </p:cNvSpPr>
          <p:nvPr/>
        </p:nvSpPr>
        <p:spPr>
          <a:xfrm>
            <a:off x="4409440" y="151511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0" name="text-29"/>
          <p:cNvSpPr>
            <a:spLocks noGrp="1"/>
          </p:cNvSpPr>
          <p:nvPr/>
        </p:nvSpPr>
        <p:spPr>
          <a:xfrm>
            <a:off x="4485640" y="154159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M1a</a:t>
            </a:r>
            <a:endParaRPr sz="82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1" name="rect-30"/>
          <p:cNvSpPr>
            <a:spLocks noGrp="1"/>
          </p:cNvSpPr>
          <p:nvPr/>
        </p:nvSpPr>
        <p:spPr>
          <a:xfrm>
            <a:off x="4409440" y="18008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2" name="text-31"/>
          <p:cNvSpPr>
            <a:spLocks noGrp="1"/>
          </p:cNvSpPr>
          <p:nvPr/>
        </p:nvSpPr>
        <p:spPr>
          <a:xfrm>
            <a:off x="4485640" y="18273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M2</a:t>
            </a:r>
            <a:endParaRPr sz="82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3" name="poly-451-152"/>
          <p:cNvSpPr>
            <a:spLocks noGrp="1"/>
          </p:cNvSpPr>
          <p:nvPr/>
        </p:nvSpPr>
        <p:spPr>
          <a:xfrm>
            <a:off x="4657090" y="141986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60A5FA"/>
            </a:solidFill>
            <a:prstDash val="solid"/>
          </a:ln>
        </p:spPr>
      </p:sp>
      <p:sp>
        <p:nvSpPr>
          <p:cNvPr id="34" name="poly-451-182"/>
          <p:cNvSpPr>
            <a:spLocks noGrp="1"/>
          </p:cNvSpPr>
          <p:nvPr/>
        </p:nvSpPr>
        <p:spPr>
          <a:xfrm>
            <a:off x="4657090" y="170561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60A5FA"/>
            </a:solidFill>
            <a:prstDash val="solid"/>
          </a:ln>
        </p:spPr>
      </p:sp>
      <p:sp>
        <p:nvSpPr>
          <p:cNvPr id="35" name="rect-33"/>
          <p:cNvSpPr>
            <a:spLocks noGrp="1"/>
          </p:cNvSpPr>
          <p:nvPr/>
        </p:nvSpPr>
        <p:spPr>
          <a:xfrm>
            <a:off x="5352415" y="962660"/>
            <a:ext cx="118491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text-34"/>
          <p:cNvSpPr>
            <a:spLocks noGrp="1"/>
          </p:cNvSpPr>
          <p:nvPr/>
        </p:nvSpPr>
        <p:spPr>
          <a:xfrm>
            <a:off x="5457825" y="1007745"/>
            <a:ext cx="803910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</a:t>
            </a: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andidate</a:t>
            </a: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</a:t>
            </a:r>
            <a:endParaRPr sz="100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7" name="rect-35"/>
          <p:cNvSpPr>
            <a:spLocks noGrp="1"/>
          </p:cNvSpPr>
          <p:nvPr/>
        </p:nvSpPr>
        <p:spPr>
          <a:xfrm>
            <a:off x="5704840" y="12293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38" name="text-36"/>
          <p:cNvSpPr>
            <a:spLocks noGrp="1"/>
          </p:cNvSpPr>
          <p:nvPr/>
        </p:nvSpPr>
        <p:spPr>
          <a:xfrm>
            <a:off x="5781040" y="12558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</a:t>
            </a:r>
            <a:endParaRPr sz="82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9" name="rect-37"/>
          <p:cNvSpPr>
            <a:spLocks noGrp="1"/>
          </p:cNvSpPr>
          <p:nvPr/>
        </p:nvSpPr>
        <p:spPr>
          <a:xfrm>
            <a:off x="5704840" y="151511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40" name="text-38"/>
          <p:cNvSpPr>
            <a:spLocks noGrp="1"/>
          </p:cNvSpPr>
          <p:nvPr/>
        </p:nvSpPr>
        <p:spPr>
          <a:xfrm>
            <a:off x="5781040" y="154159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M1b</a:t>
            </a:r>
            <a:endParaRPr sz="82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" name="rect-39"/>
          <p:cNvSpPr>
            <a:spLocks noGrp="1"/>
          </p:cNvSpPr>
          <p:nvPr/>
        </p:nvSpPr>
        <p:spPr>
          <a:xfrm>
            <a:off x="5704840" y="18008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42" name="text-40"/>
          <p:cNvSpPr>
            <a:spLocks noGrp="1"/>
          </p:cNvSpPr>
          <p:nvPr/>
        </p:nvSpPr>
        <p:spPr>
          <a:xfrm>
            <a:off x="5781040" y="18273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M2</a:t>
            </a:r>
            <a:endParaRPr sz="82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3" name="poly-611-152"/>
          <p:cNvSpPr>
            <a:spLocks noGrp="1"/>
          </p:cNvSpPr>
          <p:nvPr/>
        </p:nvSpPr>
        <p:spPr>
          <a:xfrm>
            <a:off x="5952490" y="141986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34D399"/>
            </a:solidFill>
            <a:prstDash val="solid"/>
          </a:ln>
        </p:spPr>
      </p:sp>
      <p:sp>
        <p:nvSpPr>
          <p:cNvPr id="44" name="poly-611-182"/>
          <p:cNvSpPr>
            <a:spLocks noGrp="1"/>
          </p:cNvSpPr>
          <p:nvPr/>
        </p:nvSpPr>
        <p:spPr>
          <a:xfrm>
            <a:off x="5952490" y="170561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34D399"/>
            </a:solidFill>
            <a:prstDash val="solid"/>
          </a:ln>
        </p:spPr>
      </p:sp>
      <p:sp>
        <p:nvSpPr>
          <p:cNvPr id="45" name="rect-42"/>
          <p:cNvSpPr>
            <a:spLocks noGrp="1"/>
          </p:cNvSpPr>
          <p:nvPr/>
        </p:nvSpPr>
        <p:spPr>
          <a:xfrm>
            <a:off x="6658610" y="962660"/>
            <a:ext cx="118491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text-43"/>
          <p:cNvSpPr>
            <a:spLocks noGrp="1"/>
          </p:cNvSpPr>
          <p:nvPr/>
        </p:nvSpPr>
        <p:spPr>
          <a:xfrm>
            <a:off x="6725920" y="1007745"/>
            <a:ext cx="737870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lvl="0" algn="l">
              <a:buClrTx/>
              <a:buSzTx/>
              <a:buFontTx/>
              <a:buNone/>
              <a:defRPr sz="97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/>
              <a:t>C</a:t>
            </a:r>
            <a:r>
              <a:rPr sz="1000"/>
              <a:t>a</a:t>
            </a:r>
            <a:r>
              <a:rPr sz="1000"/>
              <a:t>ndidate</a:t>
            </a:r>
            <a:r>
              <a:rPr sz="1000"/>
              <a:t>3</a:t>
            </a:r>
            <a:endParaRPr sz="1000"/>
          </a:p>
        </p:txBody>
      </p:sp>
      <p:sp>
        <p:nvSpPr>
          <p:cNvPr id="47" name="rect-44"/>
          <p:cNvSpPr>
            <a:spLocks noGrp="1"/>
          </p:cNvSpPr>
          <p:nvPr/>
        </p:nvSpPr>
        <p:spPr>
          <a:xfrm>
            <a:off x="7011035" y="12293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FEF9C3"/>
          </a:solidFill>
          <a:ln w="9525">
            <a:solidFill>
              <a:srgbClr val="FACC15"/>
            </a:solidFill>
            <a:prstDash val="solid"/>
          </a:ln>
        </p:spPr>
      </p:sp>
      <p:sp>
        <p:nvSpPr>
          <p:cNvPr id="48" name="text-45"/>
          <p:cNvSpPr>
            <a:spLocks noGrp="1"/>
          </p:cNvSpPr>
          <p:nvPr/>
        </p:nvSpPr>
        <p:spPr>
          <a:xfrm>
            <a:off x="7087235" y="12558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</a:t>
            </a:r>
            <a:endParaRPr sz="825" b="1">
              <a:solidFill>
                <a:srgbClr val="854D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9" name="rect-46"/>
          <p:cNvSpPr>
            <a:spLocks noGrp="1"/>
          </p:cNvSpPr>
          <p:nvPr/>
        </p:nvSpPr>
        <p:spPr>
          <a:xfrm>
            <a:off x="7011035" y="151511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FEF9C3"/>
          </a:solidFill>
          <a:ln w="9525">
            <a:solidFill>
              <a:srgbClr val="FACC15"/>
            </a:solidFill>
            <a:prstDash val="solid"/>
          </a:ln>
        </p:spPr>
      </p:sp>
      <p:sp>
        <p:nvSpPr>
          <p:cNvPr id="50" name="text-47"/>
          <p:cNvSpPr>
            <a:spLocks noGrp="1"/>
          </p:cNvSpPr>
          <p:nvPr/>
        </p:nvSpPr>
        <p:spPr>
          <a:xfrm>
            <a:off x="7087235" y="154159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M1c</a:t>
            </a:r>
            <a:endParaRPr sz="825" b="1">
              <a:solidFill>
                <a:srgbClr val="854D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1" name="rect-48"/>
          <p:cNvSpPr>
            <a:spLocks noGrp="1"/>
          </p:cNvSpPr>
          <p:nvPr/>
        </p:nvSpPr>
        <p:spPr>
          <a:xfrm>
            <a:off x="7011035" y="1800860"/>
            <a:ext cx="495300" cy="190500"/>
          </a:xfrm>
          <a:prstGeom prst="roundRect">
            <a:avLst>
              <a:gd name="adj" fmla="val 25000"/>
            </a:avLst>
          </a:prstGeom>
          <a:solidFill>
            <a:srgbClr val="FEF9C3"/>
          </a:solidFill>
          <a:ln w="9525">
            <a:solidFill>
              <a:srgbClr val="FACC15"/>
            </a:solidFill>
            <a:prstDash val="solid"/>
          </a:ln>
        </p:spPr>
      </p:sp>
      <p:sp>
        <p:nvSpPr>
          <p:cNvPr id="52" name="text-49"/>
          <p:cNvSpPr>
            <a:spLocks noGrp="1"/>
          </p:cNvSpPr>
          <p:nvPr/>
        </p:nvSpPr>
        <p:spPr>
          <a:xfrm>
            <a:off x="7087235" y="1827340"/>
            <a:ext cx="342900" cy="159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M2</a:t>
            </a:r>
            <a:endParaRPr sz="825" b="1">
              <a:solidFill>
                <a:srgbClr val="854D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3" name="poly-771-152"/>
          <p:cNvSpPr>
            <a:spLocks noGrp="1"/>
          </p:cNvSpPr>
          <p:nvPr/>
        </p:nvSpPr>
        <p:spPr>
          <a:xfrm>
            <a:off x="7258685" y="141986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EAB308"/>
            </a:solidFill>
            <a:prstDash val="solid"/>
          </a:ln>
        </p:spPr>
      </p:sp>
      <p:sp>
        <p:nvSpPr>
          <p:cNvPr id="54" name="poly-771-182"/>
          <p:cNvSpPr>
            <a:spLocks noGrp="1"/>
          </p:cNvSpPr>
          <p:nvPr/>
        </p:nvSpPr>
        <p:spPr>
          <a:xfrm>
            <a:off x="7258685" y="1705610"/>
            <a:ext cx="9525" cy="95250"/>
          </a:xfrm>
          <a:custGeom>
            <a:avLst/>
            <a:gdLst/>
            <a:ahLst/>
            <a:cxnLst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7145">
            <a:solidFill>
              <a:srgbClr val="EAB308"/>
            </a:solidFill>
            <a:prstDash val="solid"/>
          </a:ln>
        </p:spPr>
      </p:sp>
      <p:sp>
        <p:nvSpPr>
          <p:cNvPr id="55" name="rect-51"/>
          <p:cNvSpPr>
            <a:spLocks noGrp="1"/>
          </p:cNvSpPr>
          <p:nvPr/>
        </p:nvSpPr>
        <p:spPr>
          <a:xfrm>
            <a:off x="4057015" y="2181860"/>
            <a:ext cx="3786505" cy="1905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6" name="text-52"/>
          <p:cNvSpPr>
            <a:spLocks noGrp="1"/>
          </p:cNvSpPr>
          <p:nvPr/>
        </p:nvSpPr>
        <p:spPr>
          <a:xfrm>
            <a:off x="4171315" y="2198624"/>
            <a:ext cx="321564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Contract check: schema </a:t>
            </a:r>
            <a:r>
              <a: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&amp;</a:t>
            </a:r>
            <a:r>
              <a: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acyclic </a:t>
            </a:r>
            <a:r>
              <a: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&amp;</a:t>
            </a:r>
            <a:r>
              <a: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binding</a:t>
            </a:r>
            <a:endParaRPr sz="9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9" name="rect-54"/>
          <p:cNvSpPr>
            <a:spLocks noGrp="1"/>
          </p:cNvSpPr>
          <p:nvPr/>
        </p:nvSpPr>
        <p:spPr>
          <a:xfrm>
            <a:off x="8747760" y="657860"/>
            <a:ext cx="2070100" cy="18288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4288">
            <a:solidFill>
              <a:srgbClr val="86EFAC"/>
            </a:solidFill>
            <a:prstDash val="solid"/>
          </a:ln>
        </p:spPr>
      </p:sp>
      <p:pic>
        <p:nvPicPr>
          <p:cNvPr id="477" name="图片 3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585" y="731520"/>
            <a:ext cx="190500" cy="190500"/>
          </a:xfrm>
          <a:prstGeom prst="rect">
            <a:avLst/>
          </a:prstGeom>
        </p:spPr>
      </p:pic>
      <p:sp>
        <p:nvSpPr>
          <p:cNvPr id="61" name="text-56"/>
          <p:cNvSpPr>
            <a:spLocks noGrp="1"/>
          </p:cNvSpPr>
          <p:nvPr/>
        </p:nvSpPr>
        <p:spPr>
          <a:xfrm>
            <a:off x="9138285" y="728663"/>
            <a:ext cx="1395413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1125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Semantic merge</a:t>
            </a:r>
            <a:endParaRPr sz="12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2" name="rect-57"/>
          <p:cNvSpPr>
            <a:spLocks noGrp="1"/>
          </p:cNvSpPr>
          <p:nvPr/>
        </p:nvSpPr>
        <p:spPr>
          <a:xfrm>
            <a:off x="8874125" y="962660"/>
            <a:ext cx="1819910" cy="247650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63" name="text-58"/>
          <p:cNvSpPr>
            <a:spLocks noGrp="1"/>
          </p:cNvSpPr>
          <p:nvPr/>
        </p:nvSpPr>
        <p:spPr>
          <a:xfrm>
            <a:off x="8948420" y="1007999"/>
            <a:ext cx="3429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</a:t>
            </a:r>
            <a:endParaRPr sz="9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text-59"/>
          <p:cNvSpPr>
            <a:spLocks noGrp="1"/>
          </p:cNvSpPr>
          <p:nvPr/>
        </p:nvSpPr>
        <p:spPr>
          <a:xfrm>
            <a:off x="10155555" y="1007999"/>
            <a:ext cx="466725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r">
              <a:buNone/>
              <a:def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 / 3</a:t>
            </a:r>
            <a:endParaRPr sz="9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5" name="rect-60"/>
          <p:cNvSpPr>
            <a:spLocks noGrp="1"/>
          </p:cNvSpPr>
          <p:nvPr/>
        </p:nvSpPr>
        <p:spPr>
          <a:xfrm>
            <a:off x="8871585" y="1229360"/>
            <a:ext cx="1823085" cy="247650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66" name="text-61"/>
          <p:cNvSpPr>
            <a:spLocks noGrp="1"/>
          </p:cNvSpPr>
          <p:nvPr/>
        </p:nvSpPr>
        <p:spPr>
          <a:xfrm>
            <a:off x="8948420" y="1274699"/>
            <a:ext cx="3429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M1a</a:t>
            </a:r>
            <a:endParaRPr sz="9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7" name="text-62"/>
          <p:cNvSpPr>
            <a:spLocks noGrp="1"/>
          </p:cNvSpPr>
          <p:nvPr/>
        </p:nvSpPr>
        <p:spPr>
          <a:xfrm>
            <a:off x="10155555" y="1274699"/>
            <a:ext cx="466725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r">
              <a:buNone/>
              <a:def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 / 3</a:t>
            </a:r>
            <a:endParaRPr sz="9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8" name="rect-63"/>
          <p:cNvSpPr>
            <a:spLocks noGrp="1"/>
          </p:cNvSpPr>
          <p:nvPr/>
        </p:nvSpPr>
        <p:spPr>
          <a:xfrm>
            <a:off x="8871585" y="1496060"/>
            <a:ext cx="1822450" cy="247650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69" name="text-64"/>
          <p:cNvSpPr>
            <a:spLocks noGrp="1"/>
          </p:cNvSpPr>
          <p:nvPr/>
        </p:nvSpPr>
        <p:spPr>
          <a:xfrm>
            <a:off x="8948420" y="1534414"/>
            <a:ext cx="3429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M1b</a:t>
            </a:r>
            <a:endParaRPr sz="9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0" name="text-65"/>
          <p:cNvSpPr>
            <a:spLocks noGrp="1"/>
          </p:cNvSpPr>
          <p:nvPr/>
        </p:nvSpPr>
        <p:spPr>
          <a:xfrm>
            <a:off x="10155555" y="1541399"/>
            <a:ext cx="466725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r">
              <a:buNone/>
              <a:def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 / 3</a:t>
            </a:r>
            <a:endParaRPr sz="9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1" name="rect-66"/>
          <p:cNvSpPr>
            <a:spLocks noGrp="1"/>
          </p:cNvSpPr>
          <p:nvPr/>
        </p:nvSpPr>
        <p:spPr>
          <a:xfrm>
            <a:off x="8885555" y="1762760"/>
            <a:ext cx="1809750" cy="247650"/>
          </a:xfrm>
          <a:prstGeom prst="roundRect">
            <a:avLst>
              <a:gd name="adj" fmla="val 19231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72" name="text-67"/>
          <p:cNvSpPr>
            <a:spLocks noGrp="1"/>
          </p:cNvSpPr>
          <p:nvPr/>
        </p:nvSpPr>
        <p:spPr>
          <a:xfrm>
            <a:off x="8948420" y="1805559"/>
            <a:ext cx="3429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0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M1c</a:t>
            </a:r>
            <a:endParaRPr sz="90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3" name="text-68"/>
          <p:cNvSpPr>
            <a:spLocks noGrp="1"/>
          </p:cNvSpPr>
          <p:nvPr/>
        </p:nvSpPr>
        <p:spPr>
          <a:xfrm>
            <a:off x="10155555" y="1808099"/>
            <a:ext cx="466725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r">
              <a:buNone/>
              <a:defRPr sz="9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 / 3</a:t>
            </a:r>
            <a:endParaRPr sz="90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4" name="rect-69"/>
          <p:cNvSpPr>
            <a:spLocks noGrp="1"/>
          </p:cNvSpPr>
          <p:nvPr/>
        </p:nvSpPr>
        <p:spPr>
          <a:xfrm>
            <a:off x="8886190" y="2029460"/>
            <a:ext cx="1809750" cy="247650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75" name="text-70"/>
          <p:cNvSpPr>
            <a:spLocks noGrp="1"/>
          </p:cNvSpPr>
          <p:nvPr/>
        </p:nvSpPr>
        <p:spPr>
          <a:xfrm>
            <a:off x="8948420" y="2074799"/>
            <a:ext cx="3429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M2</a:t>
            </a:r>
            <a:endParaRPr sz="9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6" name="text-71"/>
          <p:cNvSpPr>
            <a:spLocks noGrp="1"/>
          </p:cNvSpPr>
          <p:nvPr/>
        </p:nvSpPr>
        <p:spPr>
          <a:xfrm>
            <a:off x="10155555" y="2074799"/>
            <a:ext cx="466725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r">
              <a:buNone/>
              <a:def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 / 3</a:t>
            </a:r>
            <a:endParaRPr sz="9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7" name="text-72"/>
          <p:cNvSpPr>
            <a:spLocks noGrp="1"/>
          </p:cNvSpPr>
          <p:nvPr/>
        </p:nvSpPr>
        <p:spPr>
          <a:xfrm>
            <a:off x="8948420" y="2286000"/>
            <a:ext cx="1746250" cy="1739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Majority + transitive reduction</a:t>
            </a:r>
            <a:endParaRPr sz="9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0" name="rect-74"/>
          <p:cNvSpPr>
            <a:spLocks noGrp="1"/>
          </p:cNvSpPr>
          <p:nvPr/>
        </p:nvSpPr>
        <p:spPr>
          <a:xfrm>
            <a:off x="11802110" y="657860"/>
            <a:ext cx="2858135" cy="18288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4288">
            <a:solidFill>
              <a:srgbClr val="86EFAC"/>
            </a:solidFill>
            <a:prstDash val="solid"/>
          </a:ln>
        </p:spPr>
      </p:sp>
      <p:pic>
        <p:nvPicPr>
          <p:cNvPr id="496" name="图片 3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9270" y="736600"/>
            <a:ext cx="190500" cy="190500"/>
          </a:xfrm>
          <a:prstGeom prst="rect">
            <a:avLst/>
          </a:prstGeom>
        </p:spPr>
      </p:pic>
      <p:sp>
        <p:nvSpPr>
          <p:cNvPr id="82" name="text-76"/>
          <p:cNvSpPr>
            <a:spLocks noGrp="1"/>
          </p:cNvSpPr>
          <p:nvPr/>
        </p:nvSpPr>
        <p:spPr>
          <a:xfrm>
            <a:off x="12205970" y="734060"/>
            <a:ext cx="2324735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1125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Path-tolerant Milestone </a:t>
            </a:r>
            <a:r>
              <a:rPr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Graph</a:t>
            </a:r>
            <a:endParaRPr sz="12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3" name="rect-77"/>
          <p:cNvSpPr>
            <a:spLocks noGrp="1"/>
          </p:cNvSpPr>
          <p:nvPr/>
        </p:nvSpPr>
        <p:spPr>
          <a:xfrm>
            <a:off x="11953240" y="989965"/>
            <a:ext cx="2571750" cy="1143000"/>
          </a:xfrm>
          <a:prstGeom prst="roundRect">
            <a:avLst>
              <a:gd name="adj" fmla="val 8750"/>
            </a:avLst>
          </a:prstGeom>
          <a:solidFill>
            <a:srgbClr val="EFF6F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rect-83"/>
          <p:cNvSpPr>
            <a:spLocks noGrp="1"/>
          </p:cNvSpPr>
          <p:nvPr/>
        </p:nvSpPr>
        <p:spPr>
          <a:xfrm>
            <a:off x="12039600" y="1438275"/>
            <a:ext cx="516200" cy="266700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4288">
            <a:solidFill>
              <a:srgbClr val="22C55E"/>
            </a:solidFill>
            <a:prstDash val="solid"/>
          </a:ln>
        </p:spPr>
      </p:sp>
      <p:sp>
        <p:nvSpPr>
          <p:cNvPr id="90" name="text-84"/>
          <p:cNvSpPr>
            <a:spLocks noGrp="1"/>
          </p:cNvSpPr>
          <p:nvPr/>
        </p:nvSpPr>
        <p:spPr>
          <a:xfrm>
            <a:off x="12140634" y="1491615"/>
            <a:ext cx="313552" cy="1739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</a:t>
            </a:r>
            <a:endParaRPr sz="9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1" name="rect-85"/>
          <p:cNvSpPr>
            <a:spLocks noGrp="1"/>
          </p:cNvSpPr>
          <p:nvPr/>
        </p:nvSpPr>
        <p:spPr>
          <a:xfrm>
            <a:off x="12938760" y="1256030"/>
            <a:ext cx="561340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92" name="text-86"/>
          <p:cNvSpPr>
            <a:spLocks noGrp="1"/>
          </p:cNvSpPr>
          <p:nvPr/>
        </p:nvSpPr>
        <p:spPr>
          <a:xfrm>
            <a:off x="13075085" y="1299210"/>
            <a:ext cx="288689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M1a</a:t>
            </a:r>
            <a:endParaRPr sz="82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3" name="rect-87"/>
          <p:cNvSpPr>
            <a:spLocks noGrp="1"/>
          </p:cNvSpPr>
          <p:nvPr/>
        </p:nvSpPr>
        <p:spPr>
          <a:xfrm>
            <a:off x="12938760" y="1675130"/>
            <a:ext cx="561340" cy="2286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94" name="text-88"/>
          <p:cNvSpPr>
            <a:spLocks noGrp="1"/>
          </p:cNvSpPr>
          <p:nvPr/>
        </p:nvSpPr>
        <p:spPr>
          <a:xfrm>
            <a:off x="13075085" y="1720850"/>
            <a:ext cx="288689" cy="144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M1b</a:t>
            </a:r>
            <a:endParaRPr sz="82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5" name="rect-89"/>
          <p:cNvSpPr>
            <a:spLocks noGrp="1"/>
          </p:cNvSpPr>
          <p:nvPr/>
        </p:nvSpPr>
        <p:spPr>
          <a:xfrm>
            <a:off x="13892910" y="1434465"/>
            <a:ext cx="530171" cy="266700"/>
          </a:xfrm>
          <a:prstGeom prst="roundRect">
            <a:avLst>
              <a:gd name="adj" fmla="val 21429"/>
            </a:avLst>
          </a:prstGeom>
          <a:solidFill>
            <a:srgbClr val="FEF9C3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96" name="text-90"/>
          <p:cNvSpPr>
            <a:spLocks noGrp="1"/>
          </p:cNvSpPr>
          <p:nvPr/>
        </p:nvSpPr>
        <p:spPr>
          <a:xfrm>
            <a:off x="14000338" y="1489075"/>
            <a:ext cx="313573" cy="1739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00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M2</a:t>
            </a:r>
            <a:endParaRPr sz="900" b="1">
              <a:solidFill>
                <a:srgbClr val="854D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1" name="text-92"/>
          <p:cNvSpPr>
            <a:spLocks noGrp="1"/>
          </p:cNvSpPr>
          <p:nvPr/>
        </p:nvSpPr>
        <p:spPr>
          <a:xfrm>
            <a:off x="11953875" y="2214499"/>
            <a:ext cx="2324100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Alternative paths remain valid</a:t>
            </a:r>
            <a:endParaRPr sz="10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4" name="rect-94"/>
          <p:cNvSpPr>
            <a:spLocks noGrp="1"/>
          </p:cNvSpPr>
          <p:nvPr/>
        </p:nvSpPr>
        <p:spPr>
          <a:xfrm>
            <a:off x="333375" y="3238500"/>
            <a:ext cx="14573250" cy="5905500"/>
          </a:xfrm>
          <a:prstGeom prst="roundRect">
            <a:avLst>
              <a:gd name="adj" fmla="val 2581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1">
            <a:srgbClr val="FFFFFF"/>
          </a:effectRef>
          <a:fontRef idx="major"/>
        </p:style>
      </p:sp>
      <p:sp>
        <p:nvSpPr>
          <p:cNvPr id="108" name="text-98"/>
          <p:cNvSpPr>
            <a:spLocks noGrp="1"/>
          </p:cNvSpPr>
          <p:nvPr/>
        </p:nvSpPr>
        <p:spPr>
          <a:xfrm>
            <a:off x="828675" y="3322320"/>
            <a:ext cx="653415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15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Dynamic </a:t>
            </a:r>
            <a:r>
              <a:rPr sz="18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Stage-wise Trajectory Evaluation</a:t>
            </a:r>
            <a:endParaRPr sz="18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9" name="rect-99"/>
          <p:cNvSpPr>
            <a:spLocks noGrp="1"/>
          </p:cNvSpPr>
          <p:nvPr/>
        </p:nvSpPr>
        <p:spPr>
          <a:xfrm>
            <a:off x="491490" y="3754120"/>
            <a:ext cx="7056755" cy="5249545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pic>
        <p:nvPicPr>
          <p:cNvPr id="511" name="图片 36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3830955"/>
            <a:ext cx="228600" cy="228600"/>
          </a:xfrm>
          <a:prstGeom prst="rect">
            <a:avLst/>
          </a:prstGeom>
        </p:spPr>
      </p:pic>
      <p:sp>
        <p:nvSpPr>
          <p:cNvPr id="111" name="text-101"/>
          <p:cNvSpPr>
            <a:spLocks noGrp="1"/>
          </p:cNvSpPr>
          <p:nvPr/>
        </p:nvSpPr>
        <p:spPr>
          <a:xfrm>
            <a:off x="866775" y="3818255"/>
            <a:ext cx="5448935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Trajectory Stage Alignment Based on a Milestone Graph</a:t>
            </a:r>
            <a:endParaRPr sz="16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8" name="text-108"/>
          <p:cNvSpPr>
            <a:spLocks noGrp="1"/>
          </p:cNvSpPr>
          <p:nvPr/>
        </p:nvSpPr>
        <p:spPr>
          <a:xfrm>
            <a:off x="666750" y="4290695"/>
            <a:ext cx="143319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</a:t>
            </a:r>
            <a:r>
              <a:rPr sz="14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ilestone Graph</a:t>
            </a:r>
            <a:endParaRPr sz="14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2" name="rect-112"/>
          <p:cNvSpPr>
            <a:spLocks noGrp="1"/>
          </p:cNvSpPr>
          <p:nvPr/>
        </p:nvSpPr>
        <p:spPr>
          <a:xfrm>
            <a:off x="1859280" y="4625340"/>
            <a:ext cx="666750" cy="361950"/>
          </a:xfrm>
          <a:prstGeom prst="roundRect">
            <a:avLst>
              <a:gd name="adj" fmla="val 15789"/>
            </a:avLst>
          </a:prstGeom>
          <a:solidFill>
            <a:srgbClr val="DCFCE7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23" name="text-113"/>
          <p:cNvSpPr>
            <a:spLocks noGrp="1"/>
          </p:cNvSpPr>
          <p:nvPr/>
        </p:nvSpPr>
        <p:spPr>
          <a:xfrm>
            <a:off x="2021205" y="4718050"/>
            <a:ext cx="342900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</a:t>
            </a:r>
            <a:endParaRPr sz="12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4" name="rect-114"/>
          <p:cNvSpPr>
            <a:spLocks noGrp="1"/>
          </p:cNvSpPr>
          <p:nvPr/>
        </p:nvSpPr>
        <p:spPr>
          <a:xfrm>
            <a:off x="3672205" y="446595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3335">
            <a:solidFill>
              <a:srgbClr val="60A5FA"/>
            </a:solidFill>
            <a:prstDash val="solid"/>
          </a:ln>
        </p:spPr>
      </p:sp>
      <p:sp>
        <p:nvSpPr>
          <p:cNvPr id="125" name="text-115"/>
          <p:cNvSpPr>
            <a:spLocks noGrp="1"/>
          </p:cNvSpPr>
          <p:nvPr/>
        </p:nvSpPr>
        <p:spPr>
          <a:xfrm>
            <a:off x="3881755" y="4507230"/>
            <a:ext cx="342900" cy="19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M1a</a:t>
            </a:r>
            <a:endParaRPr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6" name="rect-116"/>
          <p:cNvSpPr>
            <a:spLocks noGrp="1"/>
          </p:cNvSpPr>
          <p:nvPr/>
        </p:nvSpPr>
        <p:spPr>
          <a:xfrm>
            <a:off x="5250180" y="4987290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3335">
            <a:solidFill>
              <a:srgbClr val="34D399"/>
            </a:solidFill>
            <a:prstDash val="solid"/>
          </a:ln>
        </p:spPr>
      </p:sp>
      <p:sp>
        <p:nvSpPr>
          <p:cNvPr id="127" name="text-117"/>
          <p:cNvSpPr>
            <a:spLocks noGrp="1"/>
          </p:cNvSpPr>
          <p:nvPr/>
        </p:nvSpPr>
        <p:spPr>
          <a:xfrm>
            <a:off x="5459730" y="5027295"/>
            <a:ext cx="342900" cy="192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0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M1b</a:t>
            </a:r>
            <a:endParaRPr sz="1200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8" name="rect-118"/>
          <p:cNvSpPr>
            <a:spLocks noGrp="1"/>
          </p:cNvSpPr>
          <p:nvPr/>
        </p:nvSpPr>
        <p:spPr>
          <a:xfrm>
            <a:off x="6539865" y="4617720"/>
            <a:ext cx="762000" cy="369570"/>
          </a:xfrm>
          <a:prstGeom prst="roundRect">
            <a:avLst>
              <a:gd name="adj" fmla="val 15789"/>
            </a:avLst>
          </a:prstGeom>
          <a:solidFill>
            <a:srgbClr val="FEF9C3"/>
          </a:solidFill>
          <a:ln w="14288">
            <a:solidFill>
              <a:srgbClr val="EAB308"/>
            </a:solidFill>
            <a:prstDash val="solid"/>
          </a:ln>
        </p:spPr>
      </p:sp>
      <p:sp>
        <p:nvSpPr>
          <p:cNvPr id="129" name="text-119"/>
          <p:cNvSpPr>
            <a:spLocks noGrp="1"/>
          </p:cNvSpPr>
          <p:nvPr/>
        </p:nvSpPr>
        <p:spPr>
          <a:xfrm>
            <a:off x="6749415" y="4712382"/>
            <a:ext cx="342900" cy="1919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75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854D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M2</a:t>
            </a:r>
            <a:endParaRPr sz="1200" b="1">
              <a:solidFill>
                <a:srgbClr val="854D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4" name="text-121"/>
          <p:cNvSpPr>
            <a:spLocks noGrp="1"/>
          </p:cNvSpPr>
          <p:nvPr/>
        </p:nvSpPr>
        <p:spPr>
          <a:xfrm>
            <a:off x="635000" y="5273040"/>
            <a:ext cx="1437640" cy="247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Agent Trajectory</a:t>
            </a:r>
            <a:endParaRPr sz="14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6" name="text-146"/>
          <p:cNvSpPr>
            <a:spLocks noGrp="1"/>
          </p:cNvSpPr>
          <p:nvPr/>
        </p:nvSpPr>
        <p:spPr>
          <a:xfrm>
            <a:off x="634365" y="6520180"/>
            <a:ext cx="1438275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Stage Evaluation</a:t>
            </a:r>
            <a:endParaRPr sz="14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0" name="rect-157"/>
          <p:cNvSpPr>
            <a:spLocks noGrp="1"/>
          </p:cNvSpPr>
          <p:nvPr/>
        </p:nvSpPr>
        <p:spPr>
          <a:xfrm>
            <a:off x="8058150" y="3754755"/>
            <a:ext cx="6572250" cy="524891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pic>
        <p:nvPicPr>
          <p:cNvPr id="525" name="图片 4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0" y="3830955"/>
            <a:ext cx="228600" cy="228600"/>
          </a:xfrm>
          <a:prstGeom prst="rect">
            <a:avLst/>
          </a:prstGeom>
        </p:spPr>
      </p:pic>
      <p:sp>
        <p:nvSpPr>
          <p:cNvPr id="182" name="text-159"/>
          <p:cNvSpPr>
            <a:spLocks noGrp="1"/>
          </p:cNvSpPr>
          <p:nvPr/>
        </p:nvSpPr>
        <p:spPr>
          <a:xfrm>
            <a:off x="8458200" y="3818382"/>
            <a:ext cx="3265170" cy="2316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Uncertainty-adaptive review loop</a:t>
            </a:r>
            <a:endParaRPr sz="16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527" name="直接箭头连接符 6"/>
          <p:cNvCxnSpPr/>
          <p:nvPr/>
        </p:nvCxnSpPr>
        <p:spPr>
          <a:xfrm flipV="1">
            <a:off x="12555855" y="1370330"/>
            <a:ext cx="382905" cy="201295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8" name="直接箭头连接符 9"/>
          <p:cNvCxnSpPr/>
          <p:nvPr/>
        </p:nvCxnSpPr>
        <p:spPr>
          <a:xfrm>
            <a:off x="12555855" y="1571625"/>
            <a:ext cx="382905" cy="18161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9" name="直接箭头连接符 12"/>
          <p:cNvCxnSpPr/>
          <p:nvPr/>
        </p:nvCxnSpPr>
        <p:spPr>
          <a:xfrm>
            <a:off x="13500100" y="1370330"/>
            <a:ext cx="393065" cy="197485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0" name="直接箭头连接符 15"/>
          <p:cNvCxnSpPr/>
          <p:nvPr/>
        </p:nvCxnSpPr>
        <p:spPr>
          <a:xfrm flipV="1">
            <a:off x="13500100" y="1567815"/>
            <a:ext cx="393065" cy="18542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1" name="直接箭头连接符 22"/>
          <p:cNvCxnSpPr>
            <a:stCxn id="59" idx="3"/>
            <a:endCxn id="80" idx="1"/>
          </p:cNvCxnSpPr>
          <p:nvPr/>
        </p:nvCxnSpPr>
        <p:spPr>
          <a:xfrm>
            <a:off x="10817860" y="1572260"/>
            <a:ext cx="984250" cy="0"/>
          </a:xfrm>
          <a:prstGeom prst="straightConnector1">
            <a:avLst/>
          </a:prstGeom>
          <a:ln>
            <a:solidFill>
              <a:srgbClr val="2563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2" name="直接箭头连接符 80"/>
          <p:cNvCxnSpPr>
            <a:stCxn id="22" idx="3"/>
            <a:endCxn id="59" idx="1"/>
          </p:cNvCxnSpPr>
          <p:nvPr/>
        </p:nvCxnSpPr>
        <p:spPr>
          <a:xfrm>
            <a:off x="7988935" y="1572260"/>
            <a:ext cx="758825" cy="0"/>
          </a:xfrm>
          <a:prstGeom prst="straightConnector1">
            <a:avLst/>
          </a:prstGeom>
          <a:ln>
            <a:solidFill>
              <a:srgbClr val="2563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3" name="直接箭头连接符 109"/>
          <p:cNvCxnSpPr>
            <a:stCxn id="6" idx="3"/>
            <a:endCxn id="22" idx="1"/>
          </p:cNvCxnSpPr>
          <p:nvPr/>
        </p:nvCxnSpPr>
        <p:spPr>
          <a:xfrm flipV="1">
            <a:off x="2820035" y="1572260"/>
            <a:ext cx="1114425" cy="635"/>
          </a:xfrm>
          <a:prstGeom prst="straightConnector1">
            <a:avLst/>
          </a:prstGeom>
          <a:ln>
            <a:solidFill>
              <a:srgbClr val="2563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circle-3"/>
          <p:cNvSpPr>
            <a:spLocks noGrp="1"/>
          </p:cNvSpPr>
          <p:nvPr/>
        </p:nvSpPr>
        <p:spPr>
          <a:xfrm>
            <a:off x="455295" y="243840"/>
            <a:ext cx="289560" cy="28956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19" name="text-97"/>
          <p:cNvSpPr>
            <a:spLocks noGrp="1"/>
          </p:cNvSpPr>
          <p:nvPr/>
        </p:nvSpPr>
        <p:spPr>
          <a:xfrm>
            <a:off x="455295" y="243840"/>
            <a:ext cx="28956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</a:t>
            </a:r>
            <a:endParaRPr sz="180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52" name="circle-3"/>
          <p:cNvSpPr>
            <a:spLocks noGrp="1"/>
          </p:cNvSpPr>
          <p:nvPr/>
        </p:nvSpPr>
        <p:spPr>
          <a:xfrm>
            <a:off x="455295" y="3322320"/>
            <a:ext cx="289560" cy="289560"/>
          </a:xfrm>
          <a:prstGeom prst="ellipse">
            <a:avLst/>
          </a:prstGeom>
          <a:solidFill>
            <a:srgbClr val="10B980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56" name="text-97"/>
          <p:cNvSpPr>
            <a:spLocks noGrp="1"/>
          </p:cNvSpPr>
          <p:nvPr/>
        </p:nvSpPr>
        <p:spPr>
          <a:xfrm>
            <a:off x="455295" y="3322320"/>
            <a:ext cx="28956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</a:t>
            </a:r>
            <a:endParaRPr sz="180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57" name="下箭头 256"/>
          <p:cNvSpPr>
            <a:spLocks noGrp="1"/>
          </p:cNvSpPr>
          <p:nvPr/>
        </p:nvSpPr>
        <p:spPr>
          <a:xfrm>
            <a:off x="7548245" y="2799080"/>
            <a:ext cx="647700" cy="381000"/>
          </a:xfrm>
          <a:prstGeom prst="downArrow">
            <a:avLst/>
          </a:prstGeom>
          <a:solidFill>
            <a:srgbClr val="1665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2866390" y="1233805"/>
            <a:ext cx="973455" cy="680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sz="11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LLM Simulation</a:t>
            </a:r>
            <a:endParaRPr b="1"/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0902950" y="1233805"/>
            <a:ext cx="641350" cy="3644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sz="11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Merge</a:t>
            </a:r>
            <a:endParaRPr b="1"/>
          </a:p>
        </p:txBody>
      </p:sp>
      <p:cxnSp>
        <p:nvCxnSpPr>
          <p:cNvPr id="541" name="直接箭头连接符 105"/>
          <p:cNvCxnSpPr>
            <a:stCxn id="122" idx="3"/>
            <a:endCxn id="124" idx="1"/>
          </p:cNvCxnSpPr>
          <p:nvPr/>
        </p:nvCxnSpPr>
        <p:spPr>
          <a:xfrm flipV="1">
            <a:off x="2526030" y="4608830"/>
            <a:ext cx="1146175" cy="197485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2" name="直接箭头连接符 111"/>
          <p:cNvCxnSpPr>
            <a:stCxn id="124" idx="3"/>
            <a:endCxn id="128" idx="1"/>
          </p:cNvCxnSpPr>
          <p:nvPr/>
        </p:nvCxnSpPr>
        <p:spPr>
          <a:xfrm>
            <a:off x="4434205" y="4608830"/>
            <a:ext cx="2105660" cy="193675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3" name="直接箭头连接符 180"/>
          <p:cNvCxnSpPr>
            <a:stCxn id="126" idx="3"/>
            <a:endCxn id="128" idx="1"/>
          </p:cNvCxnSpPr>
          <p:nvPr/>
        </p:nvCxnSpPr>
        <p:spPr>
          <a:xfrm flipV="1">
            <a:off x="6012180" y="4802505"/>
            <a:ext cx="527685" cy="32766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4" name="直接连接符 298"/>
          <p:cNvCxnSpPr>
            <a:stCxn id="124" idx="2"/>
            <a:endCxn id="142" idx="0"/>
          </p:cNvCxnSpPr>
          <p:nvPr/>
        </p:nvCxnSpPr>
        <p:spPr>
          <a:xfrm flipH="1">
            <a:off x="4045585" y="4751705"/>
            <a:ext cx="7620" cy="901700"/>
          </a:xfrm>
          <a:prstGeom prst="line">
            <a:avLst/>
          </a:prstGeom>
          <a:ln>
            <a:solidFill>
              <a:srgbClr val="60A5FA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6" name="circle-133"/>
          <p:cNvSpPr>
            <a:spLocks noGrp="1"/>
          </p:cNvSpPr>
          <p:nvPr/>
        </p:nvSpPr>
        <p:spPr>
          <a:xfrm>
            <a:off x="6468024" y="5614055"/>
            <a:ext cx="495824" cy="495824"/>
          </a:xfrm>
          <a:prstGeom prst="ellipse">
            <a:avLst/>
          </a:prstGeom>
          <a:solidFill>
            <a:srgbClr val="FEE2E2"/>
          </a:solidFill>
          <a:ln w="20955">
            <a:solidFill>
              <a:srgbClr val="EF4444"/>
            </a:solidFill>
            <a:prstDash val="solid"/>
          </a:ln>
        </p:spPr>
      </p:sp>
      <p:sp>
        <p:nvSpPr>
          <p:cNvPr id="147" name="text-134"/>
          <p:cNvSpPr>
            <a:spLocks noGrp="1"/>
          </p:cNvSpPr>
          <p:nvPr/>
        </p:nvSpPr>
        <p:spPr>
          <a:xfrm>
            <a:off x="6535767" y="5767559"/>
            <a:ext cx="389164" cy="16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75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STOP</a:t>
            </a:r>
            <a:endParaRPr sz="120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8" name="circle-125"/>
          <p:cNvSpPr>
            <a:spLocks noGrp="1"/>
          </p:cNvSpPr>
          <p:nvPr/>
        </p:nvSpPr>
        <p:spPr>
          <a:xfrm>
            <a:off x="1961198" y="5636895"/>
            <a:ext cx="454025" cy="453775"/>
          </a:xfrm>
          <a:prstGeom prst="ellipse">
            <a:avLst/>
          </a:prstGeom>
          <a:solidFill>
            <a:srgbClr val="DCFCE7"/>
          </a:solidFill>
          <a:ln w="20955">
            <a:solidFill>
              <a:srgbClr val="22C55E"/>
            </a:solidFill>
            <a:prstDash val="solid"/>
          </a:ln>
        </p:spPr>
      </p:sp>
      <p:sp>
        <p:nvSpPr>
          <p:cNvPr id="139" name="text-126"/>
          <p:cNvSpPr>
            <a:spLocks noGrp="1"/>
          </p:cNvSpPr>
          <p:nvPr/>
        </p:nvSpPr>
        <p:spPr>
          <a:xfrm>
            <a:off x="2062092" y="5760063"/>
            <a:ext cx="281063" cy="197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t1</a:t>
            </a:r>
            <a:endParaRPr sz="12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9" name="text-139"/>
          <p:cNvSpPr>
            <a:spLocks noGrp="1"/>
          </p:cNvSpPr>
          <p:nvPr/>
        </p:nvSpPr>
        <p:spPr>
          <a:xfrm>
            <a:off x="1824990" y="6153335"/>
            <a:ext cx="726440" cy="1807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get time</a:t>
            </a:r>
            <a:endParaRPr sz="12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0" name="circle-127"/>
          <p:cNvSpPr>
            <a:spLocks noGrp="1"/>
          </p:cNvSpPr>
          <p:nvPr/>
        </p:nvSpPr>
        <p:spPr>
          <a:xfrm>
            <a:off x="2996651" y="5653405"/>
            <a:ext cx="410759" cy="41057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41" name="text-128"/>
          <p:cNvSpPr>
            <a:spLocks noGrp="1"/>
          </p:cNvSpPr>
          <p:nvPr/>
        </p:nvSpPr>
        <p:spPr>
          <a:xfrm>
            <a:off x="3065831" y="5765771"/>
            <a:ext cx="270236" cy="1973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t2</a:t>
            </a:r>
            <a:endParaRPr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0" name="text-140"/>
          <p:cNvSpPr>
            <a:spLocks noGrp="1"/>
          </p:cNvSpPr>
          <p:nvPr/>
        </p:nvSpPr>
        <p:spPr>
          <a:xfrm>
            <a:off x="2995930" y="6148250"/>
            <a:ext cx="410759" cy="1807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prepare</a:t>
            </a:r>
            <a:endParaRPr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2" name="circle-129"/>
          <p:cNvSpPr>
            <a:spLocks noGrp="1"/>
          </p:cNvSpPr>
          <p:nvPr/>
        </p:nvSpPr>
        <p:spPr>
          <a:xfrm>
            <a:off x="3839845" y="5653405"/>
            <a:ext cx="410845" cy="41057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43" name="text-130"/>
          <p:cNvSpPr>
            <a:spLocks noGrp="1"/>
          </p:cNvSpPr>
          <p:nvPr/>
        </p:nvSpPr>
        <p:spPr>
          <a:xfrm>
            <a:off x="3881651" y="5764331"/>
            <a:ext cx="338766" cy="1973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t3</a:t>
            </a:r>
            <a:endParaRPr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1" name="text-141"/>
          <p:cNvSpPr>
            <a:spLocks noGrp="1"/>
          </p:cNvSpPr>
          <p:nvPr/>
        </p:nvSpPr>
        <p:spPr>
          <a:xfrm>
            <a:off x="3839845" y="6148250"/>
            <a:ext cx="410845" cy="1807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search</a:t>
            </a:r>
            <a:endParaRPr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4" name="circle-131"/>
          <p:cNvSpPr>
            <a:spLocks noGrp="1"/>
          </p:cNvSpPr>
          <p:nvPr/>
        </p:nvSpPr>
        <p:spPr>
          <a:xfrm>
            <a:off x="5431241" y="5653405"/>
            <a:ext cx="410759" cy="41076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45" name="text-132"/>
          <p:cNvSpPr>
            <a:spLocks noGrp="1"/>
          </p:cNvSpPr>
          <p:nvPr/>
        </p:nvSpPr>
        <p:spPr>
          <a:xfrm>
            <a:off x="5509789" y="5765825"/>
            <a:ext cx="253661" cy="197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tN</a:t>
            </a:r>
            <a:endParaRPr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2" name="text-142"/>
          <p:cNvSpPr>
            <a:spLocks noGrp="1"/>
          </p:cNvSpPr>
          <p:nvPr/>
        </p:nvSpPr>
        <p:spPr>
          <a:xfrm>
            <a:off x="5430520" y="6148486"/>
            <a:ext cx="411480" cy="162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filter</a:t>
            </a:r>
            <a:endParaRPr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3" name="circle-125"/>
          <p:cNvSpPr>
            <a:spLocks noGrp="1"/>
          </p:cNvSpPr>
          <p:nvPr/>
        </p:nvSpPr>
        <p:spPr>
          <a:xfrm>
            <a:off x="835343" y="5636895"/>
            <a:ext cx="454025" cy="453831"/>
          </a:xfrm>
          <a:prstGeom prst="ellipse">
            <a:avLst/>
          </a:prstGeom>
          <a:solidFill>
            <a:schemeClr val="bg1">
              <a:lumMod val="85000"/>
            </a:schemeClr>
          </a:solidFill>
          <a:ln w="2095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274" name="text-126"/>
          <p:cNvSpPr>
            <a:spLocks noGrp="1"/>
          </p:cNvSpPr>
          <p:nvPr/>
        </p:nvSpPr>
        <p:spPr>
          <a:xfrm>
            <a:off x="867773" y="5760078"/>
            <a:ext cx="389164" cy="197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start</a:t>
            </a:r>
            <a:endParaRPr sz="1200" b="1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5" name="text-139"/>
          <p:cNvSpPr>
            <a:spLocks noGrp="1"/>
          </p:cNvSpPr>
          <p:nvPr/>
        </p:nvSpPr>
        <p:spPr>
          <a:xfrm>
            <a:off x="699135" y="6153398"/>
            <a:ext cx="726440" cy="1808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82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__start__</a:t>
            </a:r>
            <a:endParaRPr sz="1200" b="1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81" name="circle-131"/>
          <p:cNvSpPr>
            <a:spLocks noGrp="1"/>
          </p:cNvSpPr>
          <p:nvPr/>
        </p:nvSpPr>
        <p:spPr>
          <a:xfrm>
            <a:off x="4606290" y="5653405"/>
            <a:ext cx="410845" cy="41084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82" name="text-132"/>
          <p:cNvSpPr>
            <a:spLocks noGrp="1"/>
          </p:cNvSpPr>
          <p:nvPr/>
        </p:nvSpPr>
        <p:spPr>
          <a:xfrm>
            <a:off x="4657090" y="5764530"/>
            <a:ext cx="328295" cy="197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ctr">
              <a:buNone/>
              <a:defRPr sz="9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……</a:t>
            </a:r>
            <a:endParaRPr sz="9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564" name="直接箭头连接符 287"/>
          <p:cNvCxnSpPr/>
          <p:nvPr/>
        </p:nvCxnSpPr>
        <p:spPr>
          <a:xfrm>
            <a:off x="1289685" y="5864225"/>
            <a:ext cx="671830" cy="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5" name="直接箭头连接符 288"/>
          <p:cNvCxnSpPr>
            <a:endCxn id="140" idx="2"/>
          </p:cNvCxnSpPr>
          <p:nvPr/>
        </p:nvCxnSpPr>
        <p:spPr>
          <a:xfrm flipV="1">
            <a:off x="2415540" y="5859145"/>
            <a:ext cx="581025" cy="508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6" name="直接箭头连接符 289"/>
          <p:cNvCxnSpPr>
            <a:stCxn id="140" idx="6"/>
            <a:endCxn id="142" idx="2"/>
          </p:cNvCxnSpPr>
          <p:nvPr/>
        </p:nvCxnSpPr>
        <p:spPr>
          <a:xfrm>
            <a:off x="3407410" y="5859145"/>
            <a:ext cx="432435" cy="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7" name="直接箭头连接符 290"/>
          <p:cNvCxnSpPr/>
          <p:nvPr/>
        </p:nvCxnSpPr>
        <p:spPr>
          <a:xfrm>
            <a:off x="4297680" y="5859145"/>
            <a:ext cx="308610" cy="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8" name="直接箭头连接符 291"/>
          <p:cNvCxnSpPr>
            <a:endCxn id="144" idx="2"/>
          </p:cNvCxnSpPr>
          <p:nvPr/>
        </p:nvCxnSpPr>
        <p:spPr>
          <a:xfrm>
            <a:off x="5017135" y="5859145"/>
            <a:ext cx="414020" cy="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9" name="直接箭头连接符 292"/>
          <p:cNvCxnSpPr>
            <a:stCxn id="144" idx="6"/>
          </p:cNvCxnSpPr>
          <p:nvPr/>
        </p:nvCxnSpPr>
        <p:spPr>
          <a:xfrm>
            <a:off x="5842000" y="5859145"/>
            <a:ext cx="626110" cy="3175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0" name="直接连接符 297"/>
          <p:cNvCxnSpPr>
            <a:stCxn id="122" idx="2"/>
            <a:endCxn id="138" idx="0"/>
          </p:cNvCxnSpPr>
          <p:nvPr/>
        </p:nvCxnSpPr>
        <p:spPr>
          <a:xfrm flipH="1">
            <a:off x="2188845" y="4987290"/>
            <a:ext cx="3810" cy="649605"/>
          </a:xfrm>
          <a:prstGeom prst="line">
            <a:avLst/>
          </a:prstGeom>
          <a:ln>
            <a:solidFill>
              <a:srgbClr val="22C55E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1" name="直接箭头连接符 106"/>
          <p:cNvCxnSpPr>
            <a:stCxn id="122" idx="3"/>
            <a:endCxn id="126" idx="1"/>
          </p:cNvCxnSpPr>
          <p:nvPr/>
        </p:nvCxnSpPr>
        <p:spPr>
          <a:xfrm>
            <a:off x="2526030" y="4806315"/>
            <a:ext cx="2724150" cy="323850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0" name="直接连接符 299"/>
          <p:cNvSpPr>
            <a:spLocks noGrp="1"/>
          </p:cNvSpPr>
          <p:nvPr/>
        </p:nvSpPr>
        <p:spPr>
          <a:xfrm>
            <a:off x="5631180" y="5273040"/>
            <a:ext cx="5715" cy="380365"/>
          </a:xfrm>
          <a:prstGeom prst="line">
            <a:avLst/>
          </a:prstGeom>
          <a:ln>
            <a:solidFill>
              <a:srgbClr val="22C55E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05" name="rect-112"/>
          <p:cNvSpPr>
            <a:spLocks noGrp="1"/>
          </p:cNvSpPr>
          <p:nvPr/>
        </p:nvSpPr>
        <p:spPr>
          <a:xfrm>
            <a:off x="852170" y="6793230"/>
            <a:ext cx="1340485" cy="831215"/>
          </a:xfrm>
          <a:prstGeom prst="roundRect">
            <a:avLst>
              <a:gd name="adj" fmla="val 8096"/>
            </a:avLst>
          </a:prstGeom>
          <a:solidFill>
            <a:srgbClr val="DCFCE7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/>
        </p:txBody>
      </p:sp>
      <p:sp>
        <p:nvSpPr>
          <p:cNvPr id="306" name="text-113"/>
          <p:cNvSpPr>
            <a:spLocks noGrp="1"/>
          </p:cNvSpPr>
          <p:nvPr/>
        </p:nvSpPr>
        <p:spPr>
          <a:xfrm>
            <a:off x="918845" y="6843395"/>
            <a:ext cx="1283970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Start→M0:  Pass</a:t>
            </a:r>
            <a:endParaRPr sz="12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07" name="text-210"/>
          <p:cNvSpPr>
            <a:spLocks noGrp="1"/>
          </p:cNvSpPr>
          <p:nvPr/>
        </p:nvSpPr>
        <p:spPr>
          <a:xfrm>
            <a:off x="914400" y="7031355"/>
            <a:ext cx="606425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Correctness</a:t>
            </a:r>
            <a:endParaRPr sz="8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08" name="rect-211"/>
          <p:cNvSpPr>
            <a:spLocks noGrp="1"/>
          </p:cNvSpPr>
          <p:nvPr/>
        </p:nvSpPr>
        <p:spPr>
          <a:xfrm>
            <a:off x="1493520" y="7081520"/>
            <a:ext cx="607060" cy="85725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 w="0">
            <a:noFill/>
            <a:prstDash val="solid"/>
          </a:ln>
        </p:spPr>
      </p:sp>
      <p:sp>
        <p:nvSpPr>
          <p:cNvPr id="309" name="rect-212"/>
          <p:cNvSpPr>
            <a:spLocks noGrp="1"/>
          </p:cNvSpPr>
          <p:nvPr/>
        </p:nvSpPr>
        <p:spPr>
          <a:xfrm>
            <a:off x="1493520" y="7081520"/>
            <a:ext cx="542290" cy="85725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310" name="text-213"/>
          <p:cNvSpPr>
            <a:spLocks noGrp="1"/>
          </p:cNvSpPr>
          <p:nvPr/>
        </p:nvSpPr>
        <p:spPr>
          <a:xfrm>
            <a:off x="915035" y="7175500"/>
            <a:ext cx="605790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Efficiency</a:t>
            </a:r>
            <a:endParaRPr sz="8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11" name="rect-214"/>
          <p:cNvSpPr>
            <a:spLocks noGrp="1"/>
          </p:cNvSpPr>
          <p:nvPr/>
        </p:nvSpPr>
        <p:spPr>
          <a:xfrm>
            <a:off x="1493520" y="7218045"/>
            <a:ext cx="607060" cy="85725"/>
          </a:xfrm>
          <a:prstGeom prst="roundRect">
            <a:avLst>
              <a:gd name="adj" fmla="val 50000"/>
            </a:avLst>
          </a:prstGeom>
          <a:solidFill>
            <a:srgbClr val="A7F3D0"/>
          </a:solidFill>
          <a:ln w="0">
            <a:noFill/>
            <a:prstDash val="solid"/>
          </a:ln>
        </p:spPr>
      </p:sp>
      <p:sp>
        <p:nvSpPr>
          <p:cNvPr id="312" name="rect-215"/>
          <p:cNvSpPr>
            <a:spLocks noGrp="1"/>
          </p:cNvSpPr>
          <p:nvPr/>
        </p:nvSpPr>
        <p:spPr>
          <a:xfrm>
            <a:off x="1493520" y="7218045"/>
            <a:ext cx="441960" cy="85725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313" name="text-216"/>
          <p:cNvSpPr>
            <a:spLocks noGrp="1"/>
          </p:cNvSpPr>
          <p:nvPr/>
        </p:nvSpPr>
        <p:spPr>
          <a:xfrm>
            <a:off x="908685" y="7319010"/>
            <a:ext cx="605790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Safety</a:t>
            </a:r>
            <a:endParaRPr sz="8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15" name="rect-217"/>
          <p:cNvSpPr>
            <a:spLocks noGrp="1"/>
          </p:cNvSpPr>
          <p:nvPr/>
        </p:nvSpPr>
        <p:spPr>
          <a:xfrm>
            <a:off x="1487805" y="7355205"/>
            <a:ext cx="607060" cy="85725"/>
          </a:xfrm>
          <a:prstGeom prst="roundRect">
            <a:avLst>
              <a:gd name="adj" fmla="val 50000"/>
            </a:avLst>
          </a:prstGeom>
          <a:solidFill>
            <a:srgbClr val="FECACA"/>
          </a:solidFill>
          <a:ln w="0">
            <a:noFill/>
            <a:prstDash val="solid"/>
          </a:ln>
        </p:spPr>
      </p:sp>
      <p:sp>
        <p:nvSpPr>
          <p:cNvPr id="316" name="rect-218"/>
          <p:cNvSpPr>
            <a:spLocks noGrp="1"/>
          </p:cNvSpPr>
          <p:nvPr/>
        </p:nvSpPr>
        <p:spPr>
          <a:xfrm>
            <a:off x="1487805" y="7355205"/>
            <a:ext cx="546100" cy="857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320" name="text-216"/>
          <p:cNvSpPr>
            <a:spLocks noGrp="1"/>
          </p:cNvSpPr>
          <p:nvPr/>
        </p:nvSpPr>
        <p:spPr>
          <a:xfrm>
            <a:off x="909320" y="7446010"/>
            <a:ext cx="1190625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……</a:t>
            </a:r>
            <a:endParaRPr sz="8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22" name="rect-112"/>
          <p:cNvSpPr>
            <a:spLocks noGrp="1"/>
          </p:cNvSpPr>
          <p:nvPr/>
        </p:nvSpPr>
        <p:spPr>
          <a:xfrm>
            <a:off x="2286635" y="7085330"/>
            <a:ext cx="1770380" cy="831215"/>
          </a:xfrm>
          <a:prstGeom prst="roundRect">
            <a:avLst>
              <a:gd name="adj" fmla="val 8096"/>
            </a:avLst>
          </a:prstGeom>
          <a:solidFill>
            <a:srgbClr val="EFF6FF"/>
          </a:solidFill>
          <a:ln w="13335">
            <a:solidFill>
              <a:srgbClr val="60A5FA"/>
            </a:solidFill>
            <a:prstDash val="solid"/>
          </a:ln>
        </p:spPr>
      </p:sp>
      <p:sp>
        <p:nvSpPr>
          <p:cNvPr id="323" name="text-113"/>
          <p:cNvSpPr>
            <a:spLocks noGrp="1"/>
          </p:cNvSpPr>
          <p:nvPr/>
        </p:nvSpPr>
        <p:spPr>
          <a:xfrm>
            <a:off x="2363470" y="7114540"/>
            <a:ext cx="1190625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M0→M1a:  Pass</a:t>
            </a:r>
            <a:endParaRPr sz="12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25" name="text-210"/>
          <p:cNvSpPr>
            <a:spLocks noGrp="1"/>
          </p:cNvSpPr>
          <p:nvPr/>
        </p:nvSpPr>
        <p:spPr>
          <a:xfrm>
            <a:off x="2363470" y="7323455"/>
            <a:ext cx="606425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C0000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Correctness</a:t>
            </a:r>
            <a:endParaRPr sz="800" b="1">
              <a:solidFill>
                <a:srgbClr val="C0000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26" name="rect-211"/>
          <p:cNvSpPr>
            <a:spLocks noGrp="1"/>
          </p:cNvSpPr>
          <p:nvPr/>
        </p:nvSpPr>
        <p:spPr>
          <a:xfrm>
            <a:off x="2942590" y="7373620"/>
            <a:ext cx="607060" cy="85725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 w="0">
            <a:noFill/>
            <a:prstDash val="solid"/>
          </a:ln>
        </p:spPr>
      </p:sp>
      <p:sp>
        <p:nvSpPr>
          <p:cNvPr id="327" name="rect-212"/>
          <p:cNvSpPr>
            <a:spLocks noGrp="1"/>
          </p:cNvSpPr>
          <p:nvPr/>
        </p:nvSpPr>
        <p:spPr>
          <a:xfrm>
            <a:off x="2942590" y="7373620"/>
            <a:ext cx="368300" cy="85725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328" name="text-213"/>
          <p:cNvSpPr>
            <a:spLocks noGrp="1"/>
          </p:cNvSpPr>
          <p:nvPr/>
        </p:nvSpPr>
        <p:spPr>
          <a:xfrm>
            <a:off x="2364105" y="7467600"/>
            <a:ext cx="605790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Efficiency</a:t>
            </a:r>
            <a:endParaRPr sz="8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29" name="rect-214"/>
          <p:cNvSpPr>
            <a:spLocks noGrp="1"/>
          </p:cNvSpPr>
          <p:nvPr/>
        </p:nvSpPr>
        <p:spPr>
          <a:xfrm>
            <a:off x="2942590" y="7510145"/>
            <a:ext cx="607060" cy="85725"/>
          </a:xfrm>
          <a:prstGeom prst="roundRect">
            <a:avLst>
              <a:gd name="adj" fmla="val 50000"/>
            </a:avLst>
          </a:prstGeom>
          <a:solidFill>
            <a:srgbClr val="A7F3D0"/>
          </a:solidFill>
          <a:ln w="0">
            <a:noFill/>
            <a:prstDash val="solid"/>
          </a:ln>
        </p:spPr>
      </p:sp>
      <p:sp>
        <p:nvSpPr>
          <p:cNvPr id="330" name="rect-215"/>
          <p:cNvSpPr>
            <a:spLocks noGrp="1"/>
          </p:cNvSpPr>
          <p:nvPr/>
        </p:nvSpPr>
        <p:spPr>
          <a:xfrm>
            <a:off x="2942590" y="7510145"/>
            <a:ext cx="549910" cy="85725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331" name="text-216"/>
          <p:cNvSpPr>
            <a:spLocks noGrp="1"/>
          </p:cNvSpPr>
          <p:nvPr/>
        </p:nvSpPr>
        <p:spPr>
          <a:xfrm>
            <a:off x="2357755" y="7611110"/>
            <a:ext cx="605790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Safety</a:t>
            </a:r>
            <a:endParaRPr sz="8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32" name="rect-217"/>
          <p:cNvSpPr>
            <a:spLocks noGrp="1"/>
          </p:cNvSpPr>
          <p:nvPr/>
        </p:nvSpPr>
        <p:spPr>
          <a:xfrm>
            <a:off x="2936875" y="7647305"/>
            <a:ext cx="607060" cy="85725"/>
          </a:xfrm>
          <a:prstGeom prst="roundRect">
            <a:avLst>
              <a:gd name="adj" fmla="val 50000"/>
            </a:avLst>
          </a:prstGeom>
          <a:solidFill>
            <a:srgbClr val="FECACA"/>
          </a:solidFill>
          <a:ln w="0">
            <a:noFill/>
            <a:prstDash val="solid"/>
          </a:ln>
        </p:spPr>
      </p:sp>
      <p:sp>
        <p:nvSpPr>
          <p:cNvPr id="333" name="rect-218"/>
          <p:cNvSpPr>
            <a:spLocks noGrp="1"/>
          </p:cNvSpPr>
          <p:nvPr/>
        </p:nvSpPr>
        <p:spPr>
          <a:xfrm>
            <a:off x="2936875" y="7647305"/>
            <a:ext cx="495935" cy="857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334" name="text-216"/>
          <p:cNvSpPr>
            <a:spLocks noGrp="1"/>
          </p:cNvSpPr>
          <p:nvPr/>
        </p:nvSpPr>
        <p:spPr>
          <a:xfrm>
            <a:off x="2358390" y="7738110"/>
            <a:ext cx="1190625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……</a:t>
            </a:r>
            <a:endParaRPr sz="8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37" name="rect-112"/>
          <p:cNvSpPr>
            <a:spLocks noGrp="1"/>
          </p:cNvSpPr>
          <p:nvPr/>
        </p:nvSpPr>
        <p:spPr>
          <a:xfrm>
            <a:off x="2286635" y="8060055"/>
            <a:ext cx="3344545" cy="831215"/>
          </a:xfrm>
          <a:prstGeom prst="roundRect">
            <a:avLst>
              <a:gd name="adj" fmla="val 8096"/>
            </a:avLst>
          </a:prstGeom>
          <a:solidFill>
            <a:srgbClr val="FEE2E2"/>
          </a:solidFill>
          <a:ln w="20955">
            <a:solidFill>
              <a:srgbClr val="EF4444"/>
            </a:solidFill>
            <a:prstDash val="solid"/>
          </a:ln>
        </p:spPr>
      </p:sp>
      <p:sp>
        <p:nvSpPr>
          <p:cNvPr id="338" name="text-113"/>
          <p:cNvSpPr>
            <a:spLocks noGrp="1"/>
          </p:cNvSpPr>
          <p:nvPr/>
        </p:nvSpPr>
        <p:spPr>
          <a:xfrm>
            <a:off x="2364105" y="8089265"/>
            <a:ext cx="1190625" cy="187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C0000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M0→M1b:  Fail</a:t>
            </a:r>
            <a:endParaRPr sz="1200" b="1">
              <a:solidFill>
                <a:srgbClr val="C0000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50" name="直接连接符 349"/>
          <p:cNvSpPr>
            <a:spLocks noGrp="1"/>
          </p:cNvSpPr>
          <p:nvPr/>
        </p:nvSpPr>
        <p:spPr>
          <a:xfrm>
            <a:off x="5632450" y="6346825"/>
            <a:ext cx="4445" cy="1757680"/>
          </a:xfrm>
          <a:prstGeom prst="line">
            <a:avLst/>
          </a:prstGeom>
          <a:ln>
            <a:solidFill>
              <a:srgbClr val="22C55E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40" name="text-210"/>
          <p:cNvSpPr>
            <a:spLocks noGrp="1"/>
          </p:cNvSpPr>
          <p:nvPr/>
        </p:nvSpPr>
        <p:spPr>
          <a:xfrm>
            <a:off x="2364105" y="8298180"/>
            <a:ext cx="606425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C0000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Correctness</a:t>
            </a:r>
            <a:endParaRPr sz="800" b="1">
              <a:solidFill>
                <a:srgbClr val="C0000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41" name="rect-211"/>
          <p:cNvSpPr>
            <a:spLocks noGrp="1"/>
          </p:cNvSpPr>
          <p:nvPr/>
        </p:nvSpPr>
        <p:spPr>
          <a:xfrm>
            <a:off x="2943225" y="8348345"/>
            <a:ext cx="607060" cy="85725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 w="0">
            <a:noFill/>
            <a:prstDash val="solid"/>
          </a:ln>
        </p:spPr>
      </p:sp>
      <p:sp>
        <p:nvSpPr>
          <p:cNvPr id="342" name="rect-212"/>
          <p:cNvSpPr>
            <a:spLocks noGrp="1"/>
          </p:cNvSpPr>
          <p:nvPr/>
        </p:nvSpPr>
        <p:spPr>
          <a:xfrm>
            <a:off x="2943225" y="8348345"/>
            <a:ext cx="288290" cy="85725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343" name="text-213"/>
          <p:cNvSpPr>
            <a:spLocks noGrp="1"/>
          </p:cNvSpPr>
          <p:nvPr/>
        </p:nvSpPr>
        <p:spPr>
          <a:xfrm>
            <a:off x="2364740" y="8442325"/>
            <a:ext cx="605790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Efficiency</a:t>
            </a:r>
            <a:endParaRPr sz="8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44" name="rect-214"/>
          <p:cNvSpPr>
            <a:spLocks noGrp="1"/>
          </p:cNvSpPr>
          <p:nvPr/>
        </p:nvSpPr>
        <p:spPr>
          <a:xfrm>
            <a:off x="2943225" y="8484870"/>
            <a:ext cx="607060" cy="85725"/>
          </a:xfrm>
          <a:prstGeom prst="roundRect">
            <a:avLst>
              <a:gd name="adj" fmla="val 50000"/>
            </a:avLst>
          </a:prstGeom>
          <a:solidFill>
            <a:srgbClr val="A7F3D0"/>
          </a:solidFill>
          <a:ln w="0">
            <a:noFill/>
            <a:prstDash val="solid"/>
          </a:ln>
        </p:spPr>
      </p:sp>
      <p:sp>
        <p:nvSpPr>
          <p:cNvPr id="345" name="rect-215"/>
          <p:cNvSpPr>
            <a:spLocks noGrp="1"/>
          </p:cNvSpPr>
          <p:nvPr/>
        </p:nvSpPr>
        <p:spPr>
          <a:xfrm>
            <a:off x="2943225" y="8484870"/>
            <a:ext cx="349885" cy="85725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346" name="text-216"/>
          <p:cNvSpPr>
            <a:spLocks noGrp="1"/>
          </p:cNvSpPr>
          <p:nvPr/>
        </p:nvSpPr>
        <p:spPr>
          <a:xfrm>
            <a:off x="2358390" y="8585835"/>
            <a:ext cx="605790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Safety</a:t>
            </a:r>
            <a:endParaRPr sz="8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47" name="rect-217"/>
          <p:cNvSpPr>
            <a:spLocks noGrp="1"/>
          </p:cNvSpPr>
          <p:nvPr/>
        </p:nvSpPr>
        <p:spPr>
          <a:xfrm>
            <a:off x="2937510" y="8622030"/>
            <a:ext cx="607060" cy="85725"/>
          </a:xfrm>
          <a:prstGeom prst="roundRect">
            <a:avLst>
              <a:gd name="adj" fmla="val 50000"/>
            </a:avLst>
          </a:prstGeom>
          <a:solidFill>
            <a:srgbClr val="FECACA"/>
          </a:solidFill>
          <a:ln w="0">
            <a:noFill/>
            <a:prstDash val="solid"/>
          </a:ln>
        </p:spPr>
      </p:sp>
      <p:sp>
        <p:nvSpPr>
          <p:cNvPr id="348" name="rect-218"/>
          <p:cNvSpPr>
            <a:spLocks noGrp="1"/>
          </p:cNvSpPr>
          <p:nvPr/>
        </p:nvSpPr>
        <p:spPr>
          <a:xfrm>
            <a:off x="2937510" y="8622030"/>
            <a:ext cx="537210" cy="857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349" name="text-216"/>
          <p:cNvSpPr>
            <a:spLocks noGrp="1"/>
          </p:cNvSpPr>
          <p:nvPr/>
        </p:nvSpPr>
        <p:spPr>
          <a:xfrm>
            <a:off x="2359025" y="8712835"/>
            <a:ext cx="1190625" cy="159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……</a:t>
            </a:r>
            <a:endParaRPr sz="80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51" name="直接连接符 350"/>
          <p:cNvSpPr>
            <a:spLocks noGrp="1"/>
          </p:cNvSpPr>
          <p:nvPr/>
        </p:nvSpPr>
        <p:spPr>
          <a:xfrm>
            <a:off x="4045585" y="6346825"/>
            <a:ext cx="5080" cy="720090"/>
          </a:xfrm>
          <a:prstGeom prst="line">
            <a:avLst/>
          </a:prstGeom>
          <a:ln>
            <a:solidFill>
              <a:srgbClr val="60A5FA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52" name="直接连接符 351"/>
          <p:cNvSpPr>
            <a:spLocks noGrp="1"/>
          </p:cNvSpPr>
          <p:nvPr/>
        </p:nvSpPr>
        <p:spPr>
          <a:xfrm>
            <a:off x="2188845" y="6362700"/>
            <a:ext cx="1270" cy="415925"/>
          </a:xfrm>
          <a:prstGeom prst="line">
            <a:avLst/>
          </a:prstGeom>
          <a:ln>
            <a:solidFill>
              <a:srgbClr val="22C55E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cxnSp>
        <p:nvCxnSpPr>
          <p:cNvPr id="612" name="曲线连接符 353"/>
          <p:cNvCxnSpPr>
            <a:stCxn id="305" idx="2"/>
          </p:cNvCxnSpPr>
          <p:nvPr/>
        </p:nvCxnSpPr>
        <p:spPr>
          <a:xfrm rot="5400000" flipV="1">
            <a:off x="1825625" y="7320915"/>
            <a:ext cx="162560" cy="76898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3" name="曲线连接符 354"/>
          <p:cNvCxnSpPr>
            <a:stCxn id="322" idx="3"/>
          </p:cNvCxnSpPr>
          <p:nvPr/>
        </p:nvCxnSpPr>
        <p:spPr>
          <a:xfrm>
            <a:off x="4057015" y="7501255"/>
            <a:ext cx="466725" cy="57340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6" name="文本框 355"/>
          <p:cNvSpPr>
            <a:spLocks noGrp="1"/>
          </p:cNvSpPr>
          <p:nvPr/>
        </p:nvSpPr>
        <p:spPr>
          <a:xfrm>
            <a:off x="842010" y="7733030"/>
            <a:ext cx="137731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E22CE"/>
                </a:solidFill>
              </a:rPr>
              <a:t>Dynamic Adjust: </a:t>
            </a:r>
            <a:endParaRPr sz="1000" b="1">
              <a:solidFill>
                <a:srgbClr val="7E22CE"/>
              </a:solidFill>
            </a:endParaRPr>
          </a:p>
          <a:p>
            <a:r>
              <a:rPr sz="1000">
                <a:solidFill>
                  <a:srgbClr val="475569"/>
                </a:solidFill>
              </a:rPr>
              <a:t>Weight of Efficiency ↑</a:t>
            </a:r>
            <a:endParaRPr sz="1000">
              <a:solidFill>
                <a:srgbClr val="475569"/>
              </a:solidFill>
            </a:endParaRPr>
          </a:p>
        </p:txBody>
      </p:sp>
      <p:sp>
        <p:nvSpPr>
          <p:cNvPr id="357" name="文本框 356"/>
          <p:cNvSpPr>
            <a:spLocks noGrp="1"/>
          </p:cNvSpPr>
          <p:nvPr/>
        </p:nvSpPr>
        <p:spPr>
          <a:xfrm>
            <a:off x="4163695" y="6994525"/>
            <a:ext cx="153035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E22CE"/>
                </a:solidFill>
              </a:rPr>
              <a:t>Dynamic Adjust: </a:t>
            </a:r>
            <a:endParaRPr sz="1000" b="1">
              <a:solidFill>
                <a:srgbClr val="7E22CE"/>
              </a:solidFill>
            </a:endParaRPr>
          </a:p>
          <a:p>
            <a:r>
              <a:rPr sz="1000">
                <a:solidFill>
                  <a:srgbClr val="475569"/>
                </a:solidFill>
              </a:rPr>
              <a:t>Focus on Correctness</a:t>
            </a:r>
            <a:endParaRPr sz="1000">
              <a:solidFill>
                <a:srgbClr val="475569"/>
              </a:solidFill>
            </a:endParaRPr>
          </a:p>
          <a:p>
            <a:r>
              <a:rPr sz="1000">
                <a:solidFill>
                  <a:srgbClr val="475569"/>
                </a:solidFill>
              </a:rPr>
              <a:t>weight↑ &amp; Judge level ↑</a:t>
            </a:r>
            <a:endParaRPr sz="1000">
              <a:solidFill>
                <a:srgbClr val="475569"/>
              </a:solidFill>
            </a:endParaRPr>
          </a:p>
        </p:txBody>
      </p:sp>
      <p:sp>
        <p:nvSpPr>
          <p:cNvPr id="358" name="text-194"/>
          <p:cNvSpPr>
            <a:spLocks noGrp="1"/>
          </p:cNvSpPr>
          <p:nvPr/>
        </p:nvSpPr>
        <p:spPr>
          <a:xfrm>
            <a:off x="3803650" y="8147050"/>
            <a:ext cx="1689100" cy="4337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/>
          <a:p>
            <a:pPr indent="0" algn="l">
              <a:lnSpc>
                <a:spcPct val="115000"/>
              </a:lnSpc>
              <a:buNone/>
              <a:defRPr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Agent repeatedly call unnecessary</a:t>
            </a:r>
            <a:endParaRPr sz="800" b="1">
              <a:solidFill>
                <a:srgbClr val="7F1D1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indent="0" algn="l">
              <a:lnSpc>
                <a:spcPct val="115000"/>
              </a:lnSpc>
              <a:buNone/>
              <a:defRPr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tools for filter and get false filter</a:t>
            </a:r>
            <a:endParaRPr sz="800" b="1">
              <a:solidFill>
                <a:srgbClr val="7F1D1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indent="0" algn="l">
              <a:lnSpc>
                <a:spcPct val="115000"/>
              </a:lnSpc>
              <a:buNone/>
              <a:defRPr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results …… </a:t>
            </a:r>
            <a:endParaRPr sz="800" b="1">
              <a:solidFill>
                <a:srgbClr val="7F1D1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59" name="text-194"/>
          <p:cNvSpPr>
            <a:spLocks noGrp="1"/>
          </p:cNvSpPr>
          <p:nvPr/>
        </p:nvSpPr>
        <p:spPr>
          <a:xfrm>
            <a:off x="3803650" y="8570595"/>
            <a:ext cx="144970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/>
          <a:p>
            <a:pPr indent="0" algn="l">
              <a:lnSpc>
                <a:spcPct val="115000"/>
              </a:lnSpc>
              <a:buNone/>
              <a:defRPr sz="825" b="1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EF44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Early Stop !</a:t>
            </a:r>
            <a:endParaRPr sz="1200" b="1">
              <a:solidFill>
                <a:srgbClr val="EF444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618" name="直接箭头连接符 362"/>
          <p:cNvCxnSpPr>
            <a:stCxn id="109" idx="3"/>
            <a:endCxn id="180" idx="1"/>
          </p:cNvCxnSpPr>
          <p:nvPr/>
        </p:nvCxnSpPr>
        <p:spPr>
          <a:xfrm>
            <a:off x="7548245" y="6379210"/>
            <a:ext cx="509905" cy="0"/>
          </a:xfrm>
          <a:prstGeom prst="straightConnector1">
            <a:avLst/>
          </a:prstGeom>
          <a:ln>
            <a:solidFill>
              <a:srgbClr val="05966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9" name="直接箭头连接符 364"/>
          <p:cNvCxnSpPr/>
          <p:nvPr/>
        </p:nvCxnSpPr>
        <p:spPr>
          <a:xfrm>
            <a:off x="7548245" y="7574280"/>
            <a:ext cx="509905" cy="0"/>
          </a:xfrm>
          <a:prstGeom prst="straightConnector1">
            <a:avLst/>
          </a:prstGeom>
          <a:ln>
            <a:solidFill>
              <a:srgbClr val="05966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0" name="直接箭头连接符 367"/>
          <p:cNvCxnSpPr/>
          <p:nvPr/>
        </p:nvCxnSpPr>
        <p:spPr>
          <a:xfrm>
            <a:off x="7548245" y="5188585"/>
            <a:ext cx="509905" cy="0"/>
          </a:xfrm>
          <a:prstGeom prst="straightConnector1">
            <a:avLst/>
          </a:prstGeom>
          <a:ln>
            <a:solidFill>
              <a:srgbClr val="05966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8" name="圆角矩形 377"/>
          <p:cNvSpPr>
            <a:spLocks noGrp="1"/>
          </p:cNvSpPr>
          <p:nvPr/>
        </p:nvSpPr>
        <p:spPr>
          <a:xfrm>
            <a:off x="8248650" y="4476750"/>
            <a:ext cx="15240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379" name="矩形 378"/>
          <p:cNvSpPr>
            <a:spLocks noGrp="1"/>
          </p:cNvSpPr>
          <p:nvPr/>
        </p:nvSpPr>
        <p:spPr>
          <a:xfrm>
            <a:off x="8324850" y="4648200"/>
            <a:ext cx="1371600" cy="266700"/>
          </a:xfrm>
          <a:prstGeom prst="rect">
            <a:avLst/>
          </a:prstGeom>
        </p:spPr>
        <p:txBody>
          <a:bodyPr/>
          <a:lstStyle/>
          <a:p>
            <a:pPr algn="ctr">
              <a:defRPr sz="1350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Stage evidence</a:t>
            </a:r>
            <a:endParaRPr sz="1350" b="1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0" name="矩形 379"/>
          <p:cNvSpPr>
            <a:spLocks noGrp="1"/>
          </p:cNvSpPr>
          <p:nvPr/>
        </p:nvSpPr>
        <p:spPr>
          <a:xfrm>
            <a:off x="8343900" y="4991100"/>
            <a:ext cx="1333500" cy="495300"/>
          </a:xfrm>
          <a:prstGeom prst="rect">
            <a:avLst/>
          </a:prstGeom>
        </p:spPr>
        <p:txBody>
          <a:bodyPr/>
          <a:lstStyle/>
          <a:p>
            <a:pPr algn="ctr">
              <a:def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closed actions</a:t>
            </a:r>
            <a:endParaRPr sz="975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1" name="圆角矩形 380"/>
          <p:cNvSpPr>
            <a:spLocks noGrp="1"/>
          </p:cNvSpPr>
          <p:nvPr/>
        </p:nvSpPr>
        <p:spPr>
          <a:xfrm>
            <a:off x="9772650" y="4476750"/>
            <a:ext cx="15240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382" name="矩形 381"/>
          <p:cNvSpPr>
            <a:spLocks noGrp="1"/>
          </p:cNvSpPr>
          <p:nvPr/>
        </p:nvSpPr>
        <p:spPr>
          <a:xfrm>
            <a:off x="9848850" y="4648200"/>
            <a:ext cx="1371600" cy="266700"/>
          </a:xfrm>
          <a:prstGeom prst="rect">
            <a:avLst/>
          </a:prstGeom>
        </p:spPr>
        <p:txBody>
          <a:bodyPr/>
          <a:lstStyle/>
          <a:p>
            <a:pPr algn="ctr">
              <a:defRPr sz="1350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Find weak stage</a:t>
            </a:r>
            <a:endParaRPr sz="1350" b="1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3" name="矩形 382"/>
          <p:cNvSpPr>
            <a:spLocks noGrp="1"/>
          </p:cNvSpPr>
          <p:nvPr/>
        </p:nvSpPr>
        <p:spPr>
          <a:xfrm>
            <a:off x="9867900" y="4991100"/>
            <a:ext cx="1333500" cy="495300"/>
          </a:xfrm>
          <a:prstGeom prst="rect">
            <a:avLst/>
          </a:prstGeom>
        </p:spPr>
        <p:txBody>
          <a:bodyPr/>
          <a:lstStyle/>
          <a:p>
            <a:pPr algn="ctr">
              <a:def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low score or high uncertainty</a:t>
            </a:r>
            <a:endParaRPr sz="975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4" name="圆角矩形 383"/>
          <p:cNvSpPr>
            <a:spLocks noGrp="1"/>
          </p:cNvSpPr>
          <p:nvPr/>
        </p:nvSpPr>
        <p:spPr>
          <a:xfrm>
            <a:off x="11296650" y="4476750"/>
            <a:ext cx="15240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385" name="矩形 384"/>
          <p:cNvSpPr>
            <a:spLocks noGrp="1"/>
          </p:cNvSpPr>
          <p:nvPr/>
        </p:nvSpPr>
        <p:spPr>
          <a:xfrm>
            <a:off x="11372850" y="4648200"/>
            <a:ext cx="1371600" cy="266700"/>
          </a:xfrm>
          <a:prstGeom prst="rect">
            <a:avLst/>
          </a:prstGeom>
        </p:spPr>
        <p:txBody>
          <a:bodyPr/>
          <a:lstStyle/>
          <a:p>
            <a:pPr algn="ctr">
              <a:defRPr sz="1350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Raise review</a:t>
            </a:r>
            <a:endParaRPr sz="1350" b="1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6" name="矩形 385"/>
          <p:cNvSpPr>
            <a:spLocks noGrp="1"/>
          </p:cNvSpPr>
          <p:nvPr/>
        </p:nvSpPr>
        <p:spPr>
          <a:xfrm>
            <a:off x="11391900" y="4991100"/>
            <a:ext cx="1333500" cy="495300"/>
          </a:xfrm>
          <a:prstGeom prst="rect">
            <a:avLst/>
          </a:prstGeom>
        </p:spPr>
        <p:txBody>
          <a:bodyPr/>
          <a:lstStyle/>
          <a:p>
            <a:pPr algn="ctr">
              <a:def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judge level and weight</a:t>
            </a:r>
            <a:endParaRPr sz="975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7" name="圆角矩形 386"/>
          <p:cNvSpPr>
            <a:spLocks noGrp="1"/>
          </p:cNvSpPr>
          <p:nvPr/>
        </p:nvSpPr>
        <p:spPr>
          <a:xfrm>
            <a:off x="12820650" y="4476750"/>
            <a:ext cx="15240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388" name="矩形 387"/>
          <p:cNvSpPr>
            <a:spLocks noGrp="1"/>
          </p:cNvSpPr>
          <p:nvPr/>
        </p:nvSpPr>
        <p:spPr>
          <a:xfrm>
            <a:off x="12896850" y="4648200"/>
            <a:ext cx="1371600" cy="266700"/>
          </a:xfrm>
          <a:prstGeom prst="rect">
            <a:avLst/>
          </a:prstGeom>
        </p:spPr>
        <p:txBody>
          <a:bodyPr/>
          <a:lstStyle/>
          <a:p>
            <a:pPr algn="ctr">
              <a:defRPr sz="1350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Next stage</a:t>
            </a:r>
            <a:endParaRPr sz="1350" b="1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9" name="矩形 388"/>
          <p:cNvSpPr>
            <a:spLocks noGrp="1"/>
          </p:cNvSpPr>
          <p:nvPr/>
        </p:nvSpPr>
        <p:spPr>
          <a:xfrm>
            <a:off x="12915900" y="4991100"/>
            <a:ext cx="1333500" cy="495300"/>
          </a:xfrm>
          <a:prstGeom prst="rect">
            <a:avLst/>
          </a:prstGeom>
        </p:spPr>
        <p:txBody>
          <a:bodyPr/>
          <a:lstStyle/>
          <a:p>
            <a:pPr algn="ctr">
              <a:def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focus on weak dimension</a:t>
            </a:r>
            <a:endParaRPr sz="975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94" name="矩形 393"/>
          <p:cNvSpPr>
            <a:spLocks noGrp="1"/>
          </p:cNvSpPr>
          <p:nvPr/>
        </p:nvSpPr>
        <p:spPr>
          <a:xfrm>
            <a:off x="8248650" y="5905500"/>
            <a:ext cx="6096000" cy="228600"/>
          </a:xfrm>
          <a:prstGeom prst="rect">
            <a:avLst/>
          </a:prstGeom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next stage uses updated judge and weight</a:t>
            </a:r>
            <a:endParaRPr sz="105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95" name="圆角矩形 394"/>
          <p:cNvSpPr>
            <a:spLocks noGrp="1"/>
          </p:cNvSpPr>
          <p:nvPr/>
        </p:nvSpPr>
        <p:spPr>
          <a:xfrm>
            <a:off x="8248650" y="6286500"/>
            <a:ext cx="3143250" cy="26670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396" name="矩形 395"/>
          <p:cNvSpPr>
            <a:spLocks noGrp="1"/>
          </p:cNvSpPr>
          <p:nvPr/>
        </p:nvSpPr>
        <p:spPr>
          <a:xfrm>
            <a:off x="8401050" y="6419850"/>
            <a:ext cx="2838450" cy="266700"/>
          </a:xfrm>
          <a:prstGeom prst="rect">
            <a:avLst/>
          </a:prstGeom>
        </p:spPr>
        <p:txBody>
          <a:bodyPr/>
          <a:lstStyle/>
          <a:p>
            <a:pPr algn="l">
              <a:defRPr sz="15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Judge tiers</a:t>
            </a:r>
            <a:endParaRPr sz="15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97" name="圆角矩形 396"/>
          <p:cNvSpPr>
            <a:spLocks noGrp="1"/>
          </p:cNvSpPr>
          <p:nvPr/>
        </p:nvSpPr>
        <p:spPr>
          <a:xfrm>
            <a:off x="8382000" y="6800850"/>
            <a:ext cx="28765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</p:sp>
      <p:pic>
        <p:nvPicPr>
          <p:cNvPr id="637" name="图片 636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15350" y="6953250"/>
            <a:ext cx="266700" cy="266700"/>
          </a:xfrm>
          <a:prstGeom prst="rect">
            <a:avLst/>
          </a:prstGeom>
        </p:spPr>
      </p:pic>
      <p:sp>
        <p:nvSpPr>
          <p:cNvPr id="399" name="矩形 398"/>
          <p:cNvSpPr>
            <a:spLocks noGrp="1"/>
          </p:cNvSpPr>
          <p:nvPr/>
        </p:nvSpPr>
        <p:spPr>
          <a:xfrm>
            <a:off x="8877300" y="6896100"/>
            <a:ext cx="22479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Cheap judge</a:t>
            </a:r>
            <a:endParaRPr sz="1275" b="1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00" name="矩形 399"/>
          <p:cNvSpPr>
            <a:spLocks noGrp="1"/>
          </p:cNvSpPr>
          <p:nvPr/>
        </p:nvSpPr>
        <p:spPr>
          <a:xfrm>
            <a:off x="8877300" y="7105650"/>
            <a:ext cx="2247900" cy="190500"/>
          </a:xfrm>
          <a:prstGeom prst="rect">
            <a:avLst/>
          </a:prstGeom>
        </p:spPr>
        <p:txBody>
          <a:bodyPr/>
          <a:lstStyle/>
          <a:p>
            <a:pPr algn="l">
              <a:def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Rule and schema check</a:t>
            </a:r>
            <a:endParaRPr sz="975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01" name="圆角矩形 400"/>
          <p:cNvSpPr>
            <a:spLocks noGrp="1"/>
          </p:cNvSpPr>
          <p:nvPr/>
        </p:nvSpPr>
        <p:spPr>
          <a:xfrm>
            <a:off x="8382000" y="7486650"/>
            <a:ext cx="28765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</p:sp>
      <p:pic>
        <p:nvPicPr>
          <p:cNvPr id="641" name="图片 640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15350" y="7639050"/>
            <a:ext cx="266700" cy="266700"/>
          </a:xfrm>
          <a:prstGeom prst="rect">
            <a:avLst/>
          </a:prstGeom>
        </p:spPr>
      </p:pic>
      <p:sp>
        <p:nvSpPr>
          <p:cNvPr id="403" name="矩形 402"/>
          <p:cNvSpPr>
            <a:spLocks noGrp="1"/>
          </p:cNvSpPr>
          <p:nvPr/>
        </p:nvSpPr>
        <p:spPr>
          <a:xfrm>
            <a:off x="8877300" y="7581900"/>
            <a:ext cx="22479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Standard judge</a:t>
            </a:r>
            <a:endParaRPr sz="1275" b="1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04" name="矩形 403"/>
          <p:cNvSpPr>
            <a:spLocks noGrp="1"/>
          </p:cNvSpPr>
          <p:nvPr/>
        </p:nvSpPr>
        <p:spPr>
          <a:xfrm>
            <a:off x="8877300" y="7791450"/>
            <a:ext cx="2247900" cy="190500"/>
          </a:xfrm>
          <a:prstGeom prst="rect">
            <a:avLst/>
          </a:prstGeom>
        </p:spPr>
        <p:txBody>
          <a:bodyPr/>
          <a:lstStyle/>
          <a:p>
            <a:pPr algn="l">
              <a:def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Unified LLM review</a:t>
            </a:r>
            <a:endParaRPr sz="975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05" name="圆角矩形 404"/>
          <p:cNvSpPr>
            <a:spLocks noGrp="1"/>
          </p:cNvSpPr>
          <p:nvPr/>
        </p:nvSpPr>
        <p:spPr>
          <a:xfrm>
            <a:off x="8382000" y="8172450"/>
            <a:ext cx="28765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</p:sp>
      <p:pic>
        <p:nvPicPr>
          <p:cNvPr id="645" name="图片 644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15350" y="8324850"/>
            <a:ext cx="266700" cy="266700"/>
          </a:xfrm>
          <a:prstGeom prst="rect">
            <a:avLst/>
          </a:prstGeom>
        </p:spPr>
      </p:pic>
      <p:sp>
        <p:nvSpPr>
          <p:cNvPr id="407" name="矩形 406"/>
          <p:cNvSpPr>
            <a:spLocks noGrp="1"/>
          </p:cNvSpPr>
          <p:nvPr/>
        </p:nvSpPr>
        <p:spPr>
          <a:xfrm>
            <a:off x="8877300" y="8267700"/>
            <a:ext cx="2247900" cy="209550"/>
          </a:xfrm>
          <a:prstGeom prst="rect">
            <a:avLst/>
          </a:prstGeom>
        </p:spPr>
        <p:txBody>
          <a:bodyPr/>
          <a:lstStyle/>
          <a:p>
            <a:pPr algn="l">
              <a:defRPr sz="1275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1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Expensive judge</a:t>
            </a:r>
            <a:endParaRPr sz="1275" b="1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08" name="矩形 407"/>
          <p:cNvSpPr>
            <a:spLocks noGrp="1"/>
          </p:cNvSpPr>
          <p:nvPr/>
        </p:nvSpPr>
        <p:spPr>
          <a:xfrm>
            <a:off x="8877300" y="8477250"/>
            <a:ext cx="2247900" cy="190500"/>
          </a:xfrm>
          <a:prstGeom prst="rect">
            <a:avLst/>
          </a:prstGeom>
        </p:spPr>
        <p:txBody>
          <a:bodyPr/>
          <a:lstStyle/>
          <a:p>
            <a:pPr algn="l">
              <a:def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Dimension specialist review</a:t>
            </a:r>
            <a:endParaRPr sz="975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09" name="矩形 408"/>
          <p:cNvSpPr>
            <a:spLocks noGrp="1"/>
          </p:cNvSpPr>
          <p:nvPr/>
        </p:nvSpPr>
        <p:spPr>
          <a:xfrm>
            <a:off x="8401050" y="8782050"/>
            <a:ext cx="2838450" cy="190500"/>
          </a:xfrm>
          <a:prstGeom prst="rect">
            <a:avLst/>
          </a:prstGeom>
        </p:spPr>
        <p:txBody>
          <a:bodyPr/>
          <a:lstStyle/>
          <a:p>
            <a:pPr algn="l">
              <a:defRPr sz="975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Weak or uncertain dimension escalates downward</a:t>
            </a:r>
            <a:endParaRPr sz="975" b="1">
              <a:solidFill>
                <a:srgbClr val="04785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0" name="圆角矩形 409"/>
          <p:cNvSpPr>
            <a:spLocks noGrp="1"/>
          </p:cNvSpPr>
          <p:nvPr/>
        </p:nvSpPr>
        <p:spPr>
          <a:xfrm>
            <a:off x="11582400" y="6286500"/>
            <a:ext cx="2762250" cy="26670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411" name="矩形 410"/>
          <p:cNvSpPr>
            <a:spLocks noGrp="1"/>
          </p:cNvSpPr>
          <p:nvPr/>
        </p:nvSpPr>
        <p:spPr>
          <a:xfrm>
            <a:off x="11715750" y="6419850"/>
            <a:ext cx="2495550" cy="266700"/>
          </a:xfrm>
          <a:prstGeom prst="rect">
            <a:avLst/>
          </a:prstGeom>
        </p:spPr>
        <p:txBody>
          <a:bodyPr/>
          <a:lstStyle/>
          <a:p>
            <a:pPr algn="l">
              <a:defRPr sz="15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Weak-dimension weight</a:t>
            </a:r>
            <a:endParaRPr sz="15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2" name="矩形 411"/>
          <p:cNvSpPr>
            <a:spLocks noGrp="1"/>
          </p:cNvSpPr>
          <p:nvPr/>
        </p:nvSpPr>
        <p:spPr>
          <a:xfrm>
            <a:off x="11715750" y="6800850"/>
            <a:ext cx="904875" cy="190500"/>
          </a:xfrm>
          <a:prstGeom prst="rect">
            <a:avLst/>
          </a:prstGeom>
        </p:spPr>
        <p:txBody>
          <a:bodyPr/>
          <a:lstStyle/>
          <a:p>
            <a:pPr algn="l">
              <a:defRPr sz="1050" b="0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0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Correctness</a:t>
            </a:r>
            <a:endParaRPr sz="1050" b="0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3" name="圆角矩形 412"/>
          <p:cNvSpPr>
            <a:spLocks noGrp="1"/>
          </p:cNvSpPr>
          <p:nvPr/>
        </p:nvSpPr>
        <p:spPr>
          <a:xfrm>
            <a:off x="12668250" y="6848475"/>
            <a:ext cx="11430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0">
            <a:solidFill>
              <a:srgbClr val="E2E8F0"/>
            </a:solidFill>
          </a:ln>
        </p:spPr>
      </p:sp>
      <p:sp>
        <p:nvSpPr>
          <p:cNvPr id="414" name="圆角矩形 413"/>
          <p:cNvSpPr>
            <a:spLocks noGrp="1"/>
          </p:cNvSpPr>
          <p:nvPr/>
        </p:nvSpPr>
        <p:spPr>
          <a:xfrm>
            <a:off x="12668250" y="6848475"/>
            <a:ext cx="76200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solidFill>
              <a:srgbClr val="3B82F6"/>
            </a:solidFill>
          </a:ln>
        </p:spPr>
      </p:sp>
      <p:sp>
        <p:nvSpPr>
          <p:cNvPr id="415" name="矩形 414"/>
          <p:cNvSpPr>
            <a:spLocks noGrp="1"/>
          </p:cNvSpPr>
          <p:nvPr/>
        </p:nvSpPr>
        <p:spPr>
          <a:xfrm>
            <a:off x="11715750" y="7296150"/>
            <a:ext cx="904875" cy="190500"/>
          </a:xfrm>
          <a:prstGeom prst="rect">
            <a:avLst/>
          </a:prstGeom>
        </p:spPr>
        <p:txBody>
          <a:bodyPr/>
          <a:lstStyle/>
          <a:p>
            <a:pPr algn="l">
              <a:defRPr sz="1050" b="0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0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Efficiency</a:t>
            </a:r>
            <a:endParaRPr sz="1050" b="0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6" name="圆角矩形 415"/>
          <p:cNvSpPr>
            <a:spLocks noGrp="1"/>
          </p:cNvSpPr>
          <p:nvPr/>
        </p:nvSpPr>
        <p:spPr>
          <a:xfrm>
            <a:off x="12668250" y="7343775"/>
            <a:ext cx="11430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0">
            <a:solidFill>
              <a:srgbClr val="E2E8F0"/>
            </a:solidFill>
          </a:ln>
        </p:spPr>
      </p:sp>
      <p:sp>
        <p:nvSpPr>
          <p:cNvPr id="417" name="圆角矩形 416"/>
          <p:cNvSpPr>
            <a:spLocks noGrp="1"/>
          </p:cNvSpPr>
          <p:nvPr/>
        </p:nvSpPr>
        <p:spPr>
          <a:xfrm>
            <a:off x="12668250" y="7343775"/>
            <a:ext cx="47625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solidFill>
              <a:srgbClr val="3B82F6"/>
            </a:solidFill>
          </a:ln>
        </p:spPr>
      </p:sp>
      <p:sp>
        <p:nvSpPr>
          <p:cNvPr id="418" name="矩形 417"/>
          <p:cNvSpPr>
            <a:spLocks noGrp="1"/>
          </p:cNvSpPr>
          <p:nvPr/>
        </p:nvSpPr>
        <p:spPr>
          <a:xfrm>
            <a:off x="11715750" y="7791450"/>
            <a:ext cx="904875" cy="190500"/>
          </a:xfrm>
          <a:prstGeom prst="rect">
            <a:avLst/>
          </a:prstGeom>
        </p:spPr>
        <p:txBody>
          <a:bodyPr/>
          <a:lstStyle/>
          <a:p>
            <a:pPr algn="l">
              <a:defRPr sz="1050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Safety (weak)</a:t>
            </a:r>
            <a:endParaRPr sz="1050" b="1">
              <a:solidFill>
                <a:srgbClr val="04785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9" name="圆角矩形 418"/>
          <p:cNvSpPr>
            <a:spLocks noGrp="1"/>
          </p:cNvSpPr>
          <p:nvPr/>
        </p:nvSpPr>
        <p:spPr>
          <a:xfrm>
            <a:off x="12668250" y="7839075"/>
            <a:ext cx="11430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0">
            <a:solidFill>
              <a:srgbClr val="E2E8F0"/>
            </a:solidFill>
          </a:ln>
        </p:spPr>
      </p:sp>
      <p:sp>
        <p:nvSpPr>
          <p:cNvPr id="420" name="圆角矩形 419"/>
          <p:cNvSpPr>
            <a:spLocks noGrp="1"/>
          </p:cNvSpPr>
          <p:nvPr/>
        </p:nvSpPr>
        <p:spPr>
          <a:xfrm>
            <a:off x="12668250" y="7839075"/>
            <a:ext cx="1143000" cy="952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0">
            <a:solidFill>
              <a:srgbClr val="059669"/>
            </a:solidFill>
          </a:ln>
        </p:spPr>
      </p:sp>
      <p:sp>
        <p:nvSpPr>
          <p:cNvPr id="421" name="矩形 420"/>
          <p:cNvSpPr>
            <a:spLocks noGrp="1"/>
          </p:cNvSpPr>
          <p:nvPr/>
        </p:nvSpPr>
        <p:spPr>
          <a:xfrm>
            <a:off x="13887450" y="7791450"/>
            <a:ext cx="457200" cy="190500"/>
          </a:xfrm>
          <a:prstGeom prst="rect">
            <a:avLst/>
          </a:prstGeom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weight up</a:t>
            </a:r>
            <a:endParaRPr sz="900" b="1">
              <a:solidFill>
                <a:srgbClr val="04785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22" name="矩形 421"/>
          <p:cNvSpPr>
            <a:spLocks noGrp="1"/>
          </p:cNvSpPr>
          <p:nvPr/>
        </p:nvSpPr>
        <p:spPr>
          <a:xfrm>
            <a:off x="11715750" y="8382000"/>
            <a:ext cx="2495550" cy="457200"/>
          </a:xfrm>
          <a:prstGeom prst="rect">
            <a:avLst/>
          </a:prstGeom>
        </p:spPr>
        <p:txBody>
          <a:bodyPr/>
          <a:lstStyle/>
          <a:p>
            <a:pPr algn="l">
              <a:defRPr sz="97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Low score or high uncertainty raises weight for the next stage.</a:t>
            </a:r>
            <a:endParaRPr sz="975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9" name="panel-60-115"/>
          <p:cNvSpPr>
            <a:spLocks noGrp="1"/>
          </p:cNvSpPr>
          <p:nvPr/>
        </p:nvSpPr>
        <p:spPr>
          <a:xfrm>
            <a:off x="1333500" y="2238375"/>
            <a:ext cx="6000750" cy="5191125"/>
          </a:xfrm>
          <a:prstGeom prst="roundRect">
            <a:avLst>
              <a:gd name="adj" fmla="val 2936"/>
            </a:avLst>
          </a:prstGeom>
          <a:solidFill>
            <a:srgbClr val="FFF5F5"/>
          </a:solidFill>
          <a:ln w="19050">
            <a:solidFill>
              <a:srgbClr val="FECAC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" name="panel-60-115"/>
          <p:cNvSpPr>
            <a:spLocks noGrp="1"/>
          </p:cNvSpPr>
          <p:nvPr/>
        </p:nvSpPr>
        <p:spPr>
          <a:xfrm>
            <a:off x="1333500" y="2238375"/>
            <a:ext cx="6000750" cy="495300"/>
          </a:xfrm>
          <a:prstGeom prst="roundRect">
            <a:avLst>
              <a:gd name="adj" fmla="val 30769"/>
            </a:avLst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" name="circle-80-129"/>
          <p:cNvSpPr>
            <a:spLocks noGrp="1"/>
          </p:cNvSpPr>
          <p:nvPr/>
        </p:nvSpPr>
        <p:spPr>
          <a:xfrm>
            <a:off x="1524000" y="2386330"/>
            <a:ext cx="228600" cy="228600"/>
          </a:xfrm>
          <a:prstGeom prst="ellipse">
            <a:avLst/>
          </a:prstGeom>
          <a:solidFill>
            <a:srgbClr val="EF4444"/>
          </a:solidFill>
          <a:ln w="14288">
            <a:solidFill>
              <a:srgbClr val="EF4444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✕</a:t>
            </a:r>
            <a:endParaRPr sz="97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text-114-123"/>
          <p:cNvSpPr>
            <a:spLocks noGrp="1"/>
          </p:cNvSpPr>
          <p:nvPr/>
        </p:nvSpPr>
        <p:spPr>
          <a:xfrm>
            <a:off x="1828800" y="2386330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4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0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(a) Conventional: Untargeted Full-Trajectory &amp; Single-Reference</a:t>
            </a:r>
            <a:endParaRPr sz="140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" name="card-84-187"/>
          <p:cNvSpPr>
            <a:spLocks noGrp="1"/>
          </p:cNvSpPr>
          <p:nvPr/>
        </p:nvSpPr>
        <p:spPr>
          <a:xfrm>
            <a:off x="1562100" y="2924175"/>
            <a:ext cx="5543550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FED7D7"/>
            </a:solidFill>
            <a:prstDash val="solid"/>
          </a:ln>
        </p:spPr>
      </p:sp>
      <p:sp>
        <p:nvSpPr>
          <p:cNvPr id="6" name="text-100-195"/>
          <p:cNvSpPr>
            <a:spLocks noGrp="1"/>
          </p:cNvSpPr>
          <p:nvPr/>
        </p:nvSpPr>
        <p:spPr>
          <a:xfrm>
            <a:off x="1714500" y="300037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1. Granularity Gap in Trajectory Evaluation</a:t>
            </a:r>
            <a:endParaRPr sz="120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" name="text-100-215"/>
          <p:cNvSpPr>
            <a:spLocks noGrp="1"/>
          </p:cNvSpPr>
          <p:nvPr/>
        </p:nvSpPr>
        <p:spPr>
          <a:xfrm>
            <a:off x="1714500" y="3190875"/>
            <a:ext cx="5238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Full-trajectory review hides failures; atomic steps lose context and flag benign events.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" name="card-100-239"/>
          <p:cNvSpPr>
            <a:spLocks noGrp="1"/>
          </p:cNvSpPr>
          <p:nvPr/>
        </p:nvSpPr>
        <p:spPr>
          <a:xfrm>
            <a:off x="1714500" y="3419475"/>
            <a:ext cx="2581275" cy="581025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-112-260"/>
          <p:cNvSpPr>
            <a:spLocks noGrp="1"/>
          </p:cNvSpPr>
          <p:nvPr/>
        </p:nvSpPr>
        <p:spPr>
          <a:xfrm>
            <a:off x="1828800" y="3466465"/>
            <a:ext cx="2095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79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Full-trajectory: Too Coarse</a:t>
            </a:r>
            <a:endParaRPr sz="100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card-112-276"/>
          <p:cNvSpPr>
            <a:spLocks noGrp="1"/>
          </p:cNvSpPr>
          <p:nvPr/>
        </p:nvSpPr>
        <p:spPr>
          <a:xfrm>
            <a:off x="1832610" y="3682365"/>
            <a:ext cx="228600" cy="17145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S1</a:t>
            </a:r>
            <a:endParaRPr sz="565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card-138-276"/>
          <p:cNvSpPr>
            <a:spLocks noGrp="1"/>
          </p:cNvSpPr>
          <p:nvPr/>
        </p:nvSpPr>
        <p:spPr>
          <a:xfrm>
            <a:off x="2080260" y="3682365"/>
            <a:ext cx="228600" cy="17145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S2</a:t>
            </a:r>
            <a:endParaRPr sz="565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card-164-276"/>
          <p:cNvSpPr>
            <a:spLocks noGrp="1"/>
          </p:cNvSpPr>
          <p:nvPr/>
        </p:nvSpPr>
        <p:spPr>
          <a:xfrm>
            <a:off x="2327910" y="3682365"/>
            <a:ext cx="228600" cy="17145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4288">
            <a:solidFill>
              <a:srgbClr val="EF4444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E3</a:t>
            </a:r>
            <a:endParaRPr sz="565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card-190-276"/>
          <p:cNvSpPr>
            <a:spLocks noGrp="1"/>
          </p:cNvSpPr>
          <p:nvPr/>
        </p:nvSpPr>
        <p:spPr>
          <a:xfrm>
            <a:off x="2575560" y="3682365"/>
            <a:ext cx="228600" cy="17145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565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R4</a:t>
            </a:r>
            <a:endParaRPr sz="565" b="1">
              <a:solidFill>
                <a:srgbClr val="9240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card-216-276"/>
          <p:cNvSpPr>
            <a:spLocks noGrp="1"/>
          </p:cNvSpPr>
          <p:nvPr/>
        </p:nvSpPr>
        <p:spPr>
          <a:xfrm>
            <a:off x="2823210" y="3682365"/>
            <a:ext cx="228600" cy="17145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O5</a:t>
            </a:r>
            <a:endParaRPr sz="565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card-242-276"/>
          <p:cNvSpPr>
            <a:spLocks noGrp="1"/>
          </p:cNvSpPr>
          <p:nvPr/>
        </p:nvSpPr>
        <p:spPr>
          <a:xfrm>
            <a:off x="3070860" y="3682365"/>
            <a:ext cx="298450" cy="17145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56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Goal</a:t>
            </a:r>
            <a:endParaRPr sz="56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card-287-272"/>
          <p:cNvSpPr>
            <a:spLocks noGrp="1"/>
          </p:cNvSpPr>
          <p:nvPr/>
        </p:nvSpPr>
        <p:spPr>
          <a:xfrm>
            <a:off x="3652520" y="3644265"/>
            <a:ext cx="548640" cy="266700"/>
          </a:xfrm>
          <a:prstGeom prst="roundRect">
            <a:avLst>
              <a:gd name="adj" fmla="val 17857"/>
            </a:avLst>
          </a:prstGeom>
          <a:solidFill>
            <a:srgbClr val="FEF2F2"/>
          </a:solidFill>
          <a:ln w="14288">
            <a:solidFill>
              <a:srgbClr val="EF4444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Score 1.0</a:t>
            </a:r>
            <a:endParaRPr sz="565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lnSpc>
                <a:spcPct val="105000"/>
              </a:lnSpc>
              <a:buNone/>
              <a:def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post-hoc</a:t>
            </a:r>
            <a:endParaRPr sz="565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text-112-309"/>
          <p:cNvSpPr>
            <a:spLocks noGrp="1"/>
          </p:cNvSpPr>
          <p:nvPr/>
        </p:nvSpPr>
        <p:spPr>
          <a:xfrm>
            <a:off x="1715135" y="4019550"/>
            <a:ext cx="249618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64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First failure (E3) is buried in the aggregate trace.</a:t>
            </a:r>
            <a:endParaRPr sz="80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0" name="card-391-239"/>
          <p:cNvSpPr>
            <a:spLocks noGrp="1"/>
          </p:cNvSpPr>
          <p:nvPr/>
        </p:nvSpPr>
        <p:spPr>
          <a:xfrm>
            <a:off x="4486275" y="3419475"/>
            <a:ext cx="2466975" cy="581025"/>
          </a:xfrm>
          <a:prstGeom prst="roundRect">
            <a:avLst>
              <a:gd name="adj" fmla="val 11429"/>
            </a:avLst>
          </a:prstGeom>
          <a:solidFill>
            <a:srgbClr val="FFFBE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1" name="text-403-260"/>
          <p:cNvSpPr>
            <a:spLocks noGrp="1"/>
          </p:cNvSpPr>
          <p:nvPr/>
        </p:nvSpPr>
        <p:spPr>
          <a:xfrm>
            <a:off x="4595495" y="3466465"/>
            <a:ext cx="2190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790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Atomic-step: Too Fine</a:t>
            </a:r>
            <a:endParaRPr sz="1000" b="1">
              <a:solidFill>
                <a:srgbClr val="9240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8" name="card-593-274"/>
          <p:cNvSpPr>
            <a:spLocks noGrp="1"/>
          </p:cNvSpPr>
          <p:nvPr/>
        </p:nvSpPr>
        <p:spPr>
          <a:xfrm>
            <a:off x="6423660" y="3663315"/>
            <a:ext cx="467360" cy="209550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 w="9525">
            <a:solidFill>
              <a:srgbClr val="EF4444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>
                <a:solidFill>
                  <a:srgbClr val="DC2626"/>
                </a:solidFill>
              </a:rPr>
              <a:t>⚠</a:t>
            </a:r>
            <a:r>
              <a:rPr>
                <a:solidFill>
                  <a:srgbClr val="DC2626"/>
                </a:solidFill>
              </a:rPr>
              <a:t>   </a:t>
            </a:r>
            <a:endParaRPr>
              <a:solidFill>
                <a:srgbClr val="DC2626"/>
              </a:solidFill>
            </a:endParaRPr>
          </a:p>
          <a:p>
            <a:pPr algn="ctr">
              <a:buNone/>
              <a:def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High Cost!</a:t>
            </a:r>
            <a:endParaRPr sz="565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9" name="text-403-309"/>
          <p:cNvSpPr>
            <a:spLocks noGrp="1"/>
          </p:cNvSpPr>
          <p:nvPr/>
        </p:nvSpPr>
        <p:spPr>
          <a:xfrm>
            <a:off x="4576445" y="4019550"/>
            <a:ext cx="22860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64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Missing context</a:t>
            </a:r>
            <a:r>
              <a:rPr sz="8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&amp; High cost</a:t>
            </a:r>
            <a:endParaRPr sz="80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0" name="card-84-337"/>
          <p:cNvSpPr>
            <a:spLocks noGrp="1"/>
          </p:cNvSpPr>
          <p:nvPr/>
        </p:nvSpPr>
        <p:spPr>
          <a:xfrm>
            <a:off x="1562100" y="4352925"/>
            <a:ext cx="5543550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FED7D7"/>
            </a:solidFill>
            <a:prstDash val="solid"/>
          </a:ln>
        </p:spPr>
      </p:sp>
      <p:sp>
        <p:nvSpPr>
          <p:cNvPr id="31" name="text-100-345"/>
          <p:cNvSpPr>
            <a:spLocks noGrp="1"/>
          </p:cNvSpPr>
          <p:nvPr/>
        </p:nvSpPr>
        <p:spPr>
          <a:xfrm>
            <a:off x="1714500" y="442912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2. Single-Reference Bias (Penalizing Valid Exploration)</a:t>
            </a:r>
            <a:endParaRPr sz="120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2" name="text-100-365"/>
          <p:cNvSpPr>
            <a:spLocks noGrp="1"/>
          </p:cNvSpPr>
          <p:nvPr/>
        </p:nvSpPr>
        <p:spPr>
          <a:xfrm>
            <a:off x="1714500" y="4618355"/>
            <a:ext cx="5238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Agent discovers an alternative, highly efficient valid path not in the single reference trace.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3" name="text-116-392"/>
          <p:cNvSpPr>
            <a:spLocks noGrp="1"/>
          </p:cNvSpPr>
          <p:nvPr/>
        </p:nvSpPr>
        <p:spPr>
          <a:xfrm>
            <a:off x="1866900" y="4953000"/>
            <a:ext cx="304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3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Ref: Search(Name) ➔ Call(Phone)</a:t>
            </a:r>
            <a:endParaRPr sz="93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4" name="text-116-424"/>
          <p:cNvSpPr>
            <a:spLocks noGrp="1"/>
          </p:cNvSpPr>
          <p:nvPr/>
        </p:nvSpPr>
        <p:spPr>
          <a:xfrm>
            <a:off x="1866900" y="5257800"/>
            <a:ext cx="304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2563E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30" b="1">
                <a:solidFill>
                  <a:srgbClr val="2563E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Agent: Filter(Date) ➔ Call(Phone)</a:t>
            </a:r>
            <a:endParaRPr sz="930" b="1">
              <a:solidFill>
                <a:srgbClr val="2563E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5" name="card-449-400"/>
          <p:cNvSpPr>
            <a:spLocks noGrp="1"/>
          </p:cNvSpPr>
          <p:nvPr/>
        </p:nvSpPr>
        <p:spPr>
          <a:xfrm>
            <a:off x="4669155" y="4953000"/>
            <a:ext cx="2285365" cy="542290"/>
          </a:xfrm>
          <a:prstGeom prst="roundRect">
            <a:avLst>
              <a:gd name="adj" fmla="val 11538"/>
            </a:avLst>
          </a:prstGeom>
          <a:solidFill>
            <a:srgbClr val="FEF2F2"/>
          </a:solidFill>
          <a:ln w="14288">
            <a:solidFill>
              <a:srgbClr val="EF4444"/>
            </a:solidFill>
            <a:prstDash val="solid"/>
          </a:ln>
        </p:spPr>
        <p:txBody>
          <a:bodyPr lIns="95250" tIns="19050" rIns="47625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Trajectory Sim = 0.12 (Fail!)</a:t>
            </a:r>
            <a:endParaRPr sz="100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⚠</a:t>
            </a:r>
            <a:r>
              <a:rPr sz="82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</a:t>
            </a:r>
            <a:r>
              <a:rPr sz="82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Correct outcome rejected</a:t>
            </a:r>
            <a:r>
              <a:rPr sz="82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</a:t>
            </a:r>
            <a:r>
              <a:rPr sz="82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due to rigid single-path alignment</a:t>
            </a:r>
            <a:endParaRPr sz="820">
              <a:solidFill>
                <a:srgbClr val="DC262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6" name="card-84-487"/>
          <p:cNvSpPr>
            <a:spLocks noGrp="1"/>
          </p:cNvSpPr>
          <p:nvPr/>
        </p:nvSpPr>
        <p:spPr>
          <a:xfrm>
            <a:off x="1562100" y="5781675"/>
            <a:ext cx="5543550" cy="13811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FED7D7"/>
            </a:solidFill>
            <a:prstDash val="solid"/>
          </a:ln>
        </p:spPr>
      </p:sp>
      <p:sp>
        <p:nvSpPr>
          <p:cNvPr id="37" name="text-100-495"/>
          <p:cNvSpPr>
            <a:spLocks noGrp="1"/>
          </p:cNvSpPr>
          <p:nvPr/>
        </p:nvSpPr>
        <p:spPr>
          <a:xfrm>
            <a:off x="1714500" y="585787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3. Delayed Evaluation &amp; Wasteful Execution Runout</a:t>
            </a:r>
            <a:endParaRPr sz="120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" name="text-100-515"/>
          <p:cNvSpPr>
            <a:spLocks noGrp="1"/>
          </p:cNvSpPr>
          <p:nvPr/>
        </p:nvSpPr>
        <p:spPr>
          <a:xfrm>
            <a:off x="1714500" y="6058535"/>
            <a:ext cx="5238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Agent derails into infinite parameter loops at turn 18, but harness runs blindly to turn 100.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9" name="card-100-569"/>
          <p:cNvSpPr>
            <a:spLocks noGrp="1"/>
          </p:cNvSpPr>
          <p:nvPr/>
        </p:nvSpPr>
        <p:spPr>
          <a:xfrm>
            <a:off x="2661285" y="6515100"/>
            <a:ext cx="4285615" cy="266065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 w="14288">
            <a:solidFill>
              <a:srgbClr val="EF4444"/>
            </a:solidFill>
            <a:prstDash val="dash"/>
          </a:ln>
        </p:spPr>
      </p:sp>
      <p:sp>
        <p:nvSpPr>
          <p:cNvPr id="40" name="card-100-569"/>
          <p:cNvSpPr>
            <a:spLocks noGrp="1"/>
          </p:cNvSpPr>
          <p:nvPr/>
        </p:nvSpPr>
        <p:spPr>
          <a:xfrm>
            <a:off x="1714500" y="6562725"/>
            <a:ext cx="952500" cy="171450"/>
          </a:xfrm>
          <a:prstGeom prst="roundRect">
            <a:avLst>
              <a:gd name="adj" fmla="val 33333"/>
            </a:avLst>
          </a:prstGeom>
          <a:solidFill>
            <a:srgbClr val="FCA5A5"/>
          </a:solidFill>
          <a:ln w="0">
            <a:noFill/>
            <a:prstDash val="solid"/>
          </a:ln>
        </p:spPr>
      </p:sp>
      <p:sp>
        <p:nvSpPr>
          <p:cNvPr id="43" name="text-180-597"/>
          <p:cNvSpPr>
            <a:spLocks noGrp="1"/>
          </p:cNvSpPr>
          <p:nvPr/>
        </p:nvSpPr>
        <p:spPr>
          <a:xfrm>
            <a:off x="2476500" y="6829425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7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Step 18 (Stuck)</a:t>
            </a:r>
            <a:endParaRPr sz="75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4" name="text-260-572"/>
          <p:cNvSpPr>
            <a:spLocks noGrp="1"/>
          </p:cNvSpPr>
          <p:nvPr/>
        </p:nvSpPr>
        <p:spPr>
          <a:xfrm>
            <a:off x="3299460" y="6562725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750" b="1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Wasteful Prefix: 82 turns, 185s, 32k tokens squandered</a:t>
            </a:r>
            <a:endParaRPr sz="1000" b="1">
              <a:solidFill>
                <a:srgbClr val="DC262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6" name="panel-750-115"/>
          <p:cNvSpPr>
            <a:spLocks noGrp="1"/>
          </p:cNvSpPr>
          <p:nvPr/>
        </p:nvSpPr>
        <p:spPr>
          <a:xfrm>
            <a:off x="7905750" y="2238375"/>
            <a:ext cx="6000750" cy="5191125"/>
          </a:xfrm>
          <a:prstGeom prst="roundRect">
            <a:avLst>
              <a:gd name="adj" fmla="val 2936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47" name="panel-750-115"/>
          <p:cNvSpPr>
            <a:spLocks noGrp="1"/>
          </p:cNvSpPr>
          <p:nvPr/>
        </p:nvSpPr>
        <p:spPr>
          <a:xfrm>
            <a:off x="7905750" y="2238375"/>
            <a:ext cx="6000750" cy="495300"/>
          </a:xfrm>
          <a:prstGeom prst="roundRect">
            <a:avLst>
              <a:gd name="adj" fmla="val 30769"/>
            </a:avLst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48" name="circle-770-129"/>
          <p:cNvSpPr>
            <a:spLocks noGrp="1"/>
          </p:cNvSpPr>
          <p:nvPr/>
        </p:nvSpPr>
        <p:spPr>
          <a:xfrm>
            <a:off x="8096250" y="2371725"/>
            <a:ext cx="228600" cy="228600"/>
          </a:xfrm>
          <a:prstGeom prst="ellipse">
            <a:avLst/>
          </a:prstGeom>
          <a:solidFill>
            <a:srgbClr val="10B981"/>
          </a:solidFill>
          <a:ln w="14288">
            <a:solidFill>
              <a:srgbClr val="10B981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✓</a:t>
            </a:r>
            <a:endParaRPr sz="97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9" name="text-804-123"/>
          <p:cNvSpPr>
            <a:spLocks noGrp="1"/>
          </p:cNvSpPr>
          <p:nvPr/>
        </p:nvSpPr>
        <p:spPr>
          <a:xfrm>
            <a:off x="8420100" y="2371725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4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(b) DynSTEER: Targeted Stage Review &amp; Proactive Control</a:t>
            </a:r>
            <a:endParaRPr sz="14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0" name="card-774-187"/>
          <p:cNvSpPr>
            <a:spLocks noGrp="1"/>
          </p:cNvSpPr>
          <p:nvPr/>
        </p:nvSpPr>
        <p:spPr>
          <a:xfrm>
            <a:off x="8134350" y="2924175"/>
            <a:ext cx="5543550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sp>
        <p:nvSpPr>
          <p:cNvPr id="51" name="text-790-195"/>
          <p:cNvSpPr>
            <a:spLocks noGrp="1"/>
          </p:cNvSpPr>
          <p:nvPr/>
        </p:nvSpPr>
        <p:spPr>
          <a:xfrm>
            <a:off x="8286750" y="300037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1. Targeted Stage-wise Review with Rich Trajectory Context</a:t>
            </a:r>
            <a:endParaRPr sz="12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2" name="text-790-215"/>
          <p:cNvSpPr>
            <a:spLocks noGrp="1"/>
          </p:cNvSpPr>
          <p:nvPr/>
        </p:nvSpPr>
        <p:spPr>
          <a:xfrm>
            <a:off x="8286750" y="3190875"/>
            <a:ext cx="5238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Focuses on essential milestones with adequate context; 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</a:t>
            </a: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ynamically adapts strategy toward weak links.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3" name="card-790-272"/>
          <p:cNvSpPr>
            <a:spLocks noGrp="1"/>
          </p:cNvSpPr>
          <p:nvPr/>
        </p:nvSpPr>
        <p:spPr>
          <a:xfrm>
            <a:off x="8286750" y="3562350"/>
            <a:ext cx="1143000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4288">
            <a:solidFill>
              <a:srgbClr val="CBD5E1"/>
            </a:solidFill>
            <a:prstDash val="solid"/>
          </a:ln>
        </p:spPr>
        <p:txBody>
          <a:bodyPr lIns="95250" tIns="19050" rIns="38100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75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Stage 1 [s0 ➔ M1]</a:t>
            </a:r>
            <a:endParaRPr sz="85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75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50">
                <a:solidFill>
                  <a:srgbClr val="10B981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Correctness: 1.0 ✓</a:t>
            </a:r>
            <a:endParaRPr sz="850">
              <a:solidFill>
                <a:srgbClr val="10B981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4" name="card-945-272"/>
          <p:cNvSpPr>
            <a:spLocks noGrp="1"/>
          </p:cNvSpPr>
          <p:nvPr/>
        </p:nvSpPr>
        <p:spPr>
          <a:xfrm>
            <a:off x="9763125" y="3562350"/>
            <a:ext cx="1898015" cy="419100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 w="14288">
            <a:solidFill>
              <a:srgbClr val="EF4444"/>
            </a:solidFill>
            <a:prstDash val="solid"/>
          </a:ln>
        </p:spPr>
        <p:txBody>
          <a:bodyPr lIns="76200" tIns="19050" rIns="38100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Stage 2 [M1 ➔ M2] (Targeted)</a:t>
            </a:r>
            <a:endParaRPr sz="82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0" b="1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⚠️ First Error Isolated at Step 3!</a:t>
            </a:r>
            <a:endParaRPr sz="820" b="1">
              <a:solidFill>
                <a:srgbClr val="DC262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5" name="card-1125-272"/>
          <p:cNvSpPr>
            <a:spLocks noGrp="1"/>
          </p:cNvSpPr>
          <p:nvPr/>
        </p:nvSpPr>
        <p:spPr>
          <a:xfrm>
            <a:off x="11791950" y="3562350"/>
            <a:ext cx="1743075" cy="4572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4288">
            <a:solidFill>
              <a:srgbClr val="10B981"/>
            </a:solidFill>
            <a:prstDash val="solid"/>
          </a:ln>
        </p:spPr>
        <p:txBody>
          <a:bodyPr lIns="95250" tIns="19050" rIns="47625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67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Dynamic Strategy Escalation</a:t>
            </a:r>
            <a:endParaRPr sz="9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67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80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✓ Focuses on agent's weak link</a:t>
            </a:r>
            <a:br>
              <a:rPr sz="680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</a:br>
            <a:r>
              <a:rPr sz="680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Sufficient Context: Avoids Step Noise</a:t>
            </a:r>
            <a:endParaRPr sz="680">
              <a:solidFill>
                <a:srgbClr val="04785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315" name="直接箭头连接符 201"/>
          <p:cNvCxnSpPr>
            <a:stCxn id="53" idx="3"/>
            <a:endCxn id="54" idx="1"/>
          </p:cNvCxnSpPr>
          <p:nvPr/>
        </p:nvCxnSpPr>
        <p:spPr>
          <a:xfrm>
            <a:off x="9429750" y="3771900"/>
            <a:ext cx="333375" cy="0"/>
          </a:xfrm>
          <a:prstGeom prst="straightConnector1">
            <a:avLst/>
          </a:prstGeom>
          <a:ln w="19050">
            <a:solidFill>
              <a:srgbClr val="10B981"/>
            </a:solidFill>
            <a:prstDash val="solid"/>
            <a:headEnd type="triangle" w="sm" len="sm"/>
            <a:tailEnd type="none" w="med" len="med"/>
          </a:ln>
        </p:spPr>
      </p:cxnSp>
      <p:sp>
        <p:nvSpPr>
          <p:cNvPr id="57" name="card-774-337"/>
          <p:cNvSpPr>
            <a:spLocks noGrp="1"/>
          </p:cNvSpPr>
          <p:nvPr/>
        </p:nvSpPr>
        <p:spPr>
          <a:xfrm>
            <a:off x="8134350" y="4352925"/>
            <a:ext cx="5543550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sp>
        <p:nvSpPr>
          <p:cNvPr id="58" name="text-790-345"/>
          <p:cNvSpPr>
            <a:spLocks noGrp="1"/>
          </p:cNvSpPr>
          <p:nvPr/>
        </p:nvSpPr>
        <p:spPr>
          <a:xfrm>
            <a:off x="8286750" y="442912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2. Path-Tolerant Milestone DAG (Simulated Planning)</a:t>
            </a:r>
            <a:endParaRPr sz="12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9" name="text-790-365"/>
          <p:cNvSpPr>
            <a:spLocks noGrp="1"/>
          </p:cNvSpPr>
          <p:nvPr/>
        </p:nvSpPr>
        <p:spPr>
          <a:xfrm>
            <a:off x="8286750" y="4619625"/>
            <a:ext cx="5238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Aggregates multiple public candidates; respects diverse valid exploratory branches.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0" name="circle-841-409"/>
          <p:cNvSpPr>
            <a:spLocks noGrp="1"/>
          </p:cNvSpPr>
          <p:nvPr/>
        </p:nvSpPr>
        <p:spPr>
          <a:xfrm>
            <a:off x="8700135" y="5038725"/>
            <a:ext cx="266700" cy="266700"/>
          </a:xfrm>
          <a:prstGeom prst="ellipse">
            <a:avLst/>
          </a:prstGeom>
          <a:solidFill>
            <a:srgbClr val="E2E8F0"/>
          </a:solidFill>
          <a:ln w="14288">
            <a:solidFill>
              <a:srgbClr val="94A3B8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s0</a:t>
            </a:r>
            <a:endParaRPr sz="75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1" name="card-901-399"/>
          <p:cNvSpPr>
            <a:spLocks noGrp="1"/>
          </p:cNvSpPr>
          <p:nvPr/>
        </p:nvSpPr>
        <p:spPr>
          <a:xfrm>
            <a:off x="9344025" y="4906645"/>
            <a:ext cx="904875" cy="2286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3B82F6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6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Search(Name)</a:t>
            </a:r>
            <a:endParaRPr sz="67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2" name="card-901-427"/>
          <p:cNvSpPr>
            <a:spLocks noGrp="1"/>
          </p:cNvSpPr>
          <p:nvPr/>
        </p:nvSpPr>
        <p:spPr>
          <a:xfrm>
            <a:off x="9348470" y="5266690"/>
            <a:ext cx="904875" cy="2286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67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Filter(Date)</a:t>
            </a:r>
            <a:endParaRPr sz="67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circle-1006-409"/>
          <p:cNvSpPr>
            <a:spLocks noGrp="1"/>
          </p:cNvSpPr>
          <p:nvPr/>
        </p:nvSpPr>
        <p:spPr>
          <a:xfrm>
            <a:off x="10716260" y="5038725"/>
            <a:ext cx="266700" cy="266700"/>
          </a:xfrm>
          <a:prstGeom prst="ellipse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75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Call</a:t>
            </a:r>
            <a:endParaRPr sz="750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card-1055-405"/>
          <p:cNvSpPr>
            <a:spLocks noGrp="1"/>
          </p:cNvSpPr>
          <p:nvPr/>
        </p:nvSpPr>
        <p:spPr>
          <a:xfrm>
            <a:off x="11868785" y="5000625"/>
            <a:ext cx="1686560" cy="419100"/>
          </a:xfrm>
          <a:prstGeom prst="roundRect">
            <a:avLst>
              <a:gd name="adj" fmla="val 13636"/>
            </a:avLst>
          </a:prstGeom>
          <a:solidFill>
            <a:srgbClr val="F0FDF4"/>
          </a:solidFill>
          <a:ln w="14288">
            <a:solidFill>
              <a:srgbClr val="10B981"/>
            </a:solidFill>
            <a:prstDash val="solid"/>
          </a:ln>
        </p:spPr>
        <p:txBody>
          <a:bodyPr lIns="95250" tIns="19050" rIns="47625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75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Both Paths Accepted (Pass!)</a:t>
            </a:r>
            <a:endParaRPr sz="9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75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✓ Preserves LLM agent exploration</a:t>
            </a:r>
            <a:endParaRPr sz="750">
              <a:solidFill>
                <a:srgbClr val="04785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9" name="card-774-487"/>
          <p:cNvSpPr>
            <a:spLocks noGrp="1"/>
          </p:cNvSpPr>
          <p:nvPr/>
        </p:nvSpPr>
        <p:spPr>
          <a:xfrm>
            <a:off x="8134350" y="5781675"/>
            <a:ext cx="5543550" cy="13811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sp>
        <p:nvSpPr>
          <p:cNvPr id="70" name="text-790-495"/>
          <p:cNvSpPr>
            <a:spLocks noGrp="1"/>
          </p:cNvSpPr>
          <p:nvPr/>
        </p:nvSpPr>
        <p:spPr>
          <a:xfrm>
            <a:off x="8286750" y="585787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0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3. Proactive Execution Control: Adaptive Early Termination</a:t>
            </a:r>
            <a:endParaRPr sz="120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1" name="text-790-515"/>
          <p:cNvSpPr>
            <a:spLocks noGrp="1"/>
          </p:cNvSpPr>
          <p:nvPr/>
        </p:nvSpPr>
        <p:spPr>
          <a:xfrm>
            <a:off x="8286750" y="6048375"/>
            <a:ext cx="5238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Halts deadlocks &amp; fatal violations during execution; surfaces failure diagnostics immediately.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2" name="card-790-569"/>
          <p:cNvSpPr>
            <a:spLocks noGrp="1"/>
          </p:cNvSpPr>
          <p:nvPr/>
        </p:nvSpPr>
        <p:spPr>
          <a:xfrm>
            <a:off x="8286750" y="6562725"/>
            <a:ext cx="5088890" cy="17145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73" name="card-790-569"/>
          <p:cNvSpPr>
            <a:spLocks noGrp="1"/>
          </p:cNvSpPr>
          <p:nvPr/>
        </p:nvSpPr>
        <p:spPr>
          <a:xfrm>
            <a:off x="8286750" y="6562725"/>
            <a:ext cx="952500" cy="17145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75" name="card-845-541"/>
          <p:cNvSpPr>
            <a:spLocks noGrp="1"/>
          </p:cNvSpPr>
          <p:nvPr/>
        </p:nvSpPr>
        <p:spPr>
          <a:xfrm>
            <a:off x="8810625" y="6296025"/>
            <a:ext cx="977265" cy="17145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 w="0">
            <a:noFill/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7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STOP AT STEP 18</a:t>
            </a:r>
            <a:endParaRPr sz="7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6" name="card-905-564"/>
          <p:cNvSpPr>
            <a:spLocks noGrp="1"/>
          </p:cNvSpPr>
          <p:nvPr/>
        </p:nvSpPr>
        <p:spPr>
          <a:xfrm>
            <a:off x="9382125" y="6515100"/>
            <a:ext cx="4173220" cy="266700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4288">
            <a:solidFill>
              <a:srgbClr val="10B981"/>
            </a:solidFill>
            <a:prstDash val="dash"/>
          </a:ln>
        </p:spPr>
      </p:sp>
      <p:sp>
        <p:nvSpPr>
          <p:cNvPr id="77" name="text-925-571"/>
          <p:cNvSpPr>
            <a:spLocks noGrp="1"/>
          </p:cNvSpPr>
          <p:nvPr/>
        </p:nvSpPr>
        <p:spPr>
          <a:xfrm>
            <a:off x="9572625" y="6581775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⚡ SAVED 82 TURNS (82% Execution Time &amp; 32k Tokens Saved)</a:t>
            </a:r>
            <a:endParaRPr sz="1000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8" name="text-800-599"/>
          <p:cNvSpPr>
            <a:spLocks noGrp="1"/>
          </p:cNvSpPr>
          <p:nvPr/>
        </p:nvSpPr>
        <p:spPr>
          <a:xfrm>
            <a:off x="8382000" y="6848475"/>
            <a:ext cx="428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0F172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 b="1">
                <a:solidFill>
                  <a:srgbClr val="0F172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Reason: Frontier Deadlock detected across ready milestones.</a:t>
            </a:r>
            <a:endParaRPr sz="1000" b="1">
              <a:solidFill>
                <a:srgbClr val="0F172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9239250" y="6467475"/>
            <a:ext cx="0" cy="365125"/>
          </a:xfrm>
          <a:prstGeom prst="line">
            <a:avLst/>
          </a:prstGeom>
          <a:ln w="27305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cxnSp>
        <p:nvCxnSpPr>
          <p:cNvPr id="334" name="直接箭头连接符 64"/>
          <p:cNvCxnSpPr>
            <a:stCxn id="60" idx="6"/>
            <a:endCxn id="61" idx="1"/>
          </p:cNvCxnSpPr>
          <p:nvPr/>
        </p:nvCxnSpPr>
        <p:spPr>
          <a:xfrm flipV="1">
            <a:off x="8966835" y="5020945"/>
            <a:ext cx="377190" cy="151130"/>
          </a:xfrm>
          <a:prstGeom prst="straightConnector1">
            <a:avLst/>
          </a:prstGeom>
          <a:ln w="14288">
            <a:solidFill>
              <a:srgbClr val="3B82F6"/>
            </a:solidFill>
            <a:prstDash val="solid"/>
            <a:headEnd type="none" w="sm" len="sm"/>
            <a:tailEnd type="triangle" w="med" len="med"/>
          </a:ln>
        </p:spPr>
      </p:cxnSp>
      <p:cxnSp>
        <p:nvCxnSpPr>
          <p:cNvPr id="335" name="直接箭头连接符 65"/>
          <p:cNvCxnSpPr>
            <a:stCxn id="60" idx="6"/>
            <a:endCxn id="62" idx="1"/>
          </p:cNvCxnSpPr>
          <p:nvPr/>
        </p:nvCxnSpPr>
        <p:spPr>
          <a:xfrm>
            <a:off x="8966835" y="5172075"/>
            <a:ext cx="381635" cy="208915"/>
          </a:xfrm>
          <a:prstGeom prst="straightConnector1">
            <a:avLst/>
          </a:prstGeom>
          <a:ln w="14288">
            <a:solidFill>
              <a:srgbClr val="10B981"/>
            </a:solidFill>
            <a:prstDash val="solid"/>
            <a:headEnd type="none" w="sm" len="sm"/>
            <a:tailEnd type="triangle" w="med" len="med"/>
          </a:ln>
        </p:spPr>
      </p:cxnSp>
      <p:cxnSp>
        <p:nvCxnSpPr>
          <p:cNvPr id="336" name="直接箭头连接符 66"/>
          <p:cNvCxnSpPr>
            <a:stCxn id="61" idx="3"/>
            <a:endCxn id="63" idx="2"/>
          </p:cNvCxnSpPr>
          <p:nvPr/>
        </p:nvCxnSpPr>
        <p:spPr>
          <a:xfrm>
            <a:off x="10248900" y="5020945"/>
            <a:ext cx="467360" cy="151130"/>
          </a:xfrm>
          <a:prstGeom prst="straightConnector1">
            <a:avLst/>
          </a:prstGeom>
          <a:ln w="14288">
            <a:solidFill>
              <a:srgbClr val="3B82F6"/>
            </a:solidFill>
            <a:prstDash val="solid"/>
            <a:headEnd type="none" w="sm" len="sm"/>
            <a:tailEnd type="triangle" w="med" len="med"/>
          </a:ln>
        </p:spPr>
      </p:cxnSp>
      <p:cxnSp>
        <p:nvCxnSpPr>
          <p:cNvPr id="337" name="直接箭头连接符 67"/>
          <p:cNvCxnSpPr>
            <a:stCxn id="62" idx="3"/>
            <a:endCxn id="63" idx="2"/>
          </p:cNvCxnSpPr>
          <p:nvPr/>
        </p:nvCxnSpPr>
        <p:spPr>
          <a:xfrm flipV="1">
            <a:off x="10253345" y="5172075"/>
            <a:ext cx="462915" cy="208915"/>
          </a:xfrm>
          <a:prstGeom prst="straightConnector1">
            <a:avLst/>
          </a:prstGeom>
          <a:ln w="14288">
            <a:solidFill>
              <a:srgbClr val="10B981"/>
            </a:solidFill>
            <a:prstDash val="solid"/>
            <a:headEnd type="none" w="sm" len="sm"/>
            <a:tailEnd type="triangle" w="med" len="med"/>
          </a:ln>
        </p:spPr>
      </p:cxnSp>
      <p:sp>
        <p:nvSpPr>
          <p:cNvPr id="80" name="直接连接符 79"/>
          <p:cNvSpPr>
            <a:spLocks noGrp="1"/>
          </p:cNvSpPr>
          <p:nvPr/>
        </p:nvSpPr>
        <p:spPr>
          <a:xfrm>
            <a:off x="2651760" y="6467475"/>
            <a:ext cx="0" cy="365125"/>
          </a:xfrm>
          <a:prstGeom prst="line">
            <a:avLst/>
          </a:prstGeom>
          <a:ln w="27305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2" name="直接连接符 81"/>
          <p:cNvSpPr>
            <a:spLocks noGrp="1"/>
          </p:cNvSpPr>
          <p:nvPr/>
        </p:nvSpPr>
        <p:spPr>
          <a:xfrm>
            <a:off x="4883785" y="3644265"/>
            <a:ext cx="0" cy="276225"/>
          </a:xfrm>
          <a:prstGeom prst="line">
            <a:avLst/>
          </a:prstGeom>
          <a:ln w="12700">
            <a:solidFill>
              <a:srgbClr val="F59E0B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3" name="直接连接符 82"/>
          <p:cNvSpPr>
            <a:spLocks noGrp="1"/>
          </p:cNvSpPr>
          <p:nvPr/>
        </p:nvSpPr>
        <p:spPr>
          <a:xfrm>
            <a:off x="5243830" y="3644265"/>
            <a:ext cx="0" cy="276225"/>
          </a:xfrm>
          <a:prstGeom prst="line">
            <a:avLst/>
          </a:prstGeom>
          <a:ln w="12700">
            <a:solidFill>
              <a:srgbClr val="F59E0B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4" name="直接连接符 83"/>
          <p:cNvSpPr>
            <a:spLocks noGrp="1"/>
          </p:cNvSpPr>
          <p:nvPr/>
        </p:nvSpPr>
        <p:spPr>
          <a:xfrm>
            <a:off x="5603875" y="3634740"/>
            <a:ext cx="0" cy="276225"/>
          </a:xfrm>
          <a:prstGeom prst="line">
            <a:avLst/>
          </a:prstGeom>
          <a:ln w="12700">
            <a:solidFill>
              <a:srgbClr val="F59E0B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5" name="右箭头 84"/>
          <p:cNvSpPr>
            <a:spLocks noGrp="1"/>
          </p:cNvSpPr>
          <p:nvPr/>
        </p:nvSpPr>
        <p:spPr>
          <a:xfrm>
            <a:off x="3443605" y="3733800"/>
            <a:ext cx="144145" cy="75565"/>
          </a:xfrm>
          <a:prstGeom prst="rightArrow">
            <a:avLst>
              <a:gd name="adj1" fmla="val 32773"/>
              <a:gd name="adj2" fmla="val 49579"/>
            </a:avLst>
          </a:prstGeom>
          <a:solidFill>
            <a:srgbClr val="94A3B8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6" name="card-112-276"/>
          <p:cNvSpPr>
            <a:spLocks noGrp="1"/>
          </p:cNvSpPr>
          <p:nvPr/>
        </p:nvSpPr>
        <p:spPr>
          <a:xfrm>
            <a:off x="4595495" y="3691890"/>
            <a:ext cx="228600" cy="17145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S1</a:t>
            </a:r>
            <a:endParaRPr sz="565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7" name="card-138-276"/>
          <p:cNvSpPr>
            <a:spLocks noGrp="1"/>
          </p:cNvSpPr>
          <p:nvPr/>
        </p:nvSpPr>
        <p:spPr>
          <a:xfrm>
            <a:off x="4955540" y="3691890"/>
            <a:ext cx="228600" cy="17145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S2</a:t>
            </a:r>
            <a:endParaRPr sz="565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8" name="card-164-276"/>
          <p:cNvSpPr>
            <a:spLocks noGrp="1"/>
          </p:cNvSpPr>
          <p:nvPr/>
        </p:nvSpPr>
        <p:spPr>
          <a:xfrm>
            <a:off x="5315585" y="3691890"/>
            <a:ext cx="228600" cy="17145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4288">
            <a:solidFill>
              <a:srgbClr val="EF4444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E3</a:t>
            </a:r>
            <a:endParaRPr sz="565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9" name="card-190-276"/>
          <p:cNvSpPr>
            <a:spLocks noGrp="1"/>
          </p:cNvSpPr>
          <p:nvPr/>
        </p:nvSpPr>
        <p:spPr>
          <a:xfrm>
            <a:off x="5675630" y="3691890"/>
            <a:ext cx="228600" cy="17145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buNone/>
              <a:defRPr sz="565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65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R4</a:t>
            </a:r>
            <a:endParaRPr sz="565" b="1">
              <a:solidFill>
                <a:srgbClr val="9240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0" name="直接连接符 89"/>
          <p:cNvSpPr>
            <a:spLocks noGrp="1"/>
          </p:cNvSpPr>
          <p:nvPr/>
        </p:nvSpPr>
        <p:spPr>
          <a:xfrm>
            <a:off x="5963920" y="3634740"/>
            <a:ext cx="0" cy="276225"/>
          </a:xfrm>
          <a:prstGeom prst="line">
            <a:avLst/>
          </a:prstGeom>
          <a:ln w="12700">
            <a:solidFill>
              <a:srgbClr val="F59E0B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2" name="文本框 91"/>
          <p:cNvSpPr>
            <a:spLocks noGrp="1"/>
          </p:cNvSpPr>
          <p:nvPr/>
        </p:nvSpPr>
        <p:spPr>
          <a:xfrm>
            <a:off x="6035675" y="3691890"/>
            <a:ext cx="215900" cy="162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ctr">
              <a:lnSpc>
                <a:spcPct val="50000"/>
              </a:lnSpc>
              <a:buNone/>
            </a:pPr>
            <a:r>
              <a:rPr sz="1200"/>
              <a:t>…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8100" dir="5400000">
              <a:srgbClr val="0F172A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8100" dir="5400000">
              <a:srgbClr val="0F172A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3196</Words>
  <Application>WPS 演示</Application>
  <PresentationFormat>Converted Presentation</PresentationFormat>
  <Paragraphs>321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Segoe UI</vt:lpstr>
      <vt:lpstr>Calibri</vt:lpstr>
      <vt:lpstr>微软雅黑</vt:lpstr>
      <vt:lpstr>Arial Unicode MS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某石</cp:lastModifiedBy>
  <cp:revision>1</cp:revision>
  <dcterms:created xsi:type="dcterms:W3CDTF">2026-09-23T18:20:55Z</dcterms:created>
  <dcterms:modified xsi:type="dcterms:W3CDTF">2026-09-23T18:20:55Z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27D2E5C67462488C968BCD3141B7FB75_12</vt:lpwstr>
  </property>
</Properties>
</file>