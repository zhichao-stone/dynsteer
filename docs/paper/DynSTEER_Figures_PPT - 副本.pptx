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3716000" cy="7239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1C1C"/>
    <a:srgbClr val="059669"/>
    <a:srgbClr val="10B9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0" name="panel-40-16"/>
          <p:cNvSpPr>
            <a:spLocks noGrp="1"/>
          </p:cNvSpPr>
          <p:nvPr/>
        </p:nvSpPr>
        <p:spPr>
          <a:xfrm>
            <a:off x="381000" y="152400"/>
            <a:ext cx="12954000" cy="3095625"/>
          </a:xfrm>
          <a:prstGeom prst="roundRect">
            <a:avLst>
              <a:gd name="adj" fmla="val 4923"/>
            </a:avLst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2" name="panel-40-16"/>
          <p:cNvSpPr>
            <a:spLocks noGrp="1"/>
          </p:cNvSpPr>
          <p:nvPr/>
        </p:nvSpPr>
        <p:spPr>
          <a:xfrm>
            <a:off x="381000" y="152400"/>
            <a:ext cx="12954000" cy="438150"/>
          </a:xfrm>
          <a:prstGeom prst="roundRect">
            <a:avLst>
              <a:gd name="adj" fmla="val 34783"/>
            </a:avLst>
          </a:prstGeom>
          <a:solidFill>
            <a:srgbClr val="DBEAFE"/>
          </a:solidFill>
          <a:ln w="9525">
            <a:solidFill>
              <a:srgbClr val="BFDBF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3" name="circle-57-28"/>
          <p:cNvSpPr>
            <a:spLocks noGrp="1"/>
          </p:cNvSpPr>
          <p:nvPr/>
        </p:nvSpPr>
        <p:spPr>
          <a:xfrm>
            <a:off x="542925" y="266700"/>
            <a:ext cx="209550" cy="209550"/>
          </a:xfrm>
          <a:prstGeom prst="ellipse">
            <a:avLst/>
          </a:prstGeom>
          <a:solidFill>
            <a:srgbClr val="2563EB"/>
          </a:solidFill>
          <a:ln w="14288">
            <a:solidFill>
              <a:srgbClr val="2563EB"/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</a:t>
            </a:r>
            <a:endParaRPr sz="825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" name="text-88-21"/>
          <p:cNvSpPr>
            <a:spLocks noGrp="1"/>
          </p:cNvSpPr>
          <p:nvPr/>
        </p:nvSpPr>
        <p:spPr>
          <a:xfrm>
            <a:off x="838200" y="200025"/>
            <a:ext cx="1190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12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Offline Milestone Graph Generation via Simulated Planning (Preserving Diversity)</a:t>
            </a:r>
            <a:endParaRPr sz="1125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" name="card-60-76"/>
          <p:cNvSpPr>
            <a:spLocks noGrp="1"/>
          </p:cNvSpPr>
          <p:nvPr/>
        </p:nvSpPr>
        <p:spPr>
          <a:xfrm>
            <a:off x="571500" y="723900"/>
            <a:ext cx="3048000" cy="2333625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4288">
            <a:solidFill>
              <a:srgbClr val="DBEAFE"/>
            </a:solidFill>
            <a:prstDash val="solid"/>
          </a:ln>
        </p:spPr>
      </p:sp>
      <p:sp>
        <p:nvSpPr>
          <p:cNvPr id="6" name="text-74-84"/>
          <p:cNvSpPr>
            <a:spLocks noGrp="1"/>
          </p:cNvSpPr>
          <p:nvPr/>
        </p:nvSpPr>
        <p:spPr>
          <a:xfrm>
            <a:off x="704850" y="8001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7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a. Public Task View (V_pub)</a:t>
            </a:r>
            <a:endParaRPr sz="975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" name="text-74-104"/>
          <p:cNvSpPr>
            <a:spLocks noGrp="1"/>
          </p:cNvSpPr>
          <p:nvPr/>
        </p:nvSpPr>
        <p:spPr>
          <a:xfrm>
            <a:off x="704850" y="99060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Extracts public task requirements only.</a:t>
            </a:r>
            <a:endParaRPr sz="825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" name="card-74-128"/>
          <p:cNvSpPr>
            <a:spLocks noGrp="1"/>
          </p:cNvSpPr>
          <p:nvPr/>
        </p:nvSpPr>
        <p:spPr>
          <a:xfrm>
            <a:off x="704850" y="1219200"/>
            <a:ext cx="2781300" cy="381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wrap="square" lIns="95250" tIns="47625" rIns="76200" bIns="28575" anchor="t">
            <a:noAutofit/>
          </a:bodyPr>
          <a:lstStyle/>
          <a:p>
            <a:pPr algn="l">
              <a:lnSpc>
                <a:spcPct val="115000"/>
              </a:lnSpc>
              <a:buNone/>
              <a:defRPr sz="715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15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Task Instruction (x)</a:t>
            </a:r>
            <a:endParaRPr sz="715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15000"/>
              </a:lnSpc>
              <a:buNone/>
              <a:defRPr sz="715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15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Natural language goals &amp; user constraints</a:t>
            </a:r>
            <a:endParaRPr sz="715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" name="card-74-174"/>
          <p:cNvSpPr>
            <a:spLocks noGrp="1"/>
          </p:cNvSpPr>
          <p:nvPr/>
        </p:nvSpPr>
        <p:spPr>
          <a:xfrm>
            <a:off x="704850" y="1657350"/>
            <a:ext cx="2781300" cy="381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wrap="square" lIns="95250" tIns="47625" rIns="76200" bIns="28575" anchor="t">
            <a:noAutofit/>
          </a:bodyPr>
          <a:lstStyle/>
          <a:p>
            <a:pPr algn="l">
              <a:lnSpc>
                <a:spcPct val="115000"/>
              </a:lnSpc>
              <a:buNone/>
              <a:defRPr sz="715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15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Tool API Catalog (A)</a:t>
            </a:r>
            <a:endParaRPr sz="715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15000"/>
              </a:lnSpc>
              <a:buNone/>
              <a:defRPr sz="715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15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Signatures, argument types, return models</a:t>
            </a:r>
            <a:endParaRPr sz="715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" name="card-74-220"/>
          <p:cNvSpPr>
            <a:spLocks noGrp="1"/>
          </p:cNvSpPr>
          <p:nvPr/>
        </p:nvSpPr>
        <p:spPr>
          <a:xfrm>
            <a:off x="704850" y="2095500"/>
            <a:ext cx="2781300" cy="38100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wrap="square" lIns="95250" tIns="47625" rIns="76200" bIns="28575" anchor="t">
            <a:noAutofit/>
          </a:bodyPr>
          <a:lstStyle/>
          <a:p>
            <a:pPr algn="l">
              <a:lnSpc>
                <a:spcPct val="115000"/>
              </a:lnSpc>
              <a:buNone/>
              <a:defRPr sz="715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15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Public Initial State (I0)</a:t>
            </a:r>
            <a:endParaRPr sz="715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15000"/>
              </a:lnSpc>
              <a:buNone/>
              <a:defRPr sz="715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15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Entity schemas, public tables</a:t>
            </a:r>
            <a:endParaRPr sz="715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1" name="card-74-266"/>
          <p:cNvSpPr>
            <a:spLocks noGrp="1"/>
          </p:cNvSpPr>
          <p:nvPr/>
        </p:nvSpPr>
        <p:spPr>
          <a:xfrm>
            <a:off x="704850" y="2533650"/>
            <a:ext cx="2781300" cy="361950"/>
          </a:xfrm>
          <a:prstGeom prst="roundRect">
            <a:avLst>
              <a:gd name="adj" fmla="val 15789"/>
            </a:avLst>
          </a:prstGeom>
          <a:solidFill>
            <a:srgbClr val="FEF2F2"/>
          </a:solidFill>
          <a:ln w="11430">
            <a:solidFill>
              <a:srgbClr val="FCA5A5"/>
            </a:solidFill>
            <a:prstDash val="solid"/>
          </a:ln>
        </p:spPr>
        <p:txBody>
          <a:bodyPr wrap="square" lIns="95250" tIns="0" rIns="57150" bIns="0" anchor="ctr">
            <a:noAutofit/>
          </a:bodyPr>
          <a:lstStyle/>
          <a:p>
            <a:pPr algn="l">
              <a:defRPr sz="75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5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🔒 Zero Ground-Truth / Reference Leakage</a:t>
            </a:r>
            <a:endParaRPr sz="750" b="1">
              <a:solidFill>
                <a:srgbClr val="B91C1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2" name="card-425-76"/>
          <p:cNvSpPr>
            <a:spLocks noGrp="1"/>
          </p:cNvSpPr>
          <p:nvPr/>
        </p:nvSpPr>
        <p:spPr>
          <a:xfrm>
            <a:off x="4048125" y="723900"/>
            <a:ext cx="4095750" cy="2333625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4288">
            <a:solidFill>
              <a:srgbClr val="DBEAFE"/>
            </a:solidFill>
            <a:prstDash val="solid"/>
          </a:ln>
        </p:spPr>
      </p:sp>
      <p:sp>
        <p:nvSpPr>
          <p:cNvPr id="13" name="text-439-84"/>
          <p:cNvSpPr>
            <a:spLocks noGrp="1"/>
          </p:cNvSpPr>
          <p:nvPr/>
        </p:nvSpPr>
        <p:spPr>
          <a:xfrm>
            <a:off x="4181475" y="800100"/>
            <a:ext cx="3905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7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b. Simulated Multi-Candidate Rollouts</a:t>
            </a:r>
            <a:endParaRPr sz="975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4" name="text-439-104"/>
          <p:cNvSpPr>
            <a:spLocks noGrp="1"/>
          </p:cNvSpPr>
          <p:nvPr/>
        </p:nvSpPr>
        <p:spPr>
          <a:xfrm>
            <a:off x="4181475" y="990600"/>
            <a:ext cx="3905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Simulates diverse valid execution plans under sampled prompts.</a:t>
            </a:r>
            <a:endParaRPr sz="825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5" name="card-439-128"/>
          <p:cNvSpPr>
            <a:spLocks noGrp="1"/>
          </p:cNvSpPr>
          <p:nvPr/>
        </p:nvSpPr>
        <p:spPr>
          <a:xfrm>
            <a:off x="4181475" y="1219200"/>
            <a:ext cx="3829050" cy="40005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11430">
            <a:solidFill>
              <a:srgbClr val="BFDBFE"/>
            </a:solidFill>
            <a:prstDash val="solid"/>
          </a:ln>
        </p:spPr>
        <p:txBody>
          <a:bodyPr lIns="95250" tIns="19050" rIns="762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715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1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Candidate Path 1 (Keyword Query Strategy)</a:t>
            </a:r>
            <a:endParaRPr sz="715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15000"/>
              </a:lnSpc>
              <a:buNone/>
              <a:defRPr sz="715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15" b="1">
                <a:solidFill>
                  <a:srgbClr val="3B82F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SearchContactByName ➔ GetContactDetail ➔ SendSMS</a:t>
            </a:r>
            <a:endParaRPr sz="715" b="1">
              <a:solidFill>
                <a:srgbClr val="3B82F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6" name="card-439-176"/>
          <p:cNvSpPr>
            <a:spLocks noGrp="1"/>
          </p:cNvSpPr>
          <p:nvPr/>
        </p:nvSpPr>
        <p:spPr>
          <a:xfrm>
            <a:off x="4181475" y="1676400"/>
            <a:ext cx="3829050" cy="400050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 w="11430">
            <a:solidFill>
              <a:srgbClr val="A7F3D0"/>
            </a:solidFill>
            <a:prstDash val="solid"/>
          </a:ln>
        </p:spPr>
        <p:txBody>
          <a:bodyPr lIns="95250" tIns="19050" rIns="762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715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1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Candidate Path 2 (Temporal Filter Strategy)</a:t>
            </a:r>
            <a:endParaRPr sz="715" b="1">
              <a:solidFill>
                <a:srgbClr val="065F4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15000"/>
              </a:lnSpc>
              <a:buNone/>
              <a:defRPr sz="715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15" b="1">
                <a:solidFill>
                  <a:srgbClr val="0596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FilterByRecentDate ➔ ResolveRecipient ➔ SendSMS</a:t>
            </a:r>
            <a:endParaRPr sz="715" b="1">
              <a:solidFill>
                <a:srgbClr val="0596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7" name="card-439-224"/>
          <p:cNvSpPr>
            <a:spLocks noGrp="1"/>
          </p:cNvSpPr>
          <p:nvPr/>
        </p:nvSpPr>
        <p:spPr>
          <a:xfrm>
            <a:off x="4181475" y="2133600"/>
            <a:ext cx="3829050" cy="400050"/>
          </a:xfrm>
          <a:prstGeom prst="roundRect">
            <a:avLst>
              <a:gd name="adj" fmla="val 14286"/>
            </a:avLst>
          </a:prstGeom>
          <a:solidFill>
            <a:srgbClr val="FDF4FF"/>
          </a:solidFill>
          <a:ln w="11430">
            <a:solidFill>
              <a:srgbClr val="F0ABFC"/>
            </a:solidFill>
            <a:prstDash val="solid"/>
          </a:ln>
        </p:spPr>
        <p:txBody>
          <a:bodyPr lIns="95250" tIns="19050" rIns="762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715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15" b="1">
                <a:solidFill>
                  <a:srgbClr val="86198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Candidate Path C (Thread Retrieval Strategy)</a:t>
            </a:r>
            <a:endParaRPr sz="715" b="1">
              <a:solidFill>
                <a:srgbClr val="86198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15000"/>
              </a:lnSpc>
              <a:buNone/>
              <a:defRPr sz="715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15" b="1">
                <a:solidFill>
                  <a:srgbClr val="9333E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FetchActiveThread ➔ ExtractContact ➔ SendSMS</a:t>
            </a:r>
            <a:endParaRPr sz="715" b="1">
              <a:solidFill>
                <a:srgbClr val="9333E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8" name="card-439-272"/>
          <p:cNvSpPr>
            <a:spLocks noGrp="1"/>
          </p:cNvSpPr>
          <p:nvPr/>
        </p:nvSpPr>
        <p:spPr>
          <a:xfrm>
            <a:off x="4181475" y="2590800"/>
            <a:ext cx="3829050" cy="304800"/>
          </a:xfrm>
          <a:prstGeom prst="roundRect">
            <a:avLst>
              <a:gd name="adj" fmla="val 18750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wrap="square" lIns="95250" tIns="0" rIns="76200" bIns="0" anchor="ctr">
            <a:noAutofit/>
          </a:bodyPr>
          <a:lstStyle/>
          <a:p>
            <a:pPr algn="l">
              <a:defRPr sz="715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15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Deterministic Validation: SchemaCheck ∧ Acyclic(E) ∧ DynamicBinding</a:t>
            </a:r>
            <a:endParaRPr sz="715" b="1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9" name="card-902-76"/>
          <p:cNvSpPr>
            <a:spLocks noGrp="1"/>
          </p:cNvSpPr>
          <p:nvPr/>
        </p:nvSpPr>
        <p:spPr>
          <a:xfrm>
            <a:off x="8591550" y="723900"/>
            <a:ext cx="4552950" cy="2333625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4288">
            <a:solidFill>
              <a:srgbClr val="86EFAC"/>
            </a:solidFill>
            <a:prstDash val="solid"/>
          </a:ln>
        </p:spPr>
      </p:sp>
      <p:sp>
        <p:nvSpPr>
          <p:cNvPr id="20" name="text-916-84"/>
          <p:cNvSpPr>
            <a:spLocks noGrp="1"/>
          </p:cNvSpPr>
          <p:nvPr/>
        </p:nvSpPr>
        <p:spPr>
          <a:xfrm>
            <a:off x="8724900" y="800100"/>
            <a:ext cx="428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75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c. Path-Tolerant Milestone DAG G = (M, E, K)</a:t>
            </a:r>
            <a:endParaRPr sz="975" b="1">
              <a:solidFill>
                <a:srgbClr val="15803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1" name="text-916-104"/>
          <p:cNvSpPr>
            <a:spLocks noGrp="1"/>
          </p:cNvSpPr>
          <p:nvPr/>
        </p:nvSpPr>
        <p:spPr>
          <a:xfrm>
            <a:off x="8724900" y="990600"/>
            <a:ext cx="4286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Strict-majority consensus + Transitive Reduction TR(E).</a:t>
            </a:r>
            <a:endParaRPr sz="825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2" name="card-916-128"/>
          <p:cNvSpPr>
            <a:spLocks noGrp="1"/>
          </p:cNvSpPr>
          <p:nvPr/>
        </p:nvSpPr>
        <p:spPr>
          <a:xfrm>
            <a:off x="8724900" y="1219200"/>
            <a:ext cx="4286250" cy="1047750"/>
          </a:xfrm>
          <a:prstGeom prst="roundRect">
            <a:avLst>
              <a:gd name="adj" fmla="val 7273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3" name="circle-938-188"/>
          <p:cNvSpPr>
            <a:spLocks noGrp="1"/>
          </p:cNvSpPr>
          <p:nvPr/>
        </p:nvSpPr>
        <p:spPr>
          <a:xfrm>
            <a:off x="8934450" y="1790700"/>
            <a:ext cx="266700" cy="266700"/>
          </a:xfrm>
          <a:prstGeom prst="ellipse">
            <a:avLst/>
          </a:prstGeom>
          <a:solidFill>
            <a:srgbClr val="E2E8F0"/>
          </a:solidFill>
          <a:ln w="14288">
            <a:solidFill>
              <a:srgbClr val="64748B"/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75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5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s0</a:t>
            </a:r>
            <a:endParaRPr sz="750" b="1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4" name="card-1016-158"/>
          <p:cNvSpPr>
            <a:spLocks noGrp="1"/>
          </p:cNvSpPr>
          <p:nvPr/>
        </p:nvSpPr>
        <p:spPr>
          <a:xfrm>
            <a:off x="9677400" y="1504950"/>
            <a:ext cx="1190625" cy="266700"/>
          </a:xfrm>
          <a:prstGeom prst="roundRect">
            <a:avLst>
              <a:gd name="adj" fmla="val 14286"/>
            </a:avLst>
          </a:prstGeom>
          <a:solidFill>
            <a:srgbClr val="EFF6FF"/>
          </a:solidFill>
          <a:ln w="9525">
            <a:solidFill>
              <a:srgbClr val="3B82F6"/>
            </a:solidFill>
            <a:prstDash val="solid"/>
          </a:ln>
        </p:spPr>
        <p:txBody>
          <a:bodyPr wrap="square" lIns="57150" tIns="9525" rIns="38100" bIns="9525" anchor="ctr">
            <a:noAutofit/>
          </a:bodyPr>
          <a:lstStyle/>
          <a:p>
            <a:pPr algn="ctr">
              <a:defRPr sz="71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1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M1a: SearchByName</a:t>
            </a:r>
            <a:endParaRPr sz="715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5" name="card-1016-203"/>
          <p:cNvSpPr>
            <a:spLocks noGrp="1"/>
          </p:cNvSpPr>
          <p:nvPr/>
        </p:nvSpPr>
        <p:spPr>
          <a:xfrm>
            <a:off x="9677400" y="1933575"/>
            <a:ext cx="1190625" cy="266700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</p:spPr>
        <p:txBody>
          <a:bodyPr wrap="square" lIns="57150" tIns="9525" rIns="38100" bIns="9525" anchor="ctr">
            <a:noAutofit/>
          </a:bodyPr>
          <a:lstStyle/>
          <a:p>
            <a:pPr algn="ctr">
              <a:defRPr sz="71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1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M1b: FilterByDate</a:t>
            </a:r>
            <a:endParaRPr sz="715" b="1">
              <a:solidFill>
                <a:srgbClr val="065F4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6" name="card-1198-180"/>
          <p:cNvSpPr>
            <a:spLocks noGrp="1"/>
          </p:cNvSpPr>
          <p:nvPr/>
        </p:nvSpPr>
        <p:spPr>
          <a:xfrm>
            <a:off x="11410950" y="1714500"/>
            <a:ext cx="714375" cy="266700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14288">
            <a:solidFill>
              <a:srgbClr val="D97706"/>
            </a:solidFill>
            <a:prstDash val="solid"/>
          </a:ln>
        </p:spPr>
        <p:txBody>
          <a:bodyPr wrap="square" lIns="57150" tIns="9525" rIns="38100" bIns="9525" anchor="ctr">
            <a:noAutofit/>
          </a:bodyPr>
          <a:lstStyle/>
          <a:p>
            <a:pPr algn="ctr">
              <a:defRPr sz="750" b="1">
                <a:solidFill>
                  <a:srgbClr val="9240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50" b="1">
                <a:solidFill>
                  <a:srgbClr val="9240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M2: Send</a:t>
            </a:r>
            <a:endParaRPr sz="750" b="1">
              <a:solidFill>
                <a:srgbClr val="92400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7" name="card-1284-172"/>
          <p:cNvSpPr>
            <a:spLocks noGrp="1"/>
          </p:cNvSpPr>
          <p:nvPr/>
        </p:nvSpPr>
        <p:spPr>
          <a:xfrm>
            <a:off x="12230100" y="1638300"/>
            <a:ext cx="68580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1430">
            <a:solidFill>
              <a:srgbClr val="10B981"/>
            </a:solidFill>
            <a:prstDash val="solid"/>
          </a:ln>
        </p:spPr>
        <p:txBody>
          <a:bodyPr wrap="square" lIns="57150" tIns="9525" rIns="38100" bIns="9525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640" b="1">
                <a:solidFill>
                  <a:srgbClr val="04785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40" b="1">
                <a:solidFill>
                  <a:srgbClr val="04785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Both Valid</a:t>
            </a:r>
            <a:endParaRPr sz="640" b="1">
              <a:solidFill>
                <a:srgbClr val="04785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ctr">
              <a:lnSpc>
                <a:spcPct val="110000"/>
              </a:lnSpc>
              <a:buNone/>
              <a:defRPr sz="640" b="1">
                <a:solidFill>
                  <a:srgbClr val="04785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40" b="1">
                <a:solidFill>
                  <a:srgbClr val="04785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Paths A &amp; B</a:t>
            </a:r>
            <a:endParaRPr sz="640" b="1">
              <a:solidFill>
                <a:srgbClr val="04785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cxnSp>
        <p:nvCxnSpPr>
          <p:cNvPr id="107" name="曲线连接符 106"/>
          <p:cNvCxnSpPr>
            <a:stCxn id="23" idx="6"/>
            <a:endCxn id="24" idx="1"/>
          </p:cNvCxnSpPr>
          <p:nvPr/>
        </p:nvCxnSpPr>
        <p:spPr>
          <a:xfrm rot="5400000">
            <a:off x="9296400" y="1543050"/>
            <a:ext cx="285750" cy="476250"/>
          </a:xfrm>
          <a:prstGeom prst="curvedConnector3">
            <a:avLst>
              <a:gd name="adj1" fmla="val 50000"/>
            </a:avLst>
          </a:prstGeom>
          <a:ln w="19050">
            <a:solidFill>
              <a:srgbClr val="2563EB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8" name="曲线连接符 107"/>
          <p:cNvCxnSpPr>
            <a:stCxn id="23" idx="6"/>
            <a:endCxn id="25" idx="1"/>
          </p:cNvCxnSpPr>
          <p:nvPr/>
        </p:nvCxnSpPr>
        <p:spPr>
          <a:xfrm rot="16200000" flipH="1">
            <a:off x="9367838" y="1757363"/>
            <a:ext cx="142875" cy="476250"/>
          </a:xfrm>
          <a:prstGeom prst="curvedConnector3">
            <a:avLst>
              <a:gd name="adj1" fmla="val 50000"/>
            </a:avLst>
          </a:prstGeom>
          <a:ln w="19050">
            <a:solidFill>
              <a:srgbClr val="059669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09" name="曲线连接符 108"/>
          <p:cNvCxnSpPr>
            <a:stCxn id="24" idx="3"/>
            <a:endCxn id="26" idx="1"/>
          </p:cNvCxnSpPr>
          <p:nvPr/>
        </p:nvCxnSpPr>
        <p:spPr>
          <a:xfrm rot="16200000" flipH="1">
            <a:off x="11034713" y="1471613"/>
            <a:ext cx="209550" cy="542925"/>
          </a:xfrm>
          <a:prstGeom prst="curvedConnector3">
            <a:avLst>
              <a:gd name="adj1" fmla="val 50000"/>
            </a:avLst>
          </a:prstGeom>
          <a:ln w="14288">
            <a:solidFill>
              <a:srgbClr val="64748B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10" name="曲线连接符 109"/>
          <p:cNvCxnSpPr>
            <a:stCxn id="25" idx="3"/>
            <a:endCxn id="26" idx="1"/>
          </p:cNvCxnSpPr>
          <p:nvPr/>
        </p:nvCxnSpPr>
        <p:spPr>
          <a:xfrm rot="5400000">
            <a:off x="11029950" y="1685925"/>
            <a:ext cx="219075" cy="542925"/>
          </a:xfrm>
          <a:prstGeom prst="curvedConnector3">
            <a:avLst>
              <a:gd name="adj1" fmla="val 50000"/>
            </a:avLst>
          </a:prstGeom>
          <a:ln w="14288">
            <a:solidFill>
              <a:srgbClr val="64748B"/>
            </a:solidFill>
            <a:prstDash val="solid"/>
            <a:headEnd type="triangle" w="sm" len="sm"/>
            <a:tailEnd type="none" w="med" len="med"/>
          </a:ln>
        </p:spPr>
      </p:cxnSp>
      <p:sp>
        <p:nvSpPr>
          <p:cNvPr id="32" name="card-916-246"/>
          <p:cNvSpPr>
            <a:spLocks noGrp="1"/>
          </p:cNvSpPr>
          <p:nvPr/>
        </p:nvSpPr>
        <p:spPr>
          <a:xfrm>
            <a:off x="8724900" y="2343150"/>
            <a:ext cx="4286250" cy="514350"/>
          </a:xfrm>
          <a:prstGeom prst="roundRect">
            <a:avLst>
              <a:gd name="adj" fmla="val 11111"/>
            </a:avLst>
          </a:prstGeom>
          <a:solidFill>
            <a:srgbClr val="FEF2F2"/>
          </a:solidFill>
          <a:ln w="11430">
            <a:solidFill>
              <a:srgbClr val="FCA5A5"/>
            </a:solidFill>
            <a:prstDash val="solid"/>
          </a:ln>
        </p:spPr>
        <p:txBody>
          <a:bodyPr lIns="114300" tIns="28575" rIns="76200" bIns="19050" anchor="ctr">
            <a:noAutofit/>
          </a:bodyPr>
          <a:lstStyle/>
          <a:p>
            <a:pPr algn="l">
              <a:lnSpc>
                <a:spcPct val="120000"/>
              </a:lnSpc>
              <a:buNone/>
              <a:defRPr sz="715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15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⚠️ Safety Invariants (Fatal Minefields M_fatal)</a:t>
            </a:r>
            <a:endParaRPr sz="715" b="1">
              <a:solidFill>
                <a:srgbClr val="B91C1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20000"/>
              </a:lnSpc>
              <a:buNone/>
              <a:defRPr sz="715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15">
                <a:solidFill>
                  <a:srgbClr val="7F1D1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Detects destructive operations (e.g., DropTable, UnauthorizedTransfer)</a:t>
            </a:r>
            <a:endParaRPr sz="715">
              <a:solidFill>
                <a:srgbClr val="7F1D1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3" name="card-388-181"/>
          <p:cNvSpPr>
            <a:spLocks noGrp="1"/>
          </p:cNvSpPr>
          <p:nvPr/>
        </p:nvSpPr>
        <p:spPr>
          <a:xfrm>
            <a:off x="3695700" y="1724025"/>
            <a:ext cx="228600" cy="123825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 wrap="square" lIns="57150" tIns="9525" rIns="38100" bIns="9525" anchor="ctr">
            <a:noAutofit/>
          </a:bodyPr>
          <a:lstStyle/>
          <a:p>
            <a:pPr algn="ctr">
              <a:defRPr sz="6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LLM</a:t>
            </a:r>
            <a:endParaRPr sz="600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4" name="card-862-181"/>
          <p:cNvSpPr>
            <a:spLocks noGrp="1"/>
          </p:cNvSpPr>
          <p:nvPr/>
        </p:nvSpPr>
        <p:spPr>
          <a:xfrm>
            <a:off x="8210550" y="1724025"/>
            <a:ext cx="266700" cy="123825"/>
          </a:xfrm>
          <a:prstGeom prst="roundRect">
            <a:avLst>
              <a:gd name="adj" fmla="val 23077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 wrap="square" lIns="57150" tIns="9525" rIns="38100" bIns="9525" anchor="ctr">
            <a:noAutofit/>
          </a:bodyPr>
          <a:lstStyle/>
          <a:p>
            <a:pPr algn="ctr">
              <a:defRPr sz="6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0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MERGE</a:t>
            </a:r>
            <a:endParaRPr sz="600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cxnSp>
        <p:nvCxnSpPr>
          <p:cNvPr id="114" name="直接箭头连接符 113"/>
          <p:cNvCxnSpPr>
            <a:stCxn id="5" idx="3"/>
            <a:endCxn id="12" idx="1"/>
          </p:cNvCxnSpPr>
          <p:nvPr/>
        </p:nvCxnSpPr>
        <p:spPr>
          <a:xfrm>
            <a:off x="3619500" y="1890713"/>
            <a:ext cx="428625" cy="0"/>
          </a:xfrm>
          <a:prstGeom prst="straightConnector1">
            <a:avLst/>
          </a:prstGeom>
          <a:ln w="23813">
            <a:solidFill>
              <a:srgbClr val="2563EB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15" name="直接箭头连接符 114"/>
          <p:cNvCxnSpPr>
            <a:stCxn id="12" idx="3"/>
            <a:endCxn id="19" idx="1"/>
          </p:cNvCxnSpPr>
          <p:nvPr/>
        </p:nvCxnSpPr>
        <p:spPr>
          <a:xfrm>
            <a:off x="8143875" y="1890713"/>
            <a:ext cx="447675" cy="0"/>
          </a:xfrm>
          <a:prstGeom prst="straightConnector1">
            <a:avLst/>
          </a:prstGeom>
          <a:ln w="23813">
            <a:solidFill>
              <a:srgbClr val="2563EB"/>
            </a:solidFill>
            <a:prstDash val="solid"/>
            <a:headEnd type="triangle" w="sm" len="sm"/>
            <a:tailEnd type="none" w="med" len="med"/>
          </a:ln>
        </p:spPr>
      </p:cxnSp>
      <p:sp>
        <p:nvSpPr>
          <p:cNvPr id="37" name="panel-40-375"/>
          <p:cNvSpPr>
            <a:spLocks noGrp="1"/>
          </p:cNvSpPr>
          <p:nvPr/>
        </p:nvSpPr>
        <p:spPr>
          <a:xfrm>
            <a:off x="381000" y="3571875"/>
            <a:ext cx="12954000" cy="3476625"/>
          </a:xfrm>
          <a:prstGeom prst="roundRect">
            <a:avLst>
              <a:gd name="adj" fmla="val 4384"/>
            </a:avLst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38" name="panel-40-375"/>
          <p:cNvSpPr>
            <a:spLocks noGrp="1"/>
          </p:cNvSpPr>
          <p:nvPr/>
        </p:nvSpPr>
        <p:spPr>
          <a:xfrm>
            <a:off x="381000" y="3571875"/>
            <a:ext cx="12954000" cy="438150"/>
          </a:xfrm>
          <a:prstGeom prst="roundRect">
            <a:avLst>
              <a:gd name="adj" fmla="val 34783"/>
            </a:avLst>
          </a:prstGeom>
          <a:solidFill>
            <a:srgbClr val="DCFCE7"/>
          </a:solidFill>
          <a:ln w="9525">
            <a:solidFill>
              <a:srgbClr val="BBF7D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39" name="circle-57-387"/>
          <p:cNvSpPr>
            <a:spLocks noGrp="1"/>
          </p:cNvSpPr>
          <p:nvPr/>
        </p:nvSpPr>
        <p:spPr>
          <a:xfrm>
            <a:off x="542925" y="3686175"/>
            <a:ext cx="209550" cy="209550"/>
          </a:xfrm>
          <a:prstGeom prst="ellipse">
            <a:avLst/>
          </a:prstGeom>
          <a:solidFill>
            <a:srgbClr val="10B981"/>
          </a:solidFill>
          <a:ln w="14288">
            <a:solidFill>
              <a:srgbClr val="10B981"/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2</a:t>
            </a:r>
            <a:endParaRPr sz="825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0" name="text-88-380"/>
          <p:cNvSpPr>
            <a:spLocks noGrp="1"/>
          </p:cNvSpPr>
          <p:nvPr/>
        </p:nvSpPr>
        <p:spPr>
          <a:xfrm>
            <a:off x="838200" y="3619500"/>
            <a:ext cx="11906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125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Execution-time Stage-wise Trajectory Evaluation &amp; Adaptive Control Workflow</a:t>
            </a:r>
            <a:endParaRPr sz="1125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1" name="card-60-433"/>
          <p:cNvSpPr>
            <a:spLocks noGrp="1"/>
          </p:cNvSpPr>
          <p:nvPr/>
        </p:nvSpPr>
        <p:spPr>
          <a:xfrm>
            <a:off x="571500" y="4124325"/>
            <a:ext cx="3619500" cy="27622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4288">
            <a:solidFill>
              <a:srgbClr val="BBF7D0"/>
            </a:solidFill>
            <a:prstDash val="solid"/>
          </a:ln>
        </p:spPr>
      </p:sp>
      <p:sp>
        <p:nvSpPr>
          <p:cNvPr id="42" name="text-74-441"/>
          <p:cNvSpPr>
            <a:spLocks noGrp="1"/>
          </p:cNvSpPr>
          <p:nvPr/>
        </p:nvSpPr>
        <p:spPr>
          <a:xfrm>
            <a:off x="704850" y="4200525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75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a. Dual-Clock Agent Execution Rollout</a:t>
            </a:r>
            <a:endParaRPr sz="975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3" name="text-74-461"/>
          <p:cNvSpPr>
            <a:spLocks noGrp="1"/>
          </p:cNvSpPr>
          <p:nvPr/>
        </p:nvSpPr>
        <p:spPr>
          <a:xfrm>
            <a:off x="704850" y="4391025"/>
            <a:ext cx="3429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Raw events trigger safety scans; closed actions trigger stages.</a:t>
            </a:r>
            <a:endParaRPr sz="825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4" name="card-74-485"/>
          <p:cNvSpPr>
            <a:spLocks noGrp="1"/>
          </p:cNvSpPr>
          <p:nvPr/>
        </p:nvSpPr>
        <p:spPr>
          <a:xfrm>
            <a:off x="704850" y="4619625"/>
            <a:ext cx="3352800" cy="1085850"/>
          </a:xfrm>
          <a:prstGeom prst="roundRect">
            <a:avLst>
              <a:gd name="adj" fmla="val 7018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5" name="text-84-491"/>
          <p:cNvSpPr>
            <a:spLocks noGrp="1"/>
          </p:cNvSpPr>
          <p:nvPr/>
        </p:nvSpPr>
        <p:spPr>
          <a:xfrm>
            <a:off x="800100" y="4676775"/>
            <a:ext cx="3143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75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5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Live Agent Interaction Stream (Running Example)</a:t>
            </a:r>
            <a:endParaRPr sz="750" b="1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6" name="card-80-513"/>
          <p:cNvSpPr>
            <a:spLocks noGrp="1"/>
          </p:cNvSpPr>
          <p:nvPr/>
        </p:nvSpPr>
        <p:spPr>
          <a:xfrm>
            <a:off x="762000" y="4886325"/>
            <a:ext cx="685800" cy="400050"/>
          </a:xfrm>
          <a:prstGeom prst="roundRect">
            <a:avLst>
              <a:gd name="adj" fmla="val 11905"/>
            </a:avLst>
          </a:prstGeom>
          <a:solidFill>
            <a:srgbClr val="EFF6FF"/>
          </a:solidFill>
          <a:ln w="11430">
            <a:solidFill>
              <a:srgbClr val="93C5FD"/>
            </a:solidFill>
            <a:prstDash val="solid"/>
          </a:ln>
        </p:spPr>
        <p:txBody>
          <a:bodyPr lIns="762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64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4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Step 1</a:t>
            </a:r>
            <a:endParaRPr sz="640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15000"/>
              </a:lnSpc>
              <a:buNone/>
              <a:defRPr sz="64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40">
                <a:solidFill>
                  <a:srgbClr val="3B82F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GetTime()</a:t>
            </a:r>
            <a:endParaRPr sz="640">
              <a:solidFill>
                <a:srgbClr val="3B82F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7" name="card-171-513"/>
          <p:cNvSpPr>
            <a:spLocks noGrp="1"/>
          </p:cNvSpPr>
          <p:nvPr/>
        </p:nvSpPr>
        <p:spPr>
          <a:xfrm>
            <a:off x="1628775" y="4886325"/>
            <a:ext cx="742950" cy="400050"/>
          </a:xfrm>
          <a:prstGeom prst="roundRect">
            <a:avLst>
              <a:gd name="adj" fmla="val 11905"/>
            </a:avLst>
          </a:prstGeom>
          <a:solidFill>
            <a:srgbClr val="EFF6FF"/>
          </a:solidFill>
          <a:ln w="11430">
            <a:solidFill>
              <a:srgbClr val="93C5FD"/>
            </a:solidFill>
            <a:prstDash val="solid"/>
          </a:ln>
        </p:spPr>
        <p:txBody>
          <a:bodyPr lIns="762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64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4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Step 2</a:t>
            </a:r>
            <a:endParaRPr sz="640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15000"/>
              </a:lnSpc>
              <a:buNone/>
              <a:defRPr sz="64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40">
                <a:solidFill>
                  <a:srgbClr val="3B82F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FilterDate()</a:t>
            </a:r>
            <a:endParaRPr sz="640">
              <a:solidFill>
                <a:srgbClr val="3B82F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8" name="card-268-513"/>
          <p:cNvSpPr>
            <a:spLocks noGrp="1"/>
          </p:cNvSpPr>
          <p:nvPr/>
        </p:nvSpPr>
        <p:spPr>
          <a:xfrm>
            <a:off x="2552700" y="4886325"/>
            <a:ext cx="742950" cy="400050"/>
          </a:xfrm>
          <a:prstGeom prst="roundRect">
            <a:avLst>
              <a:gd name="adj" fmla="val 11905"/>
            </a:avLst>
          </a:prstGeom>
          <a:solidFill>
            <a:srgbClr val="FEF2F2"/>
          </a:solidFill>
          <a:ln w="11430">
            <a:solidFill>
              <a:srgbClr val="F87171"/>
            </a:solidFill>
            <a:prstDash val="solid"/>
          </a:ln>
        </p:spPr>
        <p:txBody>
          <a:bodyPr lIns="762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64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40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Step 3 (Err)</a:t>
            </a:r>
            <a:endParaRPr sz="640" b="1">
              <a:solidFill>
                <a:srgbClr val="991B1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15000"/>
              </a:lnSpc>
              <a:buNone/>
              <a:defRPr sz="64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40">
                <a:solidFill>
                  <a:srgbClr val="EF444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WrongArg()</a:t>
            </a:r>
            <a:endParaRPr sz="640">
              <a:solidFill>
                <a:srgbClr val="EF444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9" name="card-365-513"/>
          <p:cNvSpPr>
            <a:spLocks noGrp="1"/>
          </p:cNvSpPr>
          <p:nvPr/>
        </p:nvSpPr>
        <p:spPr>
          <a:xfrm>
            <a:off x="3476625" y="4886325"/>
            <a:ext cx="685800" cy="400050"/>
          </a:xfrm>
          <a:prstGeom prst="roundRect">
            <a:avLst>
              <a:gd name="adj" fmla="val 11905"/>
            </a:avLst>
          </a:prstGeom>
          <a:solidFill>
            <a:srgbClr val="EFF6FF"/>
          </a:solidFill>
          <a:ln w="11430">
            <a:solidFill>
              <a:srgbClr val="93C5FD"/>
            </a:solidFill>
            <a:prstDash val="solid"/>
          </a:ln>
        </p:spPr>
        <p:txBody>
          <a:bodyPr lIns="76200" tIns="19050" rIns="38100" bIns="19050" anchor="ctr">
            <a:noAutofit/>
          </a:bodyPr>
          <a:lstStyle/>
          <a:p>
            <a:pPr algn="l">
              <a:lnSpc>
                <a:spcPct val="115000"/>
              </a:lnSpc>
              <a:buNone/>
              <a:defRPr sz="64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4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Step 4</a:t>
            </a:r>
            <a:endParaRPr sz="640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15000"/>
              </a:lnSpc>
              <a:buNone/>
              <a:defRPr sz="64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40">
                <a:solidFill>
                  <a:srgbClr val="3B82F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RetryCall()</a:t>
            </a:r>
            <a:endParaRPr sz="640">
              <a:solidFill>
                <a:srgbClr val="3B82F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cxnSp>
        <p:nvCxnSpPr>
          <p:cNvPr id="129" name="直接箭头连接符 128"/>
          <p:cNvCxnSpPr>
            <a:stCxn id="46" idx="3"/>
            <a:endCxn id="47" idx="1"/>
          </p:cNvCxnSpPr>
          <p:nvPr/>
        </p:nvCxnSpPr>
        <p:spPr>
          <a:xfrm>
            <a:off x="1447800" y="5086350"/>
            <a:ext cx="180975" cy="0"/>
          </a:xfrm>
          <a:prstGeom prst="straightConnector1">
            <a:avLst/>
          </a:prstGeom>
          <a:ln w="14288">
            <a:solidFill>
              <a:srgbClr val="64748B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30" name="直接箭头连接符 129"/>
          <p:cNvCxnSpPr>
            <a:stCxn id="47" idx="3"/>
            <a:endCxn id="48" idx="1"/>
          </p:cNvCxnSpPr>
          <p:nvPr/>
        </p:nvCxnSpPr>
        <p:spPr>
          <a:xfrm>
            <a:off x="2371725" y="5086350"/>
            <a:ext cx="180975" cy="0"/>
          </a:xfrm>
          <a:prstGeom prst="straightConnector1">
            <a:avLst/>
          </a:prstGeom>
          <a:ln w="14288">
            <a:solidFill>
              <a:srgbClr val="64748B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131" name="直接箭头连接符 130"/>
          <p:cNvCxnSpPr>
            <a:stCxn id="48" idx="3"/>
            <a:endCxn id="49" idx="1"/>
          </p:cNvCxnSpPr>
          <p:nvPr/>
        </p:nvCxnSpPr>
        <p:spPr>
          <a:xfrm>
            <a:off x="3295650" y="5086350"/>
            <a:ext cx="180975" cy="0"/>
          </a:xfrm>
          <a:prstGeom prst="straightConnector1">
            <a:avLst/>
          </a:prstGeom>
          <a:ln w="14288">
            <a:solidFill>
              <a:srgbClr val="64748B"/>
            </a:solidFill>
            <a:prstDash val="solid"/>
            <a:headEnd type="triangle" w="sm" len="sm"/>
            <a:tailEnd type="none" w="med" len="med"/>
          </a:ln>
        </p:spPr>
      </p:cxnSp>
      <p:sp>
        <p:nvSpPr>
          <p:cNvPr id="53" name="text-84-574"/>
          <p:cNvSpPr>
            <a:spLocks noGrp="1"/>
          </p:cNvSpPr>
          <p:nvPr/>
        </p:nvSpPr>
        <p:spPr>
          <a:xfrm>
            <a:off x="800100" y="5467350"/>
            <a:ext cx="3143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675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75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⚡ Action Closure at Step 4 settles Milestone M1b</a:t>
            </a:r>
            <a:endParaRPr sz="675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4" name="card-74-609"/>
          <p:cNvSpPr>
            <a:spLocks noGrp="1"/>
          </p:cNvSpPr>
          <p:nvPr/>
        </p:nvSpPr>
        <p:spPr>
          <a:xfrm>
            <a:off x="704850" y="5800725"/>
            <a:ext cx="1619250" cy="876300"/>
          </a:xfrm>
          <a:prstGeom prst="roundRect">
            <a:avLst>
              <a:gd name="adj" fmla="val 6522"/>
            </a:avLst>
          </a:prstGeom>
          <a:solidFill>
            <a:srgbClr val="FFF1F2"/>
          </a:solidFill>
          <a:ln w="9525">
            <a:solidFill>
              <a:srgbClr val="FCA5A5"/>
            </a:solidFill>
            <a:prstDash val="solid"/>
          </a:ln>
        </p:spPr>
        <p:txBody>
          <a:bodyPr lIns="76200" tIns="66675" rIns="57150" bIns="38100" anchor="t">
            <a:noAutofit/>
          </a:bodyPr>
          <a:lstStyle/>
          <a:p>
            <a:pPr algn="l">
              <a:lnSpc>
                <a:spcPct val="125000"/>
              </a:lnSpc>
              <a:buNone/>
              <a:defRPr sz="64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4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Raw Event Clock (k)</a:t>
            </a:r>
            <a:endParaRPr sz="640" b="1">
              <a:solidFill>
                <a:srgbClr val="B91C1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25000"/>
              </a:lnSpc>
              <a:buNone/>
              <a:defRPr sz="64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40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• Ticks per atomic event
• Screen safety invariant
⚡ Minefield Fast Sensor</a:t>
            </a:r>
            <a:endParaRPr sz="640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5" name="card-256-609"/>
          <p:cNvSpPr>
            <a:spLocks noGrp="1"/>
          </p:cNvSpPr>
          <p:nvPr/>
        </p:nvSpPr>
        <p:spPr>
          <a:xfrm>
            <a:off x="2438400" y="5800725"/>
            <a:ext cx="1619250" cy="876300"/>
          </a:xfrm>
          <a:prstGeom prst="roundRect">
            <a:avLst>
              <a:gd name="adj" fmla="val 6522"/>
            </a:avLst>
          </a:prstGeom>
          <a:solidFill>
            <a:srgbClr val="ECFDF5"/>
          </a:solidFill>
          <a:ln w="9525">
            <a:solidFill>
              <a:srgbClr val="86EFAC"/>
            </a:solidFill>
            <a:prstDash val="solid"/>
          </a:ln>
        </p:spPr>
        <p:txBody>
          <a:bodyPr lIns="76200" tIns="66675" rIns="57150" bIns="38100" anchor="t">
            <a:noAutofit/>
          </a:bodyPr>
          <a:lstStyle/>
          <a:p>
            <a:pPr algn="l">
              <a:lnSpc>
                <a:spcPct val="125000"/>
              </a:lnSpc>
              <a:buNone/>
              <a:defRPr sz="64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40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Closed Action Clock (t)</a:t>
            </a:r>
            <a:endParaRPr sz="640" b="1">
              <a:solidFill>
                <a:srgbClr val="065F4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25000"/>
              </a:lnSpc>
              <a:buNone/>
              <a:defRPr sz="64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40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• Ticks on tool return
• Evaluates state delta
✓ Triggers Stage Review</a:t>
            </a:r>
            <a:endParaRPr sz="640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6" name="card-485-433"/>
          <p:cNvSpPr>
            <a:spLocks noGrp="1"/>
          </p:cNvSpPr>
          <p:nvPr/>
        </p:nvSpPr>
        <p:spPr>
          <a:xfrm>
            <a:off x="4619625" y="4124325"/>
            <a:ext cx="3810000" cy="27622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4288">
            <a:solidFill>
              <a:srgbClr val="BBF7D0"/>
            </a:solidFill>
            <a:prstDash val="solid"/>
          </a:ln>
        </p:spPr>
      </p:sp>
      <p:sp>
        <p:nvSpPr>
          <p:cNvPr id="57" name="text-499-441"/>
          <p:cNvSpPr>
            <a:spLocks noGrp="1"/>
          </p:cNvSpPr>
          <p:nvPr/>
        </p:nvSpPr>
        <p:spPr>
          <a:xfrm>
            <a:off x="4752975" y="4200525"/>
            <a:ext cx="3619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75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b. Dominator-Anchored Stage Evaluation</a:t>
            </a:r>
            <a:endParaRPr sz="975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8" name="text-499-461"/>
          <p:cNvSpPr>
            <a:spLocks noGrp="1"/>
          </p:cNvSpPr>
          <p:nvPr/>
        </p:nvSpPr>
        <p:spPr>
          <a:xfrm>
            <a:off x="4752975" y="4391025"/>
            <a:ext cx="3619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Isolates local evidence window to evaluate weak links with context.</a:t>
            </a:r>
            <a:endParaRPr sz="825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9" name="card-499-485"/>
          <p:cNvSpPr>
            <a:spLocks noGrp="1"/>
          </p:cNvSpPr>
          <p:nvPr/>
        </p:nvSpPr>
        <p:spPr>
          <a:xfrm>
            <a:off x="4752975" y="4619625"/>
            <a:ext cx="3543300" cy="47625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  <p:txBody>
          <a:bodyPr lIns="95250" tIns="28575" rIns="76200" bIns="19050" anchor="ctr">
            <a:noAutofit/>
          </a:bodyPr>
          <a:lstStyle/>
          <a:p>
            <a:pPr algn="l">
              <a:lnSpc>
                <a:spcPct val="120000"/>
              </a:lnSpc>
              <a:buNone/>
              <a:defRPr sz="675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7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Ready Frontier Matching: F_t = { m | Pred(m) ⊆ M_settled }</a:t>
            </a:r>
            <a:endParaRPr sz="675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20000"/>
              </a:lnSpc>
              <a:buNone/>
              <a:defRPr sz="675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75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• Bounds search space to valid goals; prevents out-of-order reward gaming</a:t>
            </a:r>
            <a:endParaRPr sz="675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0" name="card-499-543"/>
          <p:cNvSpPr>
            <a:spLocks noGrp="1"/>
          </p:cNvSpPr>
          <p:nvPr/>
        </p:nvSpPr>
        <p:spPr>
          <a:xfrm>
            <a:off x="4752975" y="5172075"/>
            <a:ext cx="3543300" cy="1504950"/>
          </a:xfrm>
          <a:prstGeom prst="roundRect">
            <a:avLst>
              <a:gd name="adj" fmla="val 5063"/>
            </a:avLst>
          </a:prstGeom>
          <a:solidFill>
            <a:srgbClr val="EFF6FF"/>
          </a:solidFill>
          <a:ln w="14288">
            <a:solidFill>
              <a:srgbClr val="3B82F6"/>
            </a:solidFill>
            <a:prstDash val="solid"/>
          </a:ln>
        </p:spPr>
      </p:sp>
      <p:sp>
        <p:nvSpPr>
          <p:cNvPr id="61" name="text-509-551"/>
          <p:cNvSpPr>
            <a:spLocks noGrp="1"/>
          </p:cNvSpPr>
          <p:nvPr/>
        </p:nvSpPr>
        <p:spPr>
          <a:xfrm>
            <a:off x="4848225" y="5248275"/>
            <a:ext cx="3352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790" b="1">
                <a:solidFill>
                  <a:srgbClr val="1D4ED8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90" b="1">
                <a:solidFill>
                  <a:srgbClr val="1D4ED8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Dominator Stage Window: W(M1b) = [ t_idom(M1b), t_settle ]</a:t>
            </a:r>
            <a:endParaRPr sz="790" b="1">
              <a:solidFill>
                <a:srgbClr val="1D4ED8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2" name="card-509-575"/>
          <p:cNvSpPr>
            <a:spLocks noGrp="1"/>
          </p:cNvSpPr>
          <p:nvPr/>
        </p:nvSpPr>
        <p:spPr>
          <a:xfrm>
            <a:off x="4848225" y="5476875"/>
            <a:ext cx="3352800" cy="4000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93C5FD"/>
            </a:solidFill>
            <a:prstDash val="solid"/>
          </a:ln>
        </p:spPr>
        <p:txBody>
          <a:bodyPr lIns="76200" tIns="19050" rIns="57150" bIns="19050" anchor="ctr">
            <a:noAutofit/>
          </a:bodyPr>
          <a:lstStyle/>
          <a:p>
            <a:pPr algn="l">
              <a:lnSpc>
                <a:spcPct val="125000"/>
              </a:lnSpc>
              <a:buNone/>
              <a:defRPr sz="64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40" b="1">
                <a:solidFill>
                  <a:srgbClr val="1E293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Captured Evidence: [ Step 2 ➔ Step 3 (Err) ➔ Step 4 (Retry) ]</a:t>
            </a:r>
            <a:endParaRPr sz="640" b="1">
              <a:solidFill>
                <a:srgbClr val="1E293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25000"/>
              </a:lnSpc>
              <a:buNone/>
              <a:defRPr sz="64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4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Excludes concurrent branch noise; retains full reasoning &amp; trial context</a:t>
            </a:r>
            <a:endParaRPr sz="640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3" name="card-509-623"/>
          <p:cNvSpPr>
            <a:spLocks noGrp="1"/>
          </p:cNvSpPr>
          <p:nvPr/>
        </p:nvSpPr>
        <p:spPr>
          <a:xfrm>
            <a:off x="4848225" y="5934075"/>
            <a:ext cx="3352800" cy="495300"/>
          </a:xfrm>
          <a:prstGeom prst="roundRect">
            <a:avLst>
              <a:gd name="adj" fmla="val 7692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  <p:txBody>
          <a:bodyPr lIns="76200" tIns="19050" rIns="57150" bIns="19050" anchor="ctr">
            <a:noAutofit/>
          </a:bodyPr>
          <a:lstStyle/>
          <a:p>
            <a:pPr algn="l">
              <a:lnSpc>
                <a:spcPct val="120000"/>
              </a:lnSpc>
              <a:buNone/>
              <a:defRPr sz="64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4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🎯 First Critical Error Located: Step 3 (Invalid Parameter)</a:t>
            </a:r>
            <a:endParaRPr sz="640" b="1">
              <a:solidFill>
                <a:srgbClr val="B91C1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20000"/>
              </a:lnSpc>
              <a:buNone/>
              <a:defRPr sz="64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40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Flags tool_quality penalty; stage score drops to S_t = 0.68
Dynamically targets weak link for strategy escalation</a:t>
            </a:r>
            <a:endParaRPr sz="640">
              <a:solidFill>
                <a:srgbClr val="991B1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4" name="card-930-433"/>
          <p:cNvSpPr>
            <a:spLocks noGrp="1"/>
          </p:cNvSpPr>
          <p:nvPr/>
        </p:nvSpPr>
        <p:spPr>
          <a:xfrm>
            <a:off x="8858250" y="4124325"/>
            <a:ext cx="4286250" cy="27622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4288">
            <a:solidFill>
              <a:srgbClr val="BBF7D0"/>
            </a:solidFill>
            <a:prstDash val="solid"/>
          </a:ln>
        </p:spPr>
      </p:sp>
      <p:sp>
        <p:nvSpPr>
          <p:cNvPr id="65" name="text-944-441"/>
          <p:cNvSpPr>
            <a:spLocks noGrp="1"/>
          </p:cNvSpPr>
          <p:nvPr/>
        </p:nvSpPr>
        <p:spPr>
          <a:xfrm>
            <a:off x="8991600" y="4200525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75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c. Dynamic Judge Adaptation &amp; Early Stop</a:t>
            </a:r>
            <a:endParaRPr sz="975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6" name="text-944-461"/>
          <p:cNvSpPr>
            <a:spLocks noGrp="1"/>
          </p:cNvSpPr>
          <p:nvPr/>
        </p:nvSpPr>
        <p:spPr>
          <a:xfrm>
            <a:off x="8991600" y="4391025"/>
            <a:ext cx="409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Scales judging rigor to weak links; halts failed rollouts early.</a:t>
            </a:r>
            <a:endParaRPr sz="825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7" name="card-944-483"/>
          <p:cNvSpPr>
            <a:spLocks noGrp="1"/>
          </p:cNvSpPr>
          <p:nvPr/>
        </p:nvSpPr>
        <p:spPr>
          <a:xfrm>
            <a:off x="8991600" y="4600575"/>
            <a:ext cx="4019550" cy="1085850"/>
          </a:xfrm>
          <a:prstGeom prst="roundRect">
            <a:avLst>
              <a:gd name="adj" fmla="val 7018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8" name="text-954-489"/>
          <p:cNvSpPr>
            <a:spLocks noGrp="1"/>
          </p:cNvSpPr>
          <p:nvPr/>
        </p:nvSpPr>
        <p:spPr>
          <a:xfrm>
            <a:off x="9086850" y="4657725"/>
            <a:ext cx="38100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75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5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Multi-Tier Judge Ladder &amp; Strategy Escalation</a:t>
            </a:r>
            <a:endParaRPr sz="750" b="1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9" name="card-954-507"/>
          <p:cNvSpPr>
            <a:spLocks noGrp="1"/>
          </p:cNvSpPr>
          <p:nvPr/>
        </p:nvSpPr>
        <p:spPr>
          <a:xfrm>
            <a:off x="9086850" y="4829175"/>
            <a:ext cx="3829050" cy="228600"/>
          </a:xfrm>
          <a:prstGeom prst="roundRect">
            <a:avLst>
              <a:gd name="adj" fmla="val 16667"/>
            </a:avLst>
          </a:prstGeom>
          <a:solidFill>
            <a:srgbClr val="F0FDF4"/>
          </a:solidFill>
          <a:ln w="9525">
            <a:solidFill>
              <a:srgbClr val="86EFAC"/>
            </a:solidFill>
            <a:prstDash val="solid"/>
          </a:ln>
        </p:spPr>
        <p:txBody>
          <a:bodyPr wrap="square" lIns="76200" tIns="0" rIns="57150" bIns="0" anchor="ctr">
            <a:noAutofit/>
          </a:bodyPr>
          <a:lstStyle/>
          <a:p>
            <a:pPr algn="l">
              <a:defRPr sz="675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75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Tier 1: Cheap Judge (Deterministic Structural Rules) • 0 Tokens (61.4%)</a:t>
            </a:r>
            <a:endParaRPr sz="675" b="1">
              <a:solidFill>
                <a:srgbClr val="15803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0" name="card-954-535"/>
          <p:cNvSpPr>
            <a:spLocks noGrp="1"/>
          </p:cNvSpPr>
          <p:nvPr/>
        </p:nvSpPr>
        <p:spPr>
          <a:xfrm>
            <a:off x="9086850" y="5095875"/>
            <a:ext cx="3829050" cy="2286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 wrap="square" lIns="76200" tIns="0" rIns="57150" bIns="0" anchor="ctr">
            <a:noAutofit/>
          </a:bodyPr>
          <a:lstStyle/>
          <a:p>
            <a:pPr algn="l">
              <a:defRPr sz="67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7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Tier 2: Standard Judge (Unified Multi-Field LLM) • Low Cost (29.8%)</a:t>
            </a:r>
            <a:endParaRPr sz="675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1" name="card-954-563"/>
          <p:cNvSpPr>
            <a:spLocks noGrp="1"/>
          </p:cNvSpPr>
          <p:nvPr/>
        </p:nvSpPr>
        <p:spPr>
          <a:xfrm>
            <a:off x="9086850" y="5362575"/>
            <a:ext cx="3829050" cy="247650"/>
          </a:xfrm>
          <a:prstGeom prst="roundRect">
            <a:avLst>
              <a:gd name="adj" fmla="val 15385"/>
            </a:avLst>
          </a:prstGeom>
          <a:solidFill>
            <a:srgbClr val="FDF4FF"/>
          </a:solidFill>
          <a:ln w="9525">
            <a:solidFill>
              <a:srgbClr val="F0ABFC"/>
            </a:solidFill>
            <a:prstDash val="solid"/>
          </a:ln>
        </p:spPr>
        <p:txBody>
          <a:bodyPr wrap="square" lIns="76200" tIns="0" rIns="57150" bIns="0" anchor="ctr">
            <a:noAutofit/>
          </a:bodyPr>
          <a:lstStyle/>
          <a:p>
            <a:pPr algn="l">
              <a:defRPr sz="675" b="1">
                <a:solidFill>
                  <a:srgbClr val="7E22C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75" b="1">
                <a:solidFill>
                  <a:srgbClr val="7E22C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Tier 3: Expensive Judge (Specialist Per-Dimension LLM) • (8.8%)</a:t>
            </a:r>
            <a:endParaRPr sz="675" b="1">
              <a:solidFill>
                <a:srgbClr val="7E22C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2" name="card-944-605"/>
          <p:cNvSpPr>
            <a:spLocks noGrp="1"/>
          </p:cNvSpPr>
          <p:nvPr/>
        </p:nvSpPr>
        <p:spPr>
          <a:xfrm>
            <a:off x="8991600" y="5762625"/>
            <a:ext cx="1714500" cy="876300"/>
          </a:xfrm>
          <a:prstGeom prst="roundRect">
            <a:avLst>
              <a:gd name="adj" fmla="val 6522"/>
            </a:avLst>
          </a:prstGeom>
          <a:solidFill>
            <a:srgbClr val="F0FDF4"/>
          </a:solidFill>
          <a:ln w="11430">
            <a:solidFill>
              <a:srgbClr val="86EFAC"/>
            </a:solidFill>
            <a:prstDash val="solid"/>
          </a:ln>
        </p:spPr>
        <p:txBody>
          <a:bodyPr lIns="95250" tIns="57150" rIns="57150" bIns="28575" anchor="t">
            <a:noAutofit/>
          </a:bodyPr>
          <a:lstStyle/>
          <a:p>
            <a:pPr algn="l">
              <a:lnSpc>
                <a:spcPct val="125000"/>
              </a:lnSpc>
              <a:buNone/>
              <a:defRPr sz="675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75" b="1">
                <a:solidFill>
                  <a:srgbClr val="04785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If Normal Progress:</a:t>
            </a:r>
            <a:endParaRPr sz="675" b="1">
              <a:solidFill>
                <a:srgbClr val="04785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25000"/>
              </a:lnSpc>
              <a:buNone/>
              <a:defRPr sz="675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75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• Update weights w_(t+1)
• Advance frontier F_t
➔ Continue to Next Stage</a:t>
            </a:r>
            <a:endParaRPr sz="675">
              <a:solidFill>
                <a:srgbClr val="15803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3" name="card-1134-605"/>
          <p:cNvSpPr>
            <a:spLocks noGrp="1"/>
          </p:cNvSpPr>
          <p:nvPr/>
        </p:nvSpPr>
        <p:spPr>
          <a:xfrm>
            <a:off x="10801350" y="5762625"/>
            <a:ext cx="2209800" cy="876300"/>
          </a:xfrm>
          <a:prstGeom prst="roundRect">
            <a:avLst>
              <a:gd name="adj" fmla="val 6522"/>
            </a:avLst>
          </a:prstGeom>
          <a:solidFill>
            <a:srgbClr val="FFF1F2"/>
          </a:solidFill>
          <a:ln w="14288">
            <a:solidFill>
              <a:srgbClr val="FDA4AF"/>
            </a:solidFill>
            <a:prstDash val="solid"/>
          </a:ln>
        </p:spPr>
      </p:sp>
      <p:sp>
        <p:nvSpPr>
          <p:cNvPr id="74" name="card-1142-613"/>
          <p:cNvSpPr>
            <a:spLocks noGrp="1"/>
          </p:cNvSpPr>
          <p:nvPr/>
        </p:nvSpPr>
        <p:spPr>
          <a:xfrm>
            <a:off x="10877550" y="5838825"/>
            <a:ext cx="2057400" cy="323850"/>
          </a:xfrm>
          <a:prstGeom prst="roundRect">
            <a:avLst>
              <a:gd name="adj" fmla="val 11765"/>
            </a:avLst>
          </a:prstGeom>
          <a:solidFill>
            <a:srgbClr val="BE123C"/>
          </a:solidFill>
          <a:ln w="0">
            <a:noFill/>
            <a:prstDash val="solid"/>
          </a:ln>
        </p:spPr>
        <p:txBody>
          <a:bodyPr wrap="square" lIns="57150" tIns="9525" rIns="38100" bIns="9525" anchor="ctr">
            <a:noAutofit/>
          </a:bodyPr>
          <a:lstStyle/>
          <a:p>
            <a:pPr algn="ctr">
              <a:defRPr sz="79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9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⛔ TRIGGER EARLY STOP</a:t>
            </a:r>
            <a:endParaRPr sz="790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5" name="text-1146-651"/>
          <p:cNvSpPr>
            <a:spLocks noGrp="1"/>
          </p:cNvSpPr>
          <p:nvPr/>
        </p:nvSpPr>
        <p:spPr>
          <a:xfrm>
            <a:off x="10915650" y="620077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buNone/>
              <a:defRPr sz="640">
                <a:solidFill>
                  <a:srgbClr val="8813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40">
                <a:solidFill>
                  <a:srgbClr val="8813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• Minefield violation  • Stagnant deadlock</a:t>
            </a:r>
            <a:endParaRPr sz="640">
              <a:solidFill>
                <a:srgbClr val="8813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25000"/>
              </a:lnSpc>
              <a:buNone/>
              <a:defRPr sz="640">
                <a:solidFill>
                  <a:srgbClr val="8813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40">
                <a:solidFill>
                  <a:srgbClr val="88133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⚡ Halts Run &amp; Saves 34.51% Steps</a:t>
            </a:r>
            <a:endParaRPr sz="640">
              <a:solidFill>
                <a:srgbClr val="88133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cxnSp>
        <p:nvCxnSpPr>
          <p:cNvPr id="155" name="直接箭头连接符 154"/>
          <p:cNvCxnSpPr>
            <a:stCxn id="41" idx="3"/>
            <a:endCxn id="56" idx="1"/>
          </p:cNvCxnSpPr>
          <p:nvPr/>
        </p:nvCxnSpPr>
        <p:spPr>
          <a:xfrm>
            <a:off x="4191000" y="5505450"/>
            <a:ext cx="428625" cy="0"/>
          </a:xfrm>
          <a:prstGeom prst="straightConnector1">
            <a:avLst/>
          </a:prstGeom>
          <a:ln w="23813">
            <a:solidFill>
              <a:srgbClr val="059669"/>
            </a:solidFill>
            <a:prstDash val="solid"/>
            <a:headEnd type="none" w="sm" len="sm"/>
            <a:tailEnd type="none" w="med" len="med"/>
          </a:ln>
        </p:spPr>
      </p:cxnSp>
      <p:cxnSp>
        <p:nvCxnSpPr>
          <p:cNvPr id="156" name="直接箭头连接符 155"/>
          <p:cNvCxnSpPr>
            <a:stCxn id="56" idx="3"/>
            <a:endCxn id="64" idx="1"/>
          </p:cNvCxnSpPr>
          <p:nvPr/>
        </p:nvCxnSpPr>
        <p:spPr>
          <a:xfrm>
            <a:off x="8429625" y="5505450"/>
            <a:ext cx="428625" cy="0"/>
          </a:xfrm>
          <a:prstGeom prst="straightConnector1">
            <a:avLst/>
          </a:prstGeom>
          <a:ln w="23813">
            <a:solidFill>
              <a:srgbClr val="059669"/>
            </a:solidFill>
            <a:prstDash val="solid"/>
            <a:headEnd type="none" w="sm" len="sm"/>
            <a:tailEnd type="none" w="med" len="med"/>
          </a:ln>
        </p:spPr>
      </p:cxnSp>
      <p:sp>
        <p:nvSpPr>
          <p:cNvPr id="79" name="card-655-351"/>
          <p:cNvSpPr>
            <a:spLocks noGrp="1"/>
          </p:cNvSpPr>
          <p:nvPr/>
        </p:nvSpPr>
        <p:spPr>
          <a:xfrm>
            <a:off x="6238875" y="3343275"/>
            <a:ext cx="1238250" cy="1524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 wrap="square" lIns="57150" tIns="9525" rIns="38100" bIns="9525" anchor="ctr">
            <a:noAutofit/>
          </a:bodyPr>
          <a:lstStyle/>
          <a:p>
            <a:pPr algn="ctr">
              <a:defRPr sz="64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40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DAG Guides Execution Stages</a:t>
            </a:r>
            <a:endParaRPr sz="640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7" name="panel-60-115"/>
          <p:cNvSpPr>
            <a:spLocks noGrp="1"/>
          </p:cNvSpPr>
          <p:nvPr/>
        </p:nvSpPr>
        <p:spPr>
          <a:xfrm>
            <a:off x="571500" y="1095375"/>
            <a:ext cx="6059170" cy="5135245"/>
          </a:xfrm>
          <a:prstGeom prst="roundRect">
            <a:avLst>
              <a:gd name="adj" fmla="val 2936"/>
            </a:avLst>
          </a:prstGeom>
          <a:solidFill>
            <a:srgbClr val="FFF5F5"/>
          </a:solidFill>
          <a:ln w="19050">
            <a:solidFill>
              <a:srgbClr val="FECAC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2" name="panel-60-115"/>
          <p:cNvSpPr>
            <a:spLocks noGrp="1"/>
          </p:cNvSpPr>
          <p:nvPr/>
        </p:nvSpPr>
        <p:spPr>
          <a:xfrm>
            <a:off x="571500" y="1095375"/>
            <a:ext cx="6059170" cy="495300"/>
          </a:xfrm>
          <a:prstGeom prst="roundRect">
            <a:avLst>
              <a:gd name="adj" fmla="val 30769"/>
            </a:avLst>
          </a:prstGeom>
          <a:solidFill>
            <a:srgbClr val="FEE2E2"/>
          </a:solidFill>
          <a:ln w="9525">
            <a:solidFill>
              <a:srgbClr val="FECAC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3" name="circle-80-129"/>
          <p:cNvSpPr>
            <a:spLocks noGrp="1"/>
          </p:cNvSpPr>
          <p:nvPr/>
        </p:nvSpPr>
        <p:spPr>
          <a:xfrm>
            <a:off x="762000" y="1228725"/>
            <a:ext cx="228600" cy="228600"/>
          </a:xfrm>
          <a:prstGeom prst="ellipse">
            <a:avLst/>
          </a:prstGeom>
          <a:solidFill>
            <a:srgbClr val="EF4444"/>
          </a:solidFill>
          <a:ln w="14288">
            <a:solidFill>
              <a:srgbClr val="EF4444"/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✕</a:t>
            </a:r>
            <a:endParaRPr sz="975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" name="text-114-123"/>
          <p:cNvSpPr>
            <a:spLocks noGrp="1"/>
          </p:cNvSpPr>
          <p:nvPr/>
        </p:nvSpPr>
        <p:spPr>
          <a:xfrm>
            <a:off x="1085850" y="1228725"/>
            <a:ext cx="542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40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40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(a) Conventional: Full-Trajectory &amp; Single-Reference</a:t>
            </a:r>
            <a:endParaRPr sz="1240" b="1">
              <a:solidFill>
                <a:srgbClr val="991B1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" name="card-84-187"/>
          <p:cNvSpPr>
            <a:spLocks noGrp="1"/>
          </p:cNvSpPr>
          <p:nvPr/>
        </p:nvSpPr>
        <p:spPr>
          <a:xfrm>
            <a:off x="800100" y="1781175"/>
            <a:ext cx="5627370" cy="128587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4288">
            <a:solidFill>
              <a:srgbClr val="FED7D7"/>
            </a:solidFill>
            <a:prstDash val="solid"/>
          </a:ln>
        </p:spPr>
      </p:sp>
      <p:sp>
        <p:nvSpPr>
          <p:cNvPr id="6" name="text-100-195"/>
          <p:cNvSpPr>
            <a:spLocks noGrp="1"/>
          </p:cNvSpPr>
          <p:nvPr/>
        </p:nvSpPr>
        <p:spPr>
          <a:xfrm>
            <a:off x="952500" y="1857375"/>
            <a:ext cx="523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5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1. Full-Trajectory / Noisy Step Evaluation</a:t>
            </a:r>
            <a:endParaRPr sz="1050" b="1">
              <a:solidFill>
                <a:srgbClr val="B91C1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" name="text-100-215"/>
          <p:cNvSpPr>
            <a:spLocks noGrp="1"/>
          </p:cNvSpPr>
          <p:nvPr/>
        </p:nvSpPr>
        <p:spPr>
          <a:xfrm>
            <a:off x="894715" y="2047875"/>
            <a:ext cx="5039995" cy="3498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71755" indent="0" algn="l" fontAlgn="auto">
              <a:lnSpc>
                <a:spcPct val="105000"/>
              </a:lnSpc>
              <a:buNone/>
              <a:defRPr sz="9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Full-trajectory is passive and misses weak links</a:t>
            </a:r>
            <a:r>
              <a:rPr lang="en-US"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.</a:t>
            </a:r>
            <a:r>
              <a:rPr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</a:t>
            </a:r>
            <a:endParaRPr sz="1000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marL="71755" indent="0" algn="l" fontAlgn="auto">
              <a:lnSpc>
                <a:spcPct val="105000"/>
              </a:lnSpc>
              <a:buNone/>
              <a:defRPr sz="9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lang="en-US"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</a:t>
            </a:r>
            <a:r>
              <a:rPr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tomic step scoring lacks context and suffers from noise.</a:t>
            </a:r>
            <a:endParaRPr sz="1000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" name="circle-109-258"/>
          <p:cNvSpPr>
            <a:spLocks noGrp="1"/>
          </p:cNvSpPr>
          <p:nvPr/>
        </p:nvSpPr>
        <p:spPr>
          <a:xfrm>
            <a:off x="950595" y="2467610"/>
            <a:ext cx="337820" cy="337820"/>
          </a:xfrm>
          <a:prstGeom prst="ellipse">
            <a:avLst/>
          </a:prstGeom>
          <a:solidFill>
            <a:srgbClr val="E2E8F0"/>
          </a:solidFill>
          <a:ln w="14288">
            <a:solidFill>
              <a:srgbClr val="94A3B8"/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s0</a:t>
            </a:r>
            <a:endParaRPr sz="825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" name="circle-179-258"/>
          <p:cNvSpPr>
            <a:spLocks noGrp="1"/>
          </p:cNvSpPr>
          <p:nvPr/>
        </p:nvSpPr>
        <p:spPr>
          <a:xfrm>
            <a:off x="1617345" y="2467610"/>
            <a:ext cx="337820" cy="337820"/>
          </a:xfrm>
          <a:prstGeom prst="ellipse">
            <a:avLst/>
          </a:prstGeom>
          <a:solidFill>
            <a:srgbClr val="FEE2E2"/>
          </a:solidFill>
          <a:ln w="14288">
            <a:solidFill>
              <a:srgbClr val="EF4444"/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750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50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Err</a:t>
            </a:r>
            <a:endParaRPr sz="750" b="1">
              <a:solidFill>
                <a:srgbClr val="991B1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" name="circle-249-258"/>
          <p:cNvSpPr>
            <a:spLocks noGrp="1"/>
          </p:cNvSpPr>
          <p:nvPr/>
        </p:nvSpPr>
        <p:spPr>
          <a:xfrm>
            <a:off x="2284095" y="2467610"/>
            <a:ext cx="337820" cy="337820"/>
          </a:xfrm>
          <a:prstGeom prst="ellipse">
            <a:avLst/>
          </a:prstGeom>
          <a:solidFill>
            <a:srgbClr val="FEE2E2"/>
          </a:solidFill>
          <a:ln w="14288">
            <a:solidFill>
              <a:srgbClr val="EF4444"/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750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50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Loop</a:t>
            </a:r>
            <a:endParaRPr sz="750" b="1">
              <a:solidFill>
                <a:srgbClr val="991B1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1" name="circle-319-258"/>
          <p:cNvSpPr>
            <a:spLocks noGrp="1"/>
          </p:cNvSpPr>
          <p:nvPr/>
        </p:nvSpPr>
        <p:spPr>
          <a:xfrm>
            <a:off x="2950845" y="2467610"/>
            <a:ext cx="337820" cy="337820"/>
          </a:xfrm>
          <a:prstGeom prst="ellipse">
            <a:avLst/>
          </a:prstGeom>
          <a:solidFill>
            <a:srgbClr val="FEF3C7"/>
          </a:solidFill>
          <a:ln w="14288">
            <a:solidFill>
              <a:srgbClr val="F59E0B"/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675" b="1">
                <a:solidFill>
                  <a:srgbClr val="9240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75" b="1">
                <a:solidFill>
                  <a:srgbClr val="92400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Risky</a:t>
            </a:r>
            <a:endParaRPr sz="675" b="1">
              <a:solidFill>
                <a:srgbClr val="92400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2" name="circle-389-258"/>
          <p:cNvSpPr>
            <a:spLocks noGrp="1"/>
          </p:cNvSpPr>
          <p:nvPr/>
        </p:nvSpPr>
        <p:spPr>
          <a:xfrm>
            <a:off x="3617595" y="2467610"/>
            <a:ext cx="337820" cy="337820"/>
          </a:xfrm>
          <a:prstGeom prst="ellipse">
            <a:avLst/>
          </a:prstGeom>
          <a:solidFill>
            <a:srgbClr val="D1FAE5"/>
          </a:solidFill>
          <a:ln w="14288">
            <a:solidFill>
              <a:srgbClr val="10B981"/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750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50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Goal</a:t>
            </a:r>
            <a:endParaRPr sz="750" b="1">
              <a:solidFill>
                <a:srgbClr val="065F4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cxnSp>
        <p:nvCxnSpPr>
          <p:cNvPr id="79" name="直接箭头连接符 78"/>
          <p:cNvCxnSpPr>
            <a:stCxn id="9" idx="2"/>
            <a:endCxn id="8" idx="6"/>
          </p:cNvCxnSpPr>
          <p:nvPr/>
        </p:nvCxnSpPr>
        <p:spPr>
          <a:xfrm flipH="1">
            <a:off x="1288415" y="2636520"/>
            <a:ext cx="328930" cy="0"/>
          </a:xfrm>
          <a:prstGeom prst="straightConnector1">
            <a:avLst/>
          </a:prstGeom>
          <a:ln w="19050">
            <a:solidFill>
              <a:srgbClr val="EF4444"/>
            </a:solidFill>
            <a:prstDash val="dash"/>
            <a:headEnd type="triangle" w="sm" len="sm"/>
            <a:tailEnd type="none" w="med" len="med"/>
          </a:ln>
        </p:spPr>
      </p:cxnSp>
      <p:cxnSp>
        <p:nvCxnSpPr>
          <p:cNvPr id="80" name="直接箭头连接符 79"/>
          <p:cNvCxnSpPr>
            <a:stCxn id="10" idx="2"/>
            <a:endCxn id="9" idx="6"/>
          </p:cNvCxnSpPr>
          <p:nvPr/>
        </p:nvCxnSpPr>
        <p:spPr>
          <a:xfrm flipH="1">
            <a:off x="1955165" y="2636520"/>
            <a:ext cx="328930" cy="0"/>
          </a:xfrm>
          <a:prstGeom prst="straightConnector1">
            <a:avLst/>
          </a:prstGeom>
          <a:ln w="19050">
            <a:solidFill>
              <a:srgbClr val="EF4444"/>
            </a:solidFill>
            <a:prstDash val="dash"/>
            <a:headEnd type="triangle" w="sm" len="sm"/>
            <a:tailEnd type="none" w="med" len="med"/>
          </a:ln>
        </p:spPr>
      </p:cxnSp>
      <p:cxnSp>
        <p:nvCxnSpPr>
          <p:cNvPr id="81" name="直接箭头连接符 80"/>
          <p:cNvCxnSpPr>
            <a:stCxn id="11" idx="2"/>
            <a:endCxn id="10" idx="6"/>
          </p:cNvCxnSpPr>
          <p:nvPr/>
        </p:nvCxnSpPr>
        <p:spPr>
          <a:xfrm flipH="1">
            <a:off x="2621915" y="2636520"/>
            <a:ext cx="328930" cy="0"/>
          </a:xfrm>
          <a:prstGeom prst="straightConnector1">
            <a:avLst/>
          </a:prstGeom>
          <a:ln w="19050">
            <a:solidFill>
              <a:srgbClr val="F59E0B"/>
            </a:solidFill>
            <a:prstDash val="solid"/>
            <a:headEnd type="triangle" w="sm" len="sm"/>
            <a:tailEnd type="none" w="med" len="med"/>
          </a:ln>
        </p:spPr>
      </p:cxnSp>
      <p:cxnSp>
        <p:nvCxnSpPr>
          <p:cNvPr id="82" name="直接箭头连接符 81"/>
          <p:cNvCxnSpPr>
            <a:stCxn id="12" idx="2"/>
            <a:endCxn id="11" idx="6"/>
          </p:cNvCxnSpPr>
          <p:nvPr/>
        </p:nvCxnSpPr>
        <p:spPr>
          <a:xfrm flipH="1">
            <a:off x="3288665" y="2636520"/>
            <a:ext cx="328930" cy="0"/>
          </a:xfrm>
          <a:prstGeom prst="straightConnector1">
            <a:avLst/>
          </a:prstGeom>
          <a:ln w="19050">
            <a:solidFill>
              <a:srgbClr val="10B981"/>
            </a:solidFill>
            <a:prstDash val="solid"/>
            <a:headEnd type="triangle" w="sm" len="sm"/>
            <a:tailEnd type="none" w="med" len="med"/>
          </a:ln>
        </p:spPr>
      </p:cxnSp>
      <p:sp>
        <p:nvSpPr>
          <p:cNvPr id="17" name="card-445-261"/>
          <p:cNvSpPr>
            <a:spLocks noGrp="1"/>
          </p:cNvSpPr>
          <p:nvPr/>
        </p:nvSpPr>
        <p:spPr>
          <a:xfrm>
            <a:off x="4121785" y="2436495"/>
            <a:ext cx="2143125" cy="457200"/>
          </a:xfrm>
          <a:prstGeom prst="roundRect">
            <a:avLst>
              <a:gd name="adj" fmla="val 15000"/>
            </a:avLst>
          </a:prstGeom>
          <a:solidFill>
            <a:srgbClr val="FEF2F2"/>
          </a:solidFill>
          <a:ln w="14288">
            <a:solidFill>
              <a:srgbClr val="EF4444"/>
            </a:solidFill>
            <a:prstDash val="solid"/>
          </a:ln>
        </p:spPr>
        <p:txBody>
          <a:bodyPr lIns="95250" tIns="19050" rIns="47625" bIns="19050" anchor="ctr">
            <a:noAutofit/>
          </a:bodyPr>
          <a:lstStyle/>
          <a:p>
            <a:pPr algn="l">
              <a:lnSpc>
                <a:spcPct val="120000"/>
              </a:lnSpc>
              <a:buNone/>
              <a:defRPr sz="75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endParaRPr sz="850">
              <a:solidFill>
                <a:srgbClr val="DC262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8" name="card-84-337"/>
          <p:cNvSpPr>
            <a:spLocks noGrp="1"/>
          </p:cNvSpPr>
          <p:nvPr/>
        </p:nvSpPr>
        <p:spPr>
          <a:xfrm>
            <a:off x="800100" y="3209925"/>
            <a:ext cx="5627370" cy="128587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4288">
            <a:solidFill>
              <a:srgbClr val="FED7D7"/>
            </a:solidFill>
            <a:prstDash val="solid"/>
          </a:ln>
        </p:spPr>
      </p:sp>
      <p:sp>
        <p:nvSpPr>
          <p:cNvPr id="19" name="text-100-345"/>
          <p:cNvSpPr>
            <a:spLocks noGrp="1"/>
          </p:cNvSpPr>
          <p:nvPr/>
        </p:nvSpPr>
        <p:spPr>
          <a:xfrm>
            <a:off x="952500" y="3286125"/>
            <a:ext cx="523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5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2. Single-Reference Bias (Penalizing Valid Exploration)</a:t>
            </a:r>
            <a:endParaRPr sz="1050" b="1">
              <a:solidFill>
                <a:srgbClr val="B91C1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0" name="text-100-365"/>
          <p:cNvSpPr>
            <a:spLocks noGrp="1"/>
          </p:cNvSpPr>
          <p:nvPr/>
        </p:nvSpPr>
        <p:spPr>
          <a:xfrm>
            <a:off x="952500" y="3476625"/>
            <a:ext cx="5238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Agent discovers an alternative, highly efficient valid path not in the single reference trace.</a:t>
            </a:r>
            <a:endParaRPr sz="1000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1" name="text-116-392"/>
          <p:cNvSpPr>
            <a:spLocks noGrp="1"/>
          </p:cNvSpPr>
          <p:nvPr/>
        </p:nvSpPr>
        <p:spPr>
          <a:xfrm>
            <a:off x="950595" y="3757930"/>
            <a:ext cx="304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30" b="1">
                <a:solidFill>
                  <a:srgbClr val="47556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Ref: Search(Name) ➔ Call(Phone)</a:t>
            </a:r>
            <a:endParaRPr sz="1030" b="1">
              <a:solidFill>
                <a:srgbClr val="47556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2" name="text-116-424"/>
          <p:cNvSpPr>
            <a:spLocks noGrp="1"/>
          </p:cNvSpPr>
          <p:nvPr/>
        </p:nvSpPr>
        <p:spPr>
          <a:xfrm>
            <a:off x="953135" y="4029075"/>
            <a:ext cx="3048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 b="1">
                <a:solidFill>
                  <a:srgbClr val="2563E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30" b="1">
                <a:solidFill>
                  <a:srgbClr val="2563E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Agent: Filter(Date) ➔ Call(Phone)</a:t>
            </a:r>
            <a:endParaRPr sz="1030" b="1">
              <a:solidFill>
                <a:srgbClr val="2563E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3" name="card-449-400"/>
          <p:cNvSpPr>
            <a:spLocks noGrp="1"/>
          </p:cNvSpPr>
          <p:nvPr/>
        </p:nvSpPr>
        <p:spPr>
          <a:xfrm>
            <a:off x="4121150" y="3810000"/>
            <a:ext cx="2143760" cy="495300"/>
          </a:xfrm>
          <a:prstGeom prst="roundRect">
            <a:avLst>
              <a:gd name="adj" fmla="val 11538"/>
            </a:avLst>
          </a:prstGeom>
          <a:solidFill>
            <a:srgbClr val="FEF2F2"/>
          </a:solidFill>
          <a:ln w="14288">
            <a:solidFill>
              <a:srgbClr val="EF4444"/>
            </a:solidFill>
            <a:prstDash val="solid"/>
          </a:ln>
        </p:spPr>
        <p:txBody>
          <a:bodyPr lIns="95250" tIns="19050" rIns="47625" bIns="19050" anchor="ctr">
            <a:noAutofit/>
          </a:bodyPr>
          <a:lstStyle/>
          <a:p>
            <a:pPr algn="l">
              <a:lnSpc>
                <a:spcPct val="120000"/>
              </a:lnSpc>
              <a:buNone/>
              <a:defRPr sz="715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0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Trajectory Sim = 0.12 (Fail!)</a:t>
            </a:r>
            <a:endParaRPr sz="820" b="1">
              <a:solidFill>
                <a:srgbClr val="991B1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20000"/>
              </a:lnSpc>
              <a:buNone/>
              <a:defRPr sz="715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20">
                <a:solidFill>
                  <a:srgbClr val="DC262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⚠</a:t>
            </a:r>
            <a:r>
              <a:rPr lang="en-US" sz="820">
                <a:solidFill>
                  <a:srgbClr val="DC262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  </a:t>
            </a:r>
            <a:r>
              <a:rPr sz="820">
                <a:solidFill>
                  <a:srgbClr val="DC262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Correct outcome rejected
due to rigid single-path alignment</a:t>
            </a:r>
            <a:endParaRPr sz="820">
              <a:solidFill>
                <a:srgbClr val="DC262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4" name="card-84-487"/>
          <p:cNvSpPr>
            <a:spLocks noGrp="1"/>
          </p:cNvSpPr>
          <p:nvPr/>
        </p:nvSpPr>
        <p:spPr>
          <a:xfrm>
            <a:off x="800100" y="4638675"/>
            <a:ext cx="5627370" cy="138112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4288">
            <a:solidFill>
              <a:srgbClr val="FED7D7"/>
            </a:solidFill>
            <a:prstDash val="solid"/>
          </a:ln>
        </p:spPr>
      </p:sp>
      <p:sp>
        <p:nvSpPr>
          <p:cNvPr id="25" name="text-100-495"/>
          <p:cNvSpPr>
            <a:spLocks noGrp="1"/>
          </p:cNvSpPr>
          <p:nvPr/>
        </p:nvSpPr>
        <p:spPr>
          <a:xfrm>
            <a:off x="952500" y="4714875"/>
            <a:ext cx="523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5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3. Delayed Evaluation &amp; Wasteful Execution Runout</a:t>
            </a:r>
            <a:endParaRPr sz="1050" b="1">
              <a:solidFill>
                <a:srgbClr val="B91C1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6" name="text-100-515"/>
          <p:cNvSpPr>
            <a:spLocks noGrp="1"/>
          </p:cNvSpPr>
          <p:nvPr/>
        </p:nvSpPr>
        <p:spPr>
          <a:xfrm>
            <a:off x="950595" y="4915535"/>
            <a:ext cx="5238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Agent derails into infinite parameter loops at turn 18, but harness runs blindly to turn 100.</a:t>
            </a:r>
            <a:endParaRPr sz="1000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27" name="card-100-569"/>
          <p:cNvSpPr>
            <a:spLocks noGrp="1"/>
          </p:cNvSpPr>
          <p:nvPr/>
        </p:nvSpPr>
        <p:spPr>
          <a:xfrm>
            <a:off x="952500" y="5372100"/>
            <a:ext cx="5238750" cy="219075"/>
          </a:xfrm>
          <a:prstGeom prst="roundRect">
            <a:avLst>
              <a:gd name="adj" fmla="val 33333"/>
            </a:avLst>
          </a:prstGeom>
          <a:solidFill>
            <a:srgbClr val="FEE2E2"/>
          </a:solidFill>
          <a:ln w="0">
            <a:noFill/>
            <a:prstDash val="solid"/>
          </a:ln>
        </p:spPr>
      </p:sp>
      <p:sp>
        <p:nvSpPr>
          <p:cNvPr id="28" name="card-100-569"/>
          <p:cNvSpPr>
            <a:spLocks noGrp="1"/>
          </p:cNvSpPr>
          <p:nvPr/>
        </p:nvSpPr>
        <p:spPr>
          <a:xfrm>
            <a:off x="952500" y="5372100"/>
            <a:ext cx="952500" cy="219075"/>
          </a:xfrm>
          <a:prstGeom prst="roundRect">
            <a:avLst>
              <a:gd name="adj" fmla="val 33333"/>
            </a:avLst>
          </a:prstGeom>
          <a:solidFill>
            <a:srgbClr val="FCA5A5"/>
          </a:solidFill>
          <a:ln w="0">
            <a:noFill/>
            <a:prstDash val="solid"/>
          </a:ln>
        </p:spPr>
      </p:sp>
      <p:sp>
        <p:nvSpPr>
          <p:cNvPr id="29" name="card-200-569"/>
          <p:cNvSpPr>
            <a:spLocks noGrp="1"/>
          </p:cNvSpPr>
          <p:nvPr/>
        </p:nvSpPr>
        <p:spPr>
          <a:xfrm>
            <a:off x="1905000" y="5372100"/>
            <a:ext cx="4286250" cy="219075"/>
          </a:xfrm>
          <a:prstGeom prst="rect">
            <a:avLst/>
          </a:prstGeom>
          <a:noFill/>
          <a:ln w="9525">
            <a:solidFill>
              <a:srgbClr val="F87171"/>
            </a:solidFill>
            <a:prstDash val="dash"/>
          </a:ln>
        </p:spPr>
      </p:sp>
      <p:sp>
        <p:nvSpPr>
          <p:cNvPr id="31" name="text-180-597"/>
          <p:cNvSpPr>
            <a:spLocks noGrp="1"/>
          </p:cNvSpPr>
          <p:nvPr/>
        </p:nvSpPr>
        <p:spPr>
          <a:xfrm>
            <a:off x="1619250" y="5686425"/>
            <a:ext cx="857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75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50" b="1">
                <a:solidFill>
                  <a:srgbClr val="B91C1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Step 18 (Stuck)</a:t>
            </a:r>
            <a:endParaRPr sz="850" b="1">
              <a:solidFill>
                <a:srgbClr val="B91C1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2" name="text-260-572"/>
          <p:cNvSpPr>
            <a:spLocks noGrp="1"/>
          </p:cNvSpPr>
          <p:nvPr/>
        </p:nvSpPr>
        <p:spPr>
          <a:xfrm>
            <a:off x="2476500" y="5410835"/>
            <a:ext cx="3333750" cy="1708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750" b="1">
                <a:solidFill>
                  <a:srgbClr val="DC2626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50" b="1">
                <a:solidFill>
                  <a:srgbClr val="DC262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Wasteful Prefix: 82 turns, 185s, 32k tokens squandered</a:t>
            </a:r>
            <a:endParaRPr sz="850" b="1">
              <a:solidFill>
                <a:srgbClr val="DC262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3" name="text-520-597"/>
          <p:cNvSpPr>
            <a:spLocks noGrp="1"/>
          </p:cNvSpPr>
          <p:nvPr/>
        </p:nvSpPr>
        <p:spPr>
          <a:xfrm>
            <a:off x="4953000" y="5686425"/>
            <a:ext cx="123698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750" b="1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50" b="1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Step 100 (Timeout)</a:t>
            </a:r>
            <a:endParaRPr sz="850" b="1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4" name="panel-750-115"/>
          <p:cNvSpPr>
            <a:spLocks noGrp="1"/>
          </p:cNvSpPr>
          <p:nvPr/>
        </p:nvSpPr>
        <p:spPr>
          <a:xfrm>
            <a:off x="7029450" y="1099185"/>
            <a:ext cx="6000750" cy="5135245"/>
          </a:xfrm>
          <a:prstGeom prst="roundRect">
            <a:avLst>
              <a:gd name="adj" fmla="val 2936"/>
            </a:avLst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35" name="panel-750-115"/>
          <p:cNvSpPr>
            <a:spLocks noGrp="1"/>
          </p:cNvSpPr>
          <p:nvPr/>
        </p:nvSpPr>
        <p:spPr>
          <a:xfrm>
            <a:off x="7029450" y="1099185"/>
            <a:ext cx="6000750" cy="495300"/>
          </a:xfrm>
          <a:prstGeom prst="roundRect">
            <a:avLst>
              <a:gd name="adj" fmla="val 30769"/>
            </a:avLst>
          </a:prstGeom>
          <a:solidFill>
            <a:srgbClr val="DCFCE7"/>
          </a:solidFill>
          <a:ln w="9525">
            <a:solidFill>
              <a:srgbClr val="BBF7D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10">
            <a:srgbClr val="FFFFFF"/>
          </a:effectRef>
          <a:fontRef idx="major"/>
        </p:style>
      </p:sp>
      <p:sp>
        <p:nvSpPr>
          <p:cNvPr id="36" name="circle-770-129"/>
          <p:cNvSpPr>
            <a:spLocks noGrp="1"/>
          </p:cNvSpPr>
          <p:nvPr/>
        </p:nvSpPr>
        <p:spPr>
          <a:xfrm>
            <a:off x="7219950" y="1232535"/>
            <a:ext cx="228600" cy="228600"/>
          </a:xfrm>
          <a:prstGeom prst="ellipse">
            <a:avLst/>
          </a:prstGeom>
          <a:solidFill>
            <a:srgbClr val="10B981"/>
          </a:solidFill>
          <a:ln w="14288">
            <a:solidFill>
              <a:srgbClr val="10B981"/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75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✓</a:t>
            </a:r>
            <a:endParaRPr sz="975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7" name="text-804-123"/>
          <p:cNvSpPr>
            <a:spLocks noGrp="1"/>
          </p:cNvSpPr>
          <p:nvPr/>
        </p:nvSpPr>
        <p:spPr>
          <a:xfrm>
            <a:off x="7543800" y="1232535"/>
            <a:ext cx="542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4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4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(b) DynSTEER: Targeted Stage Review &amp; Proactive Control</a:t>
            </a:r>
            <a:endParaRPr sz="1240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38" name="card-774-187"/>
          <p:cNvSpPr>
            <a:spLocks noGrp="1"/>
          </p:cNvSpPr>
          <p:nvPr/>
        </p:nvSpPr>
        <p:spPr>
          <a:xfrm>
            <a:off x="7258050" y="1784985"/>
            <a:ext cx="5543550" cy="128587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4288">
            <a:solidFill>
              <a:srgbClr val="BBF7D0"/>
            </a:solidFill>
            <a:prstDash val="solid"/>
          </a:ln>
        </p:spPr>
      </p:sp>
      <p:sp>
        <p:nvSpPr>
          <p:cNvPr id="39" name="text-790-195"/>
          <p:cNvSpPr>
            <a:spLocks noGrp="1"/>
          </p:cNvSpPr>
          <p:nvPr/>
        </p:nvSpPr>
        <p:spPr>
          <a:xfrm>
            <a:off x="7410450" y="1861185"/>
            <a:ext cx="523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5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1. Targeted Stage-wise Review with Rich Trajectory Context</a:t>
            </a:r>
            <a:endParaRPr sz="1050" b="1">
              <a:solidFill>
                <a:srgbClr val="15803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0" name="text-790-215"/>
          <p:cNvSpPr>
            <a:spLocks noGrp="1"/>
          </p:cNvSpPr>
          <p:nvPr/>
        </p:nvSpPr>
        <p:spPr>
          <a:xfrm>
            <a:off x="7410450" y="2051685"/>
            <a:ext cx="5238750" cy="3498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marL="71755" indent="0" algn="l" fontAlgn="auto">
              <a:lnSpc>
                <a:spcPct val="105000"/>
              </a:lnSpc>
              <a:buNone/>
              <a:defRPr sz="9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Focuses on essential milestones with adequate context</a:t>
            </a:r>
            <a:r>
              <a:rPr lang="en-US"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. </a:t>
            </a:r>
            <a:endParaRPr lang="en-US" sz="1000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marL="71755" indent="0" algn="l" fontAlgn="auto">
              <a:lnSpc>
                <a:spcPct val="105000"/>
              </a:lnSpc>
              <a:buNone/>
              <a:defRPr sz="9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lang="en-US"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D</a:t>
            </a:r>
            <a:r>
              <a:rPr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ynamically adapts strategy toward weak links.</a:t>
            </a:r>
            <a:endParaRPr sz="1000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1" name="card-790-272"/>
          <p:cNvSpPr>
            <a:spLocks noGrp="1"/>
          </p:cNvSpPr>
          <p:nvPr/>
        </p:nvSpPr>
        <p:spPr>
          <a:xfrm>
            <a:off x="7410450" y="2440305"/>
            <a:ext cx="1143000" cy="4191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14288">
            <a:solidFill>
              <a:srgbClr val="CBD5E1"/>
            </a:solidFill>
            <a:prstDash val="solid"/>
          </a:ln>
        </p:spPr>
        <p:txBody>
          <a:bodyPr lIns="95250" tIns="19050" rIns="38100" bIns="19050" anchor="ctr">
            <a:noAutofit/>
          </a:bodyPr>
          <a:lstStyle/>
          <a:p>
            <a:pPr algn="l">
              <a:lnSpc>
                <a:spcPct val="120000"/>
              </a:lnSpc>
              <a:buNone/>
              <a:defRPr sz="75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5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Stage 1 [s0 ➔ M1]</a:t>
            </a:r>
            <a:endParaRPr sz="750" b="1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20000"/>
              </a:lnSpc>
              <a:buNone/>
              <a:defRPr sz="75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50">
                <a:solidFill>
                  <a:srgbClr val="10B981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Correctness: 1.0 ✓</a:t>
            </a:r>
            <a:endParaRPr sz="750">
              <a:solidFill>
                <a:srgbClr val="10B981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2" name="card-945-272"/>
          <p:cNvSpPr>
            <a:spLocks noGrp="1"/>
          </p:cNvSpPr>
          <p:nvPr/>
        </p:nvSpPr>
        <p:spPr>
          <a:xfrm>
            <a:off x="8886825" y="2440305"/>
            <a:ext cx="1571625" cy="419100"/>
          </a:xfrm>
          <a:prstGeom prst="roundRect">
            <a:avLst>
              <a:gd name="adj" fmla="val 13636"/>
            </a:avLst>
          </a:prstGeom>
          <a:solidFill>
            <a:srgbClr val="FEF2F2"/>
          </a:solidFill>
          <a:ln w="14288">
            <a:solidFill>
              <a:srgbClr val="EF4444"/>
            </a:solidFill>
            <a:prstDash val="solid"/>
          </a:ln>
        </p:spPr>
        <p:txBody>
          <a:bodyPr lIns="76200" tIns="19050" rIns="38100" bIns="19050" anchor="ctr">
            <a:noAutofit/>
          </a:bodyPr>
          <a:lstStyle/>
          <a:p>
            <a:pPr algn="l">
              <a:lnSpc>
                <a:spcPct val="120000"/>
              </a:lnSpc>
              <a:buNone/>
              <a:defRPr sz="715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15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Stage 2 [M1 ➔ M2] (Targeted)</a:t>
            </a:r>
            <a:endParaRPr sz="715" b="1">
              <a:solidFill>
                <a:srgbClr val="991B1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20000"/>
              </a:lnSpc>
              <a:buNone/>
              <a:defRPr sz="715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15" b="1">
                <a:solidFill>
                  <a:srgbClr val="DC262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⚠️ First Error Isolated at Step 3!</a:t>
            </a:r>
            <a:endParaRPr sz="715" b="1">
              <a:solidFill>
                <a:srgbClr val="DC262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3" name="card-1125-272"/>
          <p:cNvSpPr>
            <a:spLocks noGrp="1"/>
          </p:cNvSpPr>
          <p:nvPr/>
        </p:nvSpPr>
        <p:spPr>
          <a:xfrm>
            <a:off x="10775950" y="2399030"/>
            <a:ext cx="1878965" cy="495300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14288">
            <a:solidFill>
              <a:srgbClr val="10B981"/>
            </a:solidFill>
            <a:prstDash val="solid"/>
          </a:ln>
        </p:spPr>
        <p:txBody>
          <a:bodyPr lIns="95250" tIns="19050" rIns="47625" bIns="19050" anchor="ctr">
            <a:noAutofit/>
          </a:bodyPr>
          <a:lstStyle/>
          <a:p>
            <a:pPr indent="0" algn="l" fontAlgn="auto">
              <a:lnSpc>
                <a:spcPct val="115000"/>
              </a:lnSpc>
              <a:buNone/>
              <a:defRPr sz="675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0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Dynamic Strategy Escalation</a:t>
            </a:r>
            <a:endParaRPr sz="800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indent="0" algn="l" fontAlgn="auto">
              <a:lnSpc>
                <a:spcPct val="115000"/>
              </a:lnSpc>
              <a:buNone/>
              <a:defRPr sz="675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00">
                <a:solidFill>
                  <a:srgbClr val="04785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✓ Focuses on agent's weak link
Sufficient Context: Avoids Step Noise</a:t>
            </a:r>
            <a:endParaRPr sz="800">
              <a:solidFill>
                <a:srgbClr val="04785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cxnSp>
        <p:nvCxnSpPr>
          <p:cNvPr id="110" name="直接箭头连接符 109"/>
          <p:cNvCxnSpPr>
            <a:stCxn id="42" idx="1"/>
            <a:endCxn id="41" idx="3"/>
          </p:cNvCxnSpPr>
          <p:nvPr/>
        </p:nvCxnSpPr>
        <p:spPr>
          <a:xfrm flipH="1">
            <a:off x="8553450" y="2649855"/>
            <a:ext cx="333375" cy="0"/>
          </a:xfrm>
          <a:prstGeom prst="straightConnector1">
            <a:avLst/>
          </a:prstGeom>
          <a:ln w="19050">
            <a:solidFill>
              <a:srgbClr val="10B981"/>
            </a:solidFill>
            <a:prstDash val="solid"/>
            <a:headEnd type="triangle" w="sm" len="sm"/>
            <a:tailEnd type="none" w="med" len="med"/>
          </a:ln>
        </p:spPr>
      </p:cxnSp>
      <p:sp>
        <p:nvSpPr>
          <p:cNvPr id="45" name="card-774-337"/>
          <p:cNvSpPr>
            <a:spLocks noGrp="1"/>
          </p:cNvSpPr>
          <p:nvPr/>
        </p:nvSpPr>
        <p:spPr>
          <a:xfrm>
            <a:off x="7258050" y="3213735"/>
            <a:ext cx="5543550" cy="128587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4288">
            <a:solidFill>
              <a:srgbClr val="BBF7D0"/>
            </a:solidFill>
            <a:prstDash val="solid"/>
          </a:ln>
        </p:spPr>
      </p:sp>
      <p:sp>
        <p:nvSpPr>
          <p:cNvPr id="46" name="text-790-345"/>
          <p:cNvSpPr>
            <a:spLocks noGrp="1"/>
          </p:cNvSpPr>
          <p:nvPr/>
        </p:nvSpPr>
        <p:spPr>
          <a:xfrm>
            <a:off x="7410450" y="3289935"/>
            <a:ext cx="523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5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2. Path-Tolerant Milestone DAG (Simulated Planning)</a:t>
            </a:r>
            <a:endParaRPr sz="1050" b="1">
              <a:solidFill>
                <a:srgbClr val="15803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7" name="text-790-365"/>
          <p:cNvSpPr>
            <a:spLocks noGrp="1"/>
          </p:cNvSpPr>
          <p:nvPr/>
        </p:nvSpPr>
        <p:spPr>
          <a:xfrm>
            <a:off x="7410450" y="3480435"/>
            <a:ext cx="5238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Aggregates multiple public candidates; respects diverse valid exploratory branches.</a:t>
            </a:r>
            <a:endParaRPr sz="1000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8" name="circle-841-409"/>
          <p:cNvSpPr>
            <a:spLocks noGrp="1"/>
          </p:cNvSpPr>
          <p:nvPr/>
        </p:nvSpPr>
        <p:spPr>
          <a:xfrm>
            <a:off x="7410450" y="3899535"/>
            <a:ext cx="266700" cy="266700"/>
          </a:xfrm>
          <a:prstGeom prst="ellipse">
            <a:avLst/>
          </a:prstGeom>
          <a:solidFill>
            <a:srgbClr val="E2E8F0"/>
          </a:solidFill>
          <a:ln w="14288">
            <a:solidFill>
              <a:srgbClr val="94A3B8"/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75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50" b="1">
                <a:solidFill>
                  <a:srgbClr val="334155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s0</a:t>
            </a:r>
            <a:endParaRPr sz="750" b="1">
              <a:solidFill>
                <a:srgbClr val="334155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49" name="card-901-399"/>
          <p:cNvSpPr>
            <a:spLocks noGrp="1"/>
          </p:cNvSpPr>
          <p:nvPr/>
        </p:nvSpPr>
        <p:spPr>
          <a:xfrm>
            <a:off x="8039735" y="3767455"/>
            <a:ext cx="904875" cy="2286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>
            <a:solidFill>
              <a:srgbClr val="3B82F6"/>
            </a:solidFill>
            <a:prstDash val="solid"/>
          </a:ln>
        </p:spPr>
        <p:txBody>
          <a:bodyPr wrap="square" lIns="57150" tIns="9525" rIns="38100" bIns="9525" anchor="ctr">
            <a:noAutofit/>
          </a:bodyPr>
          <a:lstStyle/>
          <a:p>
            <a:pPr algn="ctr">
              <a:defRPr sz="67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75" b="1">
                <a:solidFill>
                  <a:srgbClr val="1E40A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Search(Name)</a:t>
            </a:r>
            <a:endParaRPr sz="675" b="1">
              <a:solidFill>
                <a:srgbClr val="1E40A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0" name="card-901-427"/>
          <p:cNvSpPr>
            <a:spLocks noGrp="1"/>
          </p:cNvSpPr>
          <p:nvPr/>
        </p:nvSpPr>
        <p:spPr>
          <a:xfrm>
            <a:off x="8039735" y="4127500"/>
            <a:ext cx="904875" cy="22860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9525">
            <a:solidFill>
              <a:srgbClr val="10B981"/>
            </a:solidFill>
            <a:prstDash val="solid"/>
          </a:ln>
        </p:spPr>
        <p:txBody>
          <a:bodyPr wrap="square" lIns="57150" tIns="9525" rIns="38100" bIns="9525" anchor="ctr">
            <a:noAutofit/>
          </a:bodyPr>
          <a:lstStyle/>
          <a:p>
            <a:pPr algn="ctr">
              <a:defRPr sz="67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7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Filter(Date)</a:t>
            </a:r>
            <a:endParaRPr sz="675" b="1">
              <a:solidFill>
                <a:srgbClr val="065F4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1" name="circle-1006-409"/>
          <p:cNvSpPr>
            <a:spLocks noGrp="1"/>
          </p:cNvSpPr>
          <p:nvPr/>
        </p:nvSpPr>
        <p:spPr>
          <a:xfrm>
            <a:off x="9479915" y="3899535"/>
            <a:ext cx="266700" cy="266700"/>
          </a:xfrm>
          <a:prstGeom prst="ellipse">
            <a:avLst/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750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50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Call</a:t>
            </a:r>
            <a:endParaRPr sz="750" b="1">
              <a:solidFill>
                <a:srgbClr val="065F4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2" name="card-1055-405"/>
          <p:cNvSpPr>
            <a:spLocks noGrp="1"/>
          </p:cNvSpPr>
          <p:nvPr/>
        </p:nvSpPr>
        <p:spPr>
          <a:xfrm>
            <a:off x="10770870" y="3861435"/>
            <a:ext cx="1878330" cy="419100"/>
          </a:xfrm>
          <a:prstGeom prst="roundRect">
            <a:avLst>
              <a:gd name="adj" fmla="val 13636"/>
            </a:avLst>
          </a:prstGeom>
          <a:solidFill>
            <a:srgbClr val="F0FDF4"/>
          </a:solidFill>
          <a:ln w="14288">
            <a:solidFill>
              <a:srgbClr val="10B981"/>
            </a:solidFill>
            <a:prstDash val="solid"/>
          </a:ln>
        </p:spPr>
        <p:txBody>
          <a:bodyPr lIns="95250" tIns="19050" rIns="47625" bIns="19050" anchor="ctr">
            <a:noAutofit/>
          </a:bodyPr>
          <a:lstStyle/>
          <a:p>
            <a:pPr algn="l">
              <a:lnSpc>
                <a:spcPct val="120000"/>
              </a:lnSpc>
              <a:buNone/>
              <a:defRPr sz="75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50" b="1">
                <a:solidFill>
                  <a:srgbClr val="166534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Both Paths Accepted (Pass!)</a:t>
            </a:r>
            <a:endParaRPr sz="850" b="1">
              <a:solidFill>
                <a:srgbClr val="166534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l">
              <a:lnSpc>
                <a:spcPct val="120000"/>
              </a:lnSpc>
              <a:buNone/>
              <a:defRPr sz="75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50">
                <a:solidFill>
                  <a:srgbClr val="047857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✓ Preserves LLM agent exploration</a:t>
            </a:r>
            <a:endParaRPr sz="850">
              <a:solidFill>
                <a:srgbClr val="047857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7" name="card-774-487"/>
          <p:cNvSpPr>
            <a:spLocks noGrp="1"/>
          </p:cNvSpPr>
          <p:nvPr/>
        </p:nvSpPr>
        <p:spPr>
          <a:xfrm>
            <a:off x="7258050" y="4642485"/>
            <a:ext cx="5543550" cy="1381125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4288">
            <a:solidFill>
              <a:srgbClr val="BBF7D0"/>
            </a:solidFill>
            <a:prstDash val="solid"/>
          </a:ln>
        </p:spPr>
      </p:sp>
      <p:sp>
        <p:nvSpPr>
          <p:cNvPr id="58" name="text-790-495"/>
          <p:cNvSpPr>
            <a:spLocks noGrp="1"/>
          </p:cNvSpPr>
          <p:nvPr/>
        </p:nvSpPr>
        <p:spPr>
          <a:xfrm>
            <a:off x="7410450" y="4718685"/>
            <a:ext cx="523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50" b="1">
                <a:solidFill>
                  <a:srgbClr val="15803D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3. Proactive Execution Control: Adaptive Early Termination</a:t>
            </a:r>
            <a:endParaRPr sz="1050" b="1">
              <a:solidFill>
                <a:srgbClr val="15803D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59" name="text-790-515"/>
          <p:cNvSpPr>
            <a:spLocks noGrp="1"/>
          </p:cNvSpPr>
          <p:nvPr/>
        </p:nvSpPr>
        <p:spPr>
          <a:xfrm>
            <a:off x="7410450" y="4909185"/>
            <a:ext cx="5238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00">
                <a:solidFill>
                  <a:srgbClr val="64748B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Halts deadlocks &amp; fatal violations during execution; surfaces failure diagnostics immediately.</a:t>
            </a:r>
            <a:endParaRPr sz="1000">
              <a:solidFill>
                <a:srgbClr val="64748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0" name="card-790-569"/>
          <p:cNvSpPr>
            <a:spLocks noGrp="1"/>
          </p:cNvSpPr>
          <p:nvPr/>
        </p:nvSpPr>
        <p:spPr>
          <a:xfrm>
            <a:off x="7416165" y="5394960"/>
            <a:ext cx="5238750" cy="179705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 w="0">
            <a:noFill/>
            <a:prstDash val="solid"/>
          </a:ln>
        </p:spPr>
      </p:sp>
      <p:sp>
        <p:nvSpPr>
          <p:cNvPr id="61" name="card-790-569"/>
          <p:cNvSpPr>
            <a:spLocks noGrp="1"/>
          </p:cNvSpPr>
          <p:nvPr/>
        </p:nvSpPr>
        <p:spPr>
          <a:xfrm>
            <a:off x="7410450" y="5376545"/>
            <a:ext cx="952500" cy="218440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 w="0">
            <a:noFill/>
            <a:prstDash val="solid"/>
          </a:ln>
        </p:spPr>
      </p:sp>
      <p:sp>
        <p:nvSpPr>
          <p:cNvPr id="63" name="card-845-541"/>
          <p:cNvSpPr>
            <a:spLocks noGrp="1"/>
          </p:cNvSpPr>
          <p:nvPr/>
        </p:nvSpPr>
        <p:spPr>
          <a:xfrm>
            <a:off x="7810500" y="5156835"/>
            <a:ext cx="1076325" cy="171450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 w="0">
            <a:noFill/>
            <a:prstDash val="solid"/>
          </a:ln>
        </p:spPr>
        <p:txBody>
          <a:bodyPr wrap="square" lIns="57150" tIns="9525" rIns="38100" bIns="9525" anchor="ctr">
            <a:noAutofit/>
          </a:bodyPr>
          <a:lstStyle/>
          <a:p>
            <a:pPr algn="ctr">
              <a:defRPr sz="7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50" b="1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STOP AT STEP 18</a:t>
            </a:r>
            <a:endParaRPr sz="850" b="1">
              <a:solidFill>
                <a:srgbClr val="FFFF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4" name="card-905-564"/>
          <p:cNvSpPr>
            <a:spLocks noGrp="1"/>
          </p:cNvSpPr>
          <p:nvPr/>
        </p:nvSpPr>
        <p:spPr>
          <a:xfrm>
            <a:off x="8505825" y="5375910"/>
            <a:ext cx="4095750" cy="219075"/>
          </a:xfrm>
          <a:prstGeom prst="roundRect">
            <a:avLst>
              <a:gd name="adj" fmla="val 21429"/>
            </a:avLst>
          </a:prstGeom>
          <a:solidFill>
            <a:srgbClr val="ECFDF5"/>
          </a:solidFill>
          <a:ln w="14288">
            <a:solidFill>
              <a:srgbClr val="10B981"/>
            </a:solidFill>
            <a:prstDash val="dash"/>
          </a:ln>
        </p:spPr>
      </p:sp>
      <p:sp>
        <p:nvSpPr>
          <p:cNvPr id="65" name="text-925-571"/>
          <p:cNvSpPr>
            <a:spLocks noGrp="1"/>
          </p:cNvSpPr>
          <p:nvPr/>
        </p:nvSpPr>
        <p:spPr>
          <a:xfrm>
            <a:off x="8696325" y="5414645"/>
            <a:ext cx="3810000" cy="160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30" b="1">
                <a:solidFill>
                  <a:srgbClr val="065F46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⚡ SAVED 82 TURNS (82% Execution Time &amp; 32k Tokens Saved)</a:t>
            </a:r>
            <a:endParaRPr sz="930" b="1">
              <a:solidFill>
                <a:srgbClr val="065F46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6" name="text-800-599"/>
          <p:cNvSpPr>
            <a:spLocks noGrp="1"/>
          </p:cNvSpPr>
          <p:nvPr/>
        </p:nvSpPr>
        <p:spPr>
          <a:xfrm>
            <a:off x="7505700" y="5709285"/>
            <a:ext cx="4286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825" b="1">
                <a:solidFill>
                  <a:srgbClr val="0F172A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930" b="1">
                <a:solidFill>
                  <a:srgbClr val="0F172A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Reason: Frontier Deadlock detected across ready milestones.</a:t>
            </a:r>
            <a:endParaRPr sz="930" b="1">
              <a:solidFill>
                <a:srgbClr val="0F172A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170680" y="2467610"/>
            <a:ext cx="2027555" cy="3860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20000"/>
              </a:lnSpc>
              <a:buNone/>
              <a:defRPr sz="75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00" b="1">
                <a:solidFill>
                  <a:srgbClr val="991B1B"/>
                </a:solidFill>
                <a:latin typeface="Segoe UI" panose="020B0502040204020203"/>
                <a:ea typeface="Segoe UI" panose="020B0502040204020203"/>
                <a:cs typeface="Segoe UI" panose="020B0502040204020203"/>
                <a:sym typeface="+mn-ea"/>
              </a:rPr>
              <a:t>Terminal: 1.0 (Blind to flaws)</a:t>
            </a:r>
            <a:endParaRPr sz="800" b="1">
              <a:solidFill>
                <a:srgbClr val="991B1B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indent="0" algn="l" fontAlgn="auto">
              <a:lnSpc>
                <a:spcPct val="120000"/>
              </a:lnSpc>
              <a:buNone/>
              <a:defRPr sz="750"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800">
                <a:solidFill>
                  <a:srgbClr val="DC2626"/>
                </a:solidFill>
                <a:latin typeface="Segoe UI" panose="020B0502040204020203"/>
                <a:ea typeface="Segoe UI" panose="020B0502040204020203"/>
                <a:cs typeface="Segoe UI" panose="020B0502040204020203"/>
                <a:sym typeface="+mn-ea"/>
              </a:rPr>
              <a:t>⚠</a:t>
            </a:r>
            <a:r>
              <a:rPr lang="en-US" sz="800">
                <a:solidFill>
                  <a:srgbClr val="DC2626"/>
                </a:solidFill>
                <a:latin typeface="Segoe UI" panose="020B0502040204020203"/>
                <a:ea typeface="Segoe UI" panose="020B0502040204020203"/>
                <a:cs typeface="Segoe UI" panose="020B0502040204020203"/>
                <a:sym typeface="+mn-ea"/>
              </a:rPr>
              <a:t>  </a:t>
            </a:r>
            <a:r>
              <a:rPr sz="800">
                <a:solidFill>
                  <a:srgbClr val="DC2626"/>
                </a:solidFill>
                <a:latin typeface="Segoe UI" panose="020B0502040204020203"/>
                <a:ea typeface="Segoe UI" panose="020B0502040204020203"/>
                <a:cs typeface="Segoe UI" panose="020B0502040204020203"/>
                <a:sym typeface="+mn-ea"/>
              </a:rPr>
              <a:t>Cannot target weak links or intervene</a:t>
            </a:r>
            <a:endParaRPr lang="zh-CN" altLang="en-US" sz="800">
              <a:solidFill>
                <a:srgbClr val="DC2626"/>
              </a:solidFill>
              <a:latin typeface="Segoe UI" panose="020B0502040204020203"/>
              <a:ea typeface="Segoe UI" panose="020B0502040204020203"/>
              <a:cs typeface="Segoe UI" panose="020B0502040204020203"/>
              <a:sym typeface="+mn-ea"/>
            </a:endParaRPr>
          </a:p>
        </p:txBody>
      </p:sp>
      <p:cxnSp>
        <p:nvCxnSpPr>
          <p:cNvPr id="15" name="直接箭头连接符 14"/>
          <p:cNvCxnSpPr>
            <a:stCxn id="48" idx="6"/>
            <a:endCxn id="49" idx="1"/>
          </p:cNvCxnSpPr>
          <p:nvPr/>
        </p:nvCxnSpPr>
        <p:spPr>
          <a:xfrm flipV="1">
            <a:off x="7677150" y="3881755"/>
            <a:ext cx="362585" cy="151130"/>
          </a:xfrm>
          <a:prstGeom prst="straightConnector1">
            <a:avLst/>
          </a:prstGeom>
          <a:ln w="19050">
            <a:solidFill>
              <a:srgbClr val="3B82F6"/>
            </a:solidFill>
            <a:prstDash val="solid"/>
            <a:headEnd type="none" w="sm" len="sm"/>
            <a:tailEnd type="triangle" w="med" len="med"/>
          </a:ln>
        </p:spPr>
      </p:cxnSp>
      <p:cxnSp>
        <p:nvCxnSpPr>
          <p:cNvPr id="16" name="直接箭头连接符 15"/>
          <p:cNvCxnSpPr>
            <a:stCxn id="48" idx="6"/>
            <a:endCxn id="50" idx="1"/>
          </p:cNvCxnSpPr>
          <p:nvPr/>
        </p:nvCxnSpPr>
        <p:spPr>
          <a:xfrm>
            <a:off x="7677150" y="4032885"/>
            <a:ext cx="362585" cy="208915"/>
          </a:xfrm>
          <a:prstGeom prst="straightConnector1">
            <a:avLst/>
          </a:prstGeom>
          <a:ln w="19050">
            <a:solidFill>
              <a:srgbClr val="10B980"/>
            </a:solidFill>
            <a:prstDash val="solid"/>
            <a:headEnd type="none" w="sm" len="sm"/>
            <a:tailEnd type="triangle" w="med" len="med"/>
          </a:ln>
        </p:spPr>
      </p:cxnSp>
      <p:cxnSp>
        <p:nvCxnSpPr>
          <p:cNvPr id="44" name="直接箭头连接符 43"/>
          <p:cNvCxnSpPr>
            <a:stCxn id="49" idx="3"/>
            <a:endCxn id="51" idx="2"/>
          </p:cNvCxnSpPr>
          <p:nvPr/>
        </p:nvCxnSpPr>
        <p:spPr>
          <a:xfrm>
            <a:off x="8944610" y="3881755"/>
            <a:ext cx="535305" cy="151130"/>
          </a:xfrm>
          <a:prstGeom prst="straightConnector1">
            <a:avLst/>
          </a:prstGeom>
          <a:ln w="19050">
            <a:solidFill>
              <a:srgbClr val="3B82F6"/>
            </a:solidFill>
            <a:prstDash val="solid"/>
            <a:headEnd type="none" w="sm" len="sm"/>
            <a:tailEnd type="triangle" w="med" len="med"/>
          </a:ln>
        </p:spPr>
      </p:cxnSp>
      <p:cxnSp>
        <p:nvCxnSpPr>
          <p:cNvPr id="53" name="直接箭头连接符 52"/>
          <p:cNvCxnSpPr>
            <a:stCxn id="50" idx="3"/>
            <a:endCxn id="51" idx="2"/>
          </p:cNvCxnSpPr>
          <p:nvPr/>
        </p:nvCxnSpPr>
        <p:spPr>
          <a:xfrm flipV="1">
            <a:off x="8944610" y="4032885"/>
            <a:ext cx="535305" cy="208915"/>
          </a:xfrm>
          <a:prstGeom prst="straightConnector1">
            <a:avLst/>
          </a:prstGeom>
          <a:ln w="19050">
            <a:solidFill>
              <a:srgbClr val="10B980"/>
            </a:solidFill>
            <a:prstDash val="solid"/>
            <a:headEnd type="none" w="sm" len="sm"/>
            <a:tailEnd type="triangle" w="med" len="med"/>
          </a:ln>
        </p:spPr>
      </p:cxnSp>
      <p:cxnSp>
        <p:nvCxnSpPr>
          <p:cNvPr id="55" name="直接连接符 54"/>
          <p:cNvCxnSpPr>
            <a:stCxn id="63" idx="2"/>
          </p:cNvCxnSpPr>
          <p:nvPr/>
        </p:nvCxnSpPr>
        <p:spPr>
          <a:xfrm>
            <a:off x="8348980" y="5328285"/>
            <a:ext cx="0" cy="339090"/>
          </a:xfrm>
          <a:prstGeom prst="line">
            <a:avLst/>
          </a:prstGeom>
          <a:ln w="28575">
            <a:solidFill>
              <a:srgbClr val="059669"/>
            </a:solidFill>
            <a:prstDash val="solid"/>
            <a:headEnd type="none" w="sm" len="sm"/>
            <a:tailEnd type="none" w="med" len="med"/>
          </a:ln>
        </p:spPr>
      </p:cxnSp>
      <p:cxnSp>
        <p:nvCxnSpPr>
          <p:cNvPr id="56" name="直接连接符 55"/>
          <p:cNvCxnSpPr/>
          <p:nvPr/>
        </p:nvCxnSpPr>
        <p:spPr>
          <a:xfrm>
            <a:off x="1905000" y="5275580"/>
            <a:ext cx="0" cy="363855"/>
          </a:xfrm>
          <a:prstGeom prst="line">
            <a:avLst/>
          </a:prstGeom>
          <a:ln w="28575">
            <a:solidFill>
              <a:srgbClr val="B91C1C"/>
            </a:solidFill>
            <a:prstDash val="solid"/>
            <a:headEnd type="none" w="sm" len="sm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14300" dist="38100" dir="5400000">
              <a:srgbClr val="0F172A">
                <a:alpha val="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9050">
          <a:solidFill>
            <a:schemeClr val="tx1"/>
          </a:solidFill>
          <a:prstDash val="solid"/>
          <a:headEnd type="none" w="sm" len="sm"/>
          <a:tailEnd type="none" w="med" len="med"/>
        </a:ln>
      </a:spPr>
      <a:bodyPr/>
      <a:lstStyle/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14300" dist="38100" dir="5400000">
              <a:srgbClr val="0F172A">
                <a:alpha val="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4511</Words>
  <Application>WPS 演示</Application>
  <PresentationFormat>Converted Presentation</PresentationFormat>
  <Paragraphs>209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Segoe UI</vt:lpstr>
      <vt:lpstr>MS PGothic</vt:lpstr>
      <vt:lpstr>微软雅黑</vt:lpstr>
      <vt:lpstr>Arial Unicode MS</vt:lpstr>
      <vt:lpstr>Calibri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某石</cp:lastModifiedBy>
  <cp:revision>18</cp:revision>
  <dcterms:created xsi:type="dcterms:W3CDTF">2026-09-16T13:15:39Z</dcterms:created>
  <dcterms:modified xsi:type="dcterms:W3CDTF">2026-09-16T13:33:06Z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D52623B7F8F4455A994EC14CFA361CF9_12</vt:lpwstr>
  </property>
  <property fmtid="{D5CDD505-2E9C-101B-9397-08002B2CF9AE}" pid="3" name="KSOProductBuildVer">
    <vt:lpwstr>2052-12.1.0.28505</vt:lpwstr>
  </property>
</Properties>
</file>