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5240000" cy="9525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9669"/>
    <a:srgbClr val="EF4444"/>
    <a:srgbClr val="475569"/>
    <a:srgbClr val="7E22CE"/>
    <a:srgbClr val="1E40AF"/>
    <a:srgbClr val="60A5FA"/>
    <a:srgbClr val="EFF6FF"/>
    <a:srgbClr val="22C55E"/>
    <a:srgbClr val="96E7B3"/>
    <a:srgbClr val="99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editable conversion of docs/paper/iclr2027/figures/overall-framework.svg. Geometry, colors, labels, font scale, and icon placements follow the finalized PNG at 1600 x 1000.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5" name="rect-1"/>
          <p:cNvSpPr>
            <a:spLocks noGrp="1"/>
          </p:cNvSpPr>
          <p:nvPr/>
        </p:nvSpPr>
        <p:spPr>
          <a:xfrm>
            <a:off x="333375" y="190500"/>
            <a:ext cx="14573250" cy="2512695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5" name="text-5"/>
          <p:cNvSpPr>
            <a:spLocks noGrp="1"/>
          </p:cNvSpPr>
          <p:nvPr/>
        </p:nvSpPr>
        <p:spPr>
          <a:xfrm>
            <a:off x="828675" y="243840"/>
            <a:ext cx="57912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Milestone Graph Generation and Consensus Merge</a:t>
            </a:r>
            <a:endParaRPr sz="18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rect-6"/>
          <p:cNvSpPr>
            <a:spLocks noGrp="1"/>
          </p:cNvSpPr>
          <p:nvPr/>
        </p:nvSpPr>
        <p:spPr>
          <a:xfrm>
            <a:off x="563245" y="658495"/>
            <a:ext cx="2256790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pic>
        <p:nvPicPr>
          <p:cNvPr id="261" name="图片 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734695"/>
            <a:ext cx="190500" cy="190500"/>
          </a:xfrm>
          <a:prstGeom prst="rect">
            <a:avLst/>
          </a:prstGeom>
        </p:spPr>
      </p:pic>
      <p:sp>
        <p:nvSpPr>
          <p:cNvPr id="8" name="text-8"/>
          <p:cNvSpPr>
            <a:spLocks noGrp="1"/>
          </p:cNvSpPr>
          <p:nvPr/>
        </p:nvSpPr>
        <p:spPr>
          <a:xfrm>
            <a:off x="963295" y="731838"/>
            <a:ext cx="15811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Task Inputs</a:t>
            </a:r>
            <a:endParaRPr lang="en-US"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rect-9"/>
          <p:cNvSpPr>
            <a:spLocks noGrp="1"/>
          </p:cNvSpPr>
          <p:nvPr/>
        </p:nvSpPr>
        <p:spPr>
          <a:xfrm>
            <a:off x="696595" y="982345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4" name="图片 2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" y="1058545"/>
            <a:ext cx="171450" cy="171450"/>
          </a:xfrm>
          <a:prstGeom prst="rect">
            <a:avLst/>
          </a:prstGeom>
        </p:spPr>
      </p:pic>
      <p:sp>
        <p:nvSpPr>
          <p:cNvPr id="11" name="text-11"/>
          <p:cNvSpPr>
            <a:spLocks noGrp="1"/>
          </p:cNvSpPr>
          <p:nvPr/>
        </p:nvSpPr>
        <p:spPr>
          <a:xfrm>
            <a:off x="1039495" y="1056069"/>
            <a:ext cx="980599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Instruction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rect-12"/>
          <p:cNvSpPr>
            <a:spLocks noGrp="1"/>
          </p:cNvSpPr>
          <p:nvPr/>
        </p:nvSpPr>
        <p:spPr>
          <a:xfrm>
            <a:off x="696595" y="1458595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" y="1534795"/>
            <a:ext cx="171450" cy="171450"/>
          </a:xfrm>
          <a:prstGeom prst="rect">
            <a:avLst/>
          </a:prstGeom>
        </p:spPr>
      </p:pic>
      <p:sp>
        <p:nvSpPr>
          <p:cNvPr id="14" name="text-14"/>
          <p:cNvSpPr>
            <a:spLocks noGrp="1"/>
          </p:cNvSpPr>
          <p:nvPr/>
        </p:nvSpPr>
        <p:spPr>
          <a:xfrm>
            <a:off x="1039495" y="1532319"/>
            <a:ext cx="1061085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 schemas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rect-15"/>
          <p:cNvSpPr>
            <a:spLocks noGrp="1"/>
          </p:cNvSpPr>
          <p:nvPr/>
        </p:nvSpPr>
        <p:spPr>
          <a:xfrm>
            <a:off x="696595" y="1925320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70" name="图片 2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45" y="2001520"/>
            <a:ext cx="171450" cy="171450"/>
          </a:xfrm>
          <a:prstGeom prst="rect">
            <a:avLst/>
          </a:prstGeom>
        </p:spPr>
      </p:pic>
      <p:sp>
        <p:nvSpPr>
          <p:cNvPr id="17" name="text-17"/>
          <p:cNvSpPr>
            <a:spLocks noGrp="1"/>
          </p:cNvSpPr>
          <p:nvPr/>
        </p:nvSpPr>
        <p:spPr>
          <a:xfrm>
            <a:off x="1039495" y="1999044"/>
            <a:ext cx="1383030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Initial metadata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rect-21"/>
          <p:cNvSpPr>
            <a:spLocks noGrp="1"/>
          </p:cNvSpPr>
          <p:nvPr/>
        </p:nvSpPr>
        <p:spPr>
          <a:xfrm>
            <a:off x="3934460" y="657860"/>
            <a:ext cx="4054475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pic>
        <p:nvPicPr>
          <p:cNvPr id="277" name="图片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40" y="731520"/>
            <a:ext cx="190500" cy="190500"/>
          </a:xfrm>
          <a:prstGeom prst="rect">
            <a:avLst/>
          </a:prstGeom>
        </p:spPr>
      </p:pic>
      <p:sp>
        <p:nvSpPr>
          <p:cNvPr id="24" name="text-23"/>
          <p:cNvSpPr>
            <a:spLocks noGrp="1"/>
          </p:cNvSpPr>
          <p:nvPr/>
        </p:nvSpPr>
        <p:spPr>
          <a:xfrm>
            <a:off x="4333240" y="728663"/>
            <a:ext cx="2509838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Simulated candidate graphs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rect-24"/>
          <p:cNvSpPr>
            <a:spLocks noGrp="1"/>
          </p:cNvSpPr>
          <p:nvPr/>
        </p:nvSpPr>
        <p:spPr>
          <a:xfrm>
            <a:off x="4057015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-25"/>
          <p:cNvSpPr>
            <a:spLocks noGrp="1"/>
          </p:cNvSpPr>
          <p:nvPr/>
        </p:nvSpPr>
        <p:spPr>
          <a:xfrm>
            <a:off x="4122420" y="1007745"/>
            <a:ext cx="7378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</a:t>
            </a:r>
            <a:r>
              <a:rPr lang="en-US"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andidate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rect-26"/>
          <p:cNvSpPr>
            <a:spLocks noGrp="1"/>
          </p:cNvSpPr>
          <p:nvPr/>
        </p:nvSpPr>
        <p:spPr>
          <a:xfrm>
            <a:off x="4409440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8" name="text-27"/>
          <p:cNvSpPr>
            <a:spLocks noGrp="1"/>
          </p:cNvSpPr>
          <p:nvPr/>
        </p:nvSpPr>
        <p:spPr>
          <a:xfrm>
            <a:off x="4485640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rect-28"/>
          <p:cNvSpPr>
            <a:spLocks noGrp="1"/>
          </p:cNvSpPr>
          <p:nvPr/>
        </p:nvSpPr>
        <p:spPr>
          <a:xfrm>
            <a:off x="4409440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0" name="text-29"/>
          <p:cNvSpPr>
            <a:spLocks noGrp="1"/>
          </p:cNvSpPr>
          <p:nvPr/>
        </p:nvSpPr>
        <p:spPr>
          <a:xfrm>
            <a:off x="4485640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rect-30"/>
          <p:cNvSpPr>
            <a:spLocks noGrp="1"/>
          </p:cNvSpPr>
          <p:nvPr/>
        </p:nvSpPr>
        <p:spPr>
          <a:xfrm>
            <a:off x="4409440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2" name="text-31"/>
          <p:cNvSpPr>
            <a:spLocks noGrp="1"/>
          </p:cNvSpPr>
          <p:nvPr/>
        </p:nvSpPr>
        <p:spPr>
          <a:xfrm>
            <a:off x="4485640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poly-451-152"/>
          <p:cNvSpPr>
            <a:spLocks noGrp="1"/>
          </p:cNvSpPr>
          <p:nvPr/>
        </p:nvSpPr>
        <p:spPr>
          <a:xfrm>
            <a:off x="4657090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60A5FA"/>
            </a:solidFill>
            <a:prstDash val="solid"/>
          </a:ln>
        </p:spPr>
      </p:sp>
      <p:sp>
        <p:nvSpPr>
          <p:cNvPr id="34" name="poly-451-182"/>
          <p:cNvSpPr>
            <a:spLocks noGrp="1"/>
          </p:cNvSpPr>
          <p:nvPr/>
        </p:nvSpPr>
        <p:spPr>
          <a:xfrm>
            <a:off x="4657090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60A5FA"/>
            </a:solidFill>
            <a:prstDash val="solid"/>
          </a:ln>
        </p:spPr>
      </p:sp>
      <p:sp>
        <p:nvSpPr>
          <p:cNvPr id="35" name="rect-33"/>
          <p:cNvSpPr>
            <a:spLocks noGrp="1"/>
          </p:cNvSpPr>
          <p:nvPr/>
        </p:nvSpPr>
        <p:spPr>
          <a:xfrm>
            <a:off x="5352415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-34"/>
          <p:cNvSpPr>
            <a:spLocks noGrp="1"/>
          </p:cNvSpPr>
          <p:nvPr/>
        </p:nvSpPr>
        <p:spPr>
          <a:xfrm>
            <a:off x="5457825" y="1007745"/>
            <a:ext cx="80391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</a:t>
            </a:r>
            <a:r>
              <a:rPr lang="en-US"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andidate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rect-35"/>
          <p:cNvSpPr>
            <a:spLocks noGrp="1"/>
          </p:cNvSpPr>
          <p:nvPr/>
        </p:nvSpPr>
        <p:spPr>
          <a:xfrm>
            <a:off x="5704840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8" name="text-36"/>
          <p:cNvSpPr>
            <a:spLocks noGrp="1"/>
          </p:cNvSpPr>
          <p:nvPr/>
        </p:nvSpPr>
        <p:spPr>
          <a:xfrm>
            <a:off x="5781040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" name="rect-37"/>
          <p:cNvSpPr>
            <a:spLocks noGrp="1"/>
          </p:cNvSpPr>
          <p:nvPr/>
        </p:nvSpPr>
        <p:spPr>
          <a:xfrm>
            <a:off x="5704840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0" name="text-38"/>
          <p:cNvSpPr>
            <a:spLocks noGrp="1"/>
          </p:cNvSpPr>
          <p:nvPr/>
        </p:nvSpPr>
        <p:spPr>
          <a:xfrm>
            <a:off x="5781040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rect-39"/>
          <p:cNvSpPr>
            <a:spLocks noGrp="1"/>
          </p:cNvSpPr>
          <p:nvPr/>
        </p:nvSpPr>
        <p:spPr>
          <a:xfrm>
            <a:off x="5704840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2" name="text-40"/>
          <p:cNvSpPr>
            <a:spLocks noGrp="1"/>
          </p:cNvSpPr>
          <p:nvPr/>
        </p:nvSpPr>
        <p:spPr>
          <a:xfrm>
            <a:off x="5781040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3" name="poly-611-152"/>
          <p:cNvSpPr>
            <a:spLocks noGrp="1"/>
          </p:cNvSpPr>
          <p:nvPr/>
        </p:nvSpPr>
        <p:spPr>
          <a:xfrm>
            <a:off x="5952490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34D399"/>
            </a:solidFill>
            <a:prstDash val="solid"/>
          </a:ln>
        </p:spPr>
      </p:sp>
      <p:sp>
        <p:nvSpPr>
          <p:cNvPr id="44" name="poly-611-182"/>
          <p:cNvSpPr>
            <a:spLocks noGrp="1"/>
          </p:cNvSpPr>
          <p:nvPr/>
        </p:nvSpPr>
        <p:spPr>
          <a:xfrm>
            <a:off x="5952490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34D399"/>
            </a:solidFill>
            <a:prstDash val="solid"/>
          </a:ln>
        </p:spPr>
      </p:sp>
      <p:sp>
        <p:nvSpPr>
          <p:cNvPr id="45" name="rect-42"/>
          <p:cNvSpPr>
            <a:spLocks noGrp="1"/>
          </p:cNvSpPr>
          <p:nvPr/>
        </p:nvSpPr>
        <p:spPr>
          <a:xfrm>
            <a:off x="6658610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-43"/>
          <p:cNvSpPr>
            <a:spLocks noGrp="1"/>
          </p:cNvSpPr>
          <p:nvPr/>
        </p:nvSpPr>
        <p:spPr>
          <a:xfrm>
            <a:off x="6725920" y="1007745"/>
            <a:ext cx="7378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lvl="0" algn="l">
              <a:buClrTx/>
              <a:buSzTx/>
              <a:buFontTx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ym typeface="+mn-ea"/>
              </a:rPr>
              <a:t>C</a:t>
            </a:r>
            <a:r>
              <a:rPr lang="en-US" sz="1000">
                <a:sym typeface="+mn-ea"/>
              </a:rPr>
              <a:t>a</a:t>
            </a:r>
            <a:r>
              <a:rPr lang="en-US" sz="1000">
                <a:sym typeface="+mn-ea"/>
              </a:rPr>
              <a:t>ndidate</a:t>
            </a:r>
            <a:r>
              <a:rPr sz="1000">
                <a:sym typeface="+mn-ea"/>
              </a:rPr>
              <a:t>3</a:t>
            </a:r>
            <a:endParaRPr sz="1000">
              <a:sym typeface="+mn-ea"/>
            </a:endParaRPr>
          </a:p>
        </p:txBody>
      </p:sp>
      <p:sp>
        <p:nvSpPr>
          <p:cNvPr id="47" name="rect-44"/>
          <p:cNvSpPr>
            <a:spLocks noGrp="1"/>
          </p:cNvSpPr>
          <p:nvPr/>
        </p:nvSpPr>
        <p:spPr>
          <a:xfrm>
            <a:off x="7011035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48" name="text-45"/>
          <p:cNvSpPr>
            <a:spLocks noGrp="1"/>
          </p:cNvSpPr>
          <p:nvPr/>
        </p:nvSpPr>
        <p:spPr>
          <a:xfrm>
            <a:off x="7087235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rect-46"/>
          <p:cNvSpPr>
            <a:spLocks noGrp="1"/>
          </p:cNvSpPr>
          <p:nvPr/>
        </p:nvSpPr>
        <p:spPr>
          <a:xfrm>
            <a:off x="7011035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50" name="text-47"/>
          <p:cNvSpPr>
            <a:spLocks noGrp="1"/>
          </p:cNvSpPr>
          <p:nvPr/>
        </p:nvSpPr>
        <p:spPr>
          <a:xfrm>
            <a:off x="7087235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M1c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1" name="rect-48"/>
          <p:cNvSpPr>
            <a:spLocks noGrp="1"/>
          </p:cNvSpPr>
          <p:nvPr/>
        </p:nvSpPr>
        <p:spPr>
          <a:xfrm>
            <a:off x="7011035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52" name="text-49"/>
          <p:cNvSpPr>
            <a:spLocks noGrp="1"/>
          </p:cNvSpPr>
          <p:nvPr/>
        </p:nvSpPr>
        <p:spPr>
          <a:xfrm>
            <a:off x="7087235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poly-771-152"/>
          <p:cNvSpPr>
            <a:spLocks noGrp="1"/>
          </p:cNvSpPr>
          <p:nvPr/>
        </p:nvSpPr>
        <p:spPr>
          <a:xfrm>
            <a:off x="7258685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EAB308"/>
            </a:solidFill>
            <a:prstDash val="solid"/>
          </a:ln>
        </p:spPr>
      </p:sp>
      <p:sp>
        <p:nvSpPr>
          <p:cNvPr id="54" name="poly-771-182"/>
          <p:cNvSpPr>
            <a:spLocks noGrp="1"/>
          </p:cNvSpPr>
          <p:nvPr/>
        </p:nvSpPr>
        <p:spPr>
          <a:xfrm>
            <a:off x="7258685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EAB308"/>
            </a:solidFill>
            <a:prstDash val="solid"/>
          </a:ln>
        </p:spPr>
      </p:sp>
      <p:sp>
        <p:nvSpPr>
          <p:cNvPr id="55" name="rect-51"/>
          <p:cNvSpPr>
            <a:spLocks noGrp="1"/>
          </p:cNvSpPr>
          <p:nvPr/>
        </p:nvSpPr>
        <p:spPr>
          <a:xfrm>
            <a:off x="4057015" y="2181860"/>
            <a:ext cx="3786505" cy="1905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-52"/>
          <p:cNvSpPr>
            <a:spLocks noGrp="1"/>
          </p:cNvSpPr>
          <p:nvPr/>
        </p:nvSpPr>
        <p:spPr>
          <a:xfrm>
            <a:off x="4171315" y="2198624"/>
            <a:ext cx="321564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Contract check: schema </a:t>
            </a:r>
            <a:r>
              <a:rPr lang="en-US"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&amp;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acyclic </a:t>
            </a:r>
            <a:r>
              <a:rPr lang="en-US"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&amp;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binding</a:t>
            </a:r>
            <a:endParaRPr sz="9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rect-54"/>
          <p:cNvSpPr>
            <a:spLocks noGrp="1"/>
          </p:cNvSpPr>
          <p:nvPr/>
        </p:nvSpPr>
        <p:spPr>
          <a:xfrm>
            <a:off x="8747760" y="657860"/>
            <a:ext cx="2070100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6EFAC"/>
            </a:solidFill>
            <a:prstDash val="solid"/>
          </a:ln>
        </p:spPr>
      </p:sp>
      <p:pic>
        <p:nvPicPr>
          <p:cNvPr id="314" name="图片 3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585" y="731520"/>
            <a:ext cx="190500" cy="190500"/>
          </a:xfrm>
          <a:prstGeom prst="rect">
            <a:avLst/>
          </a:prstGeom>
        </p:spPr>
      </p:pic>
      <p:sp>
        <p:nvSpPr>
          <p:cNvPr id="61" name="text-56"/>
          <p:cNvSpPr>
            <a:spLocks noGrp="1"/>
          </p:cNvSpPr>
          <p:nvPr/>
        </p:nvSpPr>
        <p:spPr>
          <a:xfrm>
            <a:off x="9138285" y="728663"/>
            <a:ext cx="1395413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Semantic merge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rect-57"/>
          <p:cNvSpPr>
            <a:spLocks noGrp="1"/>
          </p:cNvSpPr>
          <p:nvPr/>
        </p:nvSpPr>
        <p:spPr>
          <a:xfrm>
            <a:off x="8874125" y="962660"/>
            <a:ext cx="181991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3" name="text-58"/>
          <p:cNvSpPr>
            <a:spLocks noGrp="1"/>
          </p:cNvSpPr>
          <p:nvPr/>
        </p:nvSpPr>
        <p:spPr>
          <a:xfrm>
            <a:off x="8948420" y="10079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text-59"/>
          <p:cNvSpPr>
            <a:spLocks noGrp="1"/>
          </p:cNvSpPr>
          <p:nvPr/>
        </p:nvSpPr>
        <p:spPr>
          <a:xfrm>
            <a:off x="10155555" y="10079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5" name="rect-60"/>
          <p:cNvSpPr>
            <a:spLocks noGrp="1"/>
          </p:cNvSpPr>
          <p:nvPr/>
        </p:nvSpPr>
        <p:spPr>
          <a:xfrm>
            <a:off x="8871585" y="1229360"/>
            <a:ext cx="1823085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6" name="text-61"/>
          <p:cNvSpPr>
            <a:spLocks noGrp="1"/>
          </p:cNvSpPr>
          <p:nvPr/>
        </p:nvSpPr>
        <p:spPr>
          <a:xfrm>
            <a:off x="8948420" y="12746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7" name="text-62"/>
          <p:cNvSpPr>
            <a:spLocks noGrp="1"/>
          </p:cNvSpPr>
          <p:nvPr/>
        </p:nvSpPr>
        <p:spPr>
          <a:xfrm>
            <a:off x="10155555" y="12746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8" name="rect-63"/>
          <p:cNvSpPr>
            <a:spLocks noGrp="1"/>
          </p:cNvSpPr>
          <p:nvPr/>
        </p:nvSpPr>
        <p:spPr>
          <a:xfrm>
            <a:off x="8871585" y="1496060"/>
            <a:ext cx="182245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9" name="text-64"/>
          <p:cNvSpPr>
            <a:spLocks noGrp="1"/>
          </p:cNvSpPr>
          <p:nvPr/>
        </p:nvSpPr>
        <p:spPr>
          <a:xfrm>
            <a:off x="8948420" y="1534414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0" name="text-65"/>
          <p:cNvSpPr>
            <a:spLocks noGrp="1"/>
          </p:cNvSpPr>
          <p:nvPr/>
        </p:nvSpPr>
        <p:spPr>
          <a:xfrm>
            <a:off x="10155555" y="15413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rect-66"/>
          <p:cNvSpPr>
            <a:spLocks noGrp="1"/>
          </p:cNvSpPr>
          <p:nvPr/>
        </p:nvSpPr>
        <p:spPr>
          <a:xfrm>
            <a:off x="8885555" y="1762760"/>
            <a:ext cx="1809750" cy="247650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72" name="text-67"/>
          <p:cNvSpPr>
            <a:spLocks noGrp="1"/>
          </p:cNvSpPr>
          <p:nvPr/>
        </p:nvSpPr>
        <p:spPr>
          <a:xfrm>
            <a:off x="8948420" y="180555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M1c</a:t>
            </a:r>
            <a:endParaRPr sz="9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3" name="text-68"/>
          <p:cNvSpPr>
            <a:spLocks noGrp="1"/>
          </p:cNvSpPr>
          <p:nvPr/>
        </p:nvSpPr>
        <p:spPr>
          <a:xfrm>
            <a:off x="10155555" y="18080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defRPr sz="9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 / 3</a:t>
            </a:r>
            <a:endParaRPr sz="9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4" name="rect-69"/>
          <p:cNvSpPr>
            <a:spLocks noGrp="1"/>
          </p:cNvSpPr>
          <p:nvPr/>
        </p:nvSpPr>
        <p:spPr>
          <a:xfrm>
            <a:off x="8886190" y="2029460"/>
            <a:ext cx="180975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5" name="text-70"/>
          <p:cNvSpPr>
            <a:spLocks noGrp="1"/>
          </p:cNvSpPr>
          <p:nvPr/>
        </p:nvSpPr>
        <p:spPr>
          <a:xfrm>
            <a:off x="8948420" y="20747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text-71"/>
          <p:cNvSpPr>
            <a:spLocks noGrp="1"/>
          </p:cNvSpPr>
          <p:nvPr/>
        </p:nvSpPr>
        <p:spPr>
          <a:xfrm>
            <a:off x="10155555" y="20747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7" name="text-72"/>
          <p:cNvSpPr>
            <a:spLocks noGrp="1"/>
          </p:cNvSpPr>
          <p:nvPr/>
        </p:nvSpPr>
        <p:spPr>
          <a:xfrm>
            <a:off x="8948420" y="2286000"/>
            <a:ext cx="1746250" cy="1739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Majority + transitive reduction</a:t>
            </a:r>
            <a:endParaRPr sz="9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rect-74"/>
          <p:cNvSpPr>
            <a:spLocks noGrp="1"/>
          </p:cNvSpPr>
          <p:nvPr/>
        </p:nvSpPr>
        <p:spPr>
          <a:xfrm>
            <a:off x="11802110" y="657860"/>
            <a:ext cx="2858135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6EFAC"/>
            </a:solidFill>
            <a:prstDash val="solid"/>
          </a:ln>
        </p:spPr>
      </p:sp>
      <p:pic>
        <p:nvPicPr>
          <p:cNvPr id="335" name="图片 3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270" y="736600"/>
            <a:ext cx="190500" cy="190500"/>
          </a:xfrm>
          <a:prstGeom prst="rect">
            <a:avLst/>
          </a:prstGeom>
        </p:spPr>
      </p:pic>
      <p:sp>
        <p:nvSpPr>
          <p:cNvPr id="82" name="text-76"/>
          <p:cNvSpPr>
            <a:spLocks noGrp="1"/>
          </p:cNvSpPr>
          <p:nvPr/>
        </p:nvSpPr>
        <p:spPr>
          <a:xfrm>
            <a:off x="12205970" y="734060"/>
            <a:ext cx="2324735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Path-tolerant Milestone </a:t>
            </a:r>
            <a:r>
              <a:rPr lang="en-US"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Graph</a:t>
            </a:r>
            <a:endParaRPr lang="en-US"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3" name="rect-77"/>
          <p:cNvSpPr>
            <a:spLocks noGrp="1"/>
          </p:cNvSpPr>
          <p:nvPr/>
        </p:nvSpPr>
        <p:spPr>
          <a:xfrm>
            <a:off x="11953240" y="989965"/>
            <a:ext cx="2571750" cy="1143000"/>
          </a:xfrm>
          <a:prstGeom prst="roundRect">
            <a:avLst>
              <a:gd name="adj" fmla="val 8750"/>
            </a:avLst>
          </a:prstGeom>
          <a:solidFill>
            <a:srgbClr val="EFF6FF">
              <a:alpha val="48000"/>
            </a:srgbClr>
          </a:solidFill>
          <a:ln w="0">
            <a:noFill/>
            <a:prstDash val="solid"/>
          </a:ln>
        </p:spPr>
      </p:sp>
      <p:grpSp>
        <p:nvGrpSpPr>
          <p:cNvPr id="18" name="组合 17"/>
          <p:cNvGrpSpPr/>
          <p:nvPr/>
        </p:nvGrpSpPr>
        <p:grpSpPr>
          <a:xfrm>
            <a:off x="12039600" y="1438275"/>
            <a:ext cx="515620" cy="266700"/>
            <a:chOff x="18182" y="2393"/>
            <a:chExt cx="888" cy="420"/>
          </a:xfrm>
        </p:grpSpPr>
        <p:sp>
          <p:nvSpPr>
            <p:cNvPr id="89" name="rect-83"/>
            <p:cNvSpPr>
              <a:spLocks noGrp="1"/>
            </p:cNvSpPr>
            <p:nvPr/>
          </p:nvSpPr>
          <p:spPr>
            <a:xfrm>
              <a:off x="18182" y="2393"/>
              <a:ext cx="889" cy="420"/>
            </a:xfrm>
            <a:prstGeom prst="roundRect">
              <a:avLst>
                <a:gd name="adj" fmla="val 21429"/>
              </a:avLst>
            </a:prstGeom>
            <a:solidFill>
              <a:srgbClr val="DCFCE7"/>
            </a:solidFill>
            <a:ln w="14288">
              <a:solidFill>
                <a:srgbClr val="22C55E"/>
              </a:solidFill>
              <a:prstDash val="solid"/>
            </a:ln>
          </p:spPr>
        </p:sp>
        <p:sp>
          <p:nvSpPr>
            <p:cNvPr id="90" name="text-84"/>
            <p:cNvSpPr>
              <a:spLocks noGrp="1"/>
            </p:cNvSpPr>
            <p:nvPr/>
          </p:nvSpPr>
          <p:spPr>
            <a:xfrm>
              <a:off x="18356" y="2477"/>
              <a:ext cx="540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M0</a:t>
              </a:r>
              <a:endPara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938760" y="1256030"/>
            <a:ext cx="561340" cy="228600"/>
            <a:chOff x="19698" y="2106"/>
            <a:chExt cx="1050" cy="360"/>
          </a:xfrm>
        </p:grpSpPr>
        <p:sp>
          <p:nvSpPr>
            <p:cNvPr id="91" name="rect-85"/>
            <p:cNvSpPr>
              <a:spLocks noGrp="1"/>
            </p:cNvSpPr>
            <p:nvPr/>
          </p:nvSpPr>
          <p:spPr>
            <a:xfrm>
              <a:off x="19698" y="2106"/>
              <a:ext cx="1050" cy="360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 w="9525">
              <a:solidFill>
                <a:srgbClr val="60A5FA"/>
              </a:solidFill>
              <a:prstDash val="solid"/>
            </a:ln>
          </p:spPr>
        </p:sp>
        <p:sp>
          <p:nvSpPr>
            <p:cNvPr id="92" name="text-86"/>
            <p:cNvSpPr>
              <a:spLocks noGrp="1"/>
            </p:cNvSpPr>
            <p:nvPr/>
          </p:nvSpPr>
          <p:spPr>
            <a:xfrm>
              <a:off x="19953" y="2174"/>
              <a:ext cx="540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2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M1a</a:t>
              </a:r>
              <a:endPara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938760" y="1675130"/>
            <a:ext cx="561340" cy="228600"/>
            <a:chOff x="19698" y="2807"/>
            <a:chExt cx="1050" cy="360"/>
          </a:xfrm>
        </p:grpSpPr>
        <p:sp>
          <p:nvSpPr>
            <p:cNvPr id="93" name="rect-87"/>
            <p:cNvSpPr>
              <a:spLocks noGrp="1"/>
            </p:cNvSpPr>
            <p:nvPr/>
          </p:nvSpPr>
          <p:spPr>
            <a:xfrm>
              <a:off x="19698" y="2807"/>
              <a:ext cx="1050" cy="36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 w="9525">
              <a:solidFill>
                <a:srgbClr val="34D399"/>
              </a:solidFill>
              <a:prstDash val="solid"/>
            </a:ln>
          </p:spPr>
        </p:sp>
        <p:sp>
          <p:nvSpPr>
            <p:cNvPr id="94" name="text-88"/>
            <p:cNvSpPr>
              <a:spLocks noGrp="1"/>
            </p:cNvSpPr>
            <p:nvPr/>
          </p:nvSpPr>
          <p:spPr>
            <a:xfrm>
              <a:off x="19953" y="2879"/>
              <a:ext cx="540" cy="22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2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M1b</a:t>
              </a:r>
              <a:endPara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3892910" y="1434465"/>
            <a:ext cx="530171" cy="266700"/>
            <a:chOff x="21565" y="2400"/>
            <a:chExt cx="913" cy="420"/>
          </a:xfrm>
        </p:grpSpPr>
        <p:sp>
          <p:nvSpPr>
            <p:cNvPr id="95" name="rect-89"/>
            <p:cNvSpPr>
              <a:spLocks noGrp="1"/>
            </p:cNvSpPr>
            <p:nvPr/>
          </p:nvSpPr>
          <p:spPr>
            <a:xfrm>
              <a:off x="21565" y="2400"/>
              <a:ext cx="913" cy="420"/>
            </a:xfrm>
            <a:prstGeom prst="roundRect">
              <a:avLst>
                <a:gd name="adj" fmla="val 21429"/>
              </a:avLst>
            </a:prstGeom>
            <a:solidFill>
              <a:srgbClr val="FEF9C3"/>
            </a:solidFill>
            <a:ln w="9525">
              <a:solidFill>
                <a:srgbClr val="EAB308"/>
              </a:solidFill>
              <a:prstDash val="solid"/>
            </a:ln>
          </p:spPr>
        </p:sp>
        <p:sp>
          <p:nvSpPr>
            <p:cNvPr id="96" name="text-90"/>
            <p:cNvSpPr>
              <a:spLocks noGrp="1"/>
            </p:cNvSpPr>
            <p:nvPr/>
          </p:nvSpPr>
          <p:spPr>
            <a:xfrm>
              <a:off x="21750" y="2486"/>
              <a:ext cx="540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854D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00" b="1">
                  <a:solidFill>
                    <a:srgbClr val="854D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M2</a:t>
              </a:r>
              <a:endParaRPr sz="900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101" name="text-92"/>
          <p:cNvSpPr>
            <a:spLocks noGrp="1"/>
          </p:cNvSpPr>
          <p:nvPr/>
        </p:nvSpPr>
        <p:spPr>
          <a:xfrm>
            <a:off x="11953875" y="2214499"/>
            <a:ext cx="23241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Alternative paths remain valid</a:t>
            </a:r>
            <a:endParaRPr sz="10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4" name="rect-94"/>
          <p:cNvSpPr>
            <a:spLocks noGrp="1"/>
          </p:cNvSpPr>
          <p:nvPr/>
        </p:nvSpPr>
        <p:spPr>
          <a:xfrm>
            <a:off x="333375" y="3238500"/>
            <a:ext cx="14573250" cy="5905500"/>
          </a:xfrm>
          <a:prstGeom prst="roundRect">
            <a:avLst>
              <a:gd name="adj" fmla="val 258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108" name="text-98"/>
          <p:cNvSpPr>
            <a:spLocks noGrp="1"/>
          </p:cNvSpPr>
          <p:nvPr/>
        </p:nvSpPr>
        <p:spPr>
          <a:xfrm>
            <a:off x="828675" y="3322320"/>
            <a:ext cx="653415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5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Stage-wise Trajectory Evaluation and Dynamic Control</a:t>
            </a:r>
            <a:endParaRPr sz="18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9" name="rect-99"/>
          <p:cNvSpPr>
            <a:spLocks noGrp="1"/>
          </p:cNvSpPr>
          <p:nvPr/>
        </p:nvSpPr>
        <p:spPr>
          <a:xfrm>
            <a:off x="491490" y="3754120"/>
            <a:ext cx="7056755" cy="5249545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pic>
        <p:nvPicPr>
          <p:cNvPr id="364" name="图片 36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830955"/>
            <a:ext cx="228600" cy="228600"/>
          </a:xfrm>
          <a:prstGeom prst="rect">
            <a:avLst/>
          </a:prstGeom>
        </p:spPr>
      </p:pic>
      <p:sp>
        <p:nvSpPr>
          <p:cNvPr id="111" name="text-101"/>
          <p:cNvSpPr>
            <a:spLocks noGrp="1"/>
          </p:cNvSpPr>
          <p:nvPr/>
        </p:nvSpPr>
        <p:spPr>
          <a:xfrm>
            <a:off x="866775" y="3818255"/>
            <a:ext cx="544893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altLang="zh-CN" sz="16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Trajectory Stage Alignment Based on a Milestone Graph</a:t>
            </a:r>
            <a:endParaRPr lang="en-US" altLang="zh-CN" sz="16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8" name="text-108"/>
          <p:cNvSpPr>
            <a:spLocks noGrp="1"/>
          </p:cNvSpPr>
          <p:nvPr/>
        </p:nvSpPr>
        <p:spPr>
          <a:xfrm>
            <a:off x="666750" y="4290695"/>
            <a:ext cx="143319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</a:t>
            </a:r>
            <a:r>
              <a:rPr lang="en-US"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ilestone Graph</a:t>
            </a:r>
            <a:endParaRPr lang="en-US"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grpSp>
        <p:nvGrpSpPr>
          <p:cNvPr id="259" name="组合 258"/>
          <p:cNvGrpSpPr/>
          <p:nvPr/>
        </p:nvGrpSpPr>
        <p:grpSpPr>
          <a:xfrm>
            <a:off x="1859280" y="4625340"/>
            <a:ext cx="666750" cy="361950"/>
            <a:chOff x="2115" y="7338"/>
            <a:chExt cx="1050" cy="570"/>
          </a:xfrm>
        </p:grpSpPr>
        <p:sp>
          <p:nvSpPr>
            <p:cNvPr id="122" name="rect-112"/>
            <p:cNvSpPr>
              <a:spLocks noGrp="1"/>
            </p:cNvSpPr>
            <p:nvPr/>
          </p:nvSpPr>
          <p:spPr>
            <a:xfrm>
              <a:off x="2115" y="7338"/>
              <a:ext cx="1050" cy="570"/>
            </a:xfrm>
            <a:prstGeom prst="roundRect">
              <a:avLst>
                <a:gd name="adj" fmla="val 15789"/>
              </a:avLst>
            </a:prstGeom>
            <a:solidFill>
              <a:srgbClr val="DCFCE7"/>
            </a:solidFill>
            <a:ln w="15240">
              <a:solidFill>
                <a:srgbClr val="22C55E"/>
              </a:solidFill>
              <a:prstDash val="solid"/>
            </a:ln>
          </p:spPr>
        </p:sp>
        <p:sp>
          <p:nvSpPr>
            <p:cNvPr id="123" name="text-113"/>
            <p:cNvSpPr>
              <a:spLocks noGrp="1"/>
            </p:cNvSpPr>
            <p:nvPr/>
          </p:nvSpPr>
          <p:spPr>
            <a:xfrm>
              <a:off x="2370" y="7484"/>
              <a:ext cx="540" cy="29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75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M0</a:t>
              </a:r>
              <a:endPara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62" name="组合 261"/>
          <p:cNvGrpSpPr/>
          <p:nvPr/>
        </p:nvGrpSpPr>
        <p:grpSpPr>
          <a:xfrm>
            <a:off x="3672205" y="4465955"/>
            <a:ext cx="762000" cy="285750"/>
            <a:chOff x="4740" y="7263"/>
            <a:chExt cx="1200" cy="450"/>
          </a:xfrm>
        </p:grpSpPr>
        <p:sp>
          <p:nvSpPr>
            <p:cNvPr id="124" name="rect-114"/>
            <p:cNvSpPr>
              <a:spLocks noGrp="1"/>
            </p:cNvSpPr>
            <p:nvPr/>
          </p:nvSpPr>
          <p:spPr>
            <a:xfrm>
              <a:off x="4740" y="7263"/>
              <a:ext cx="1200" cy="450"/>
            </a:xfrm>
            <a:prstGeom prst="roundRect">
              <a:avLst>
                <a:gd name="adj" fmla="val 20000"/>
              </a:avLst>
            </a:prstGeom>
            <a:solidFill>
              <a:srgbClr val="EFF6FF"/>
            </a:solidFill>
            <a:ln w="13335">
              <a:solidFill>
                <a:srgbClr val="60A5FA"/>
              </a:solidFill>
              <a:prstDash val="solid"/>
            </a:ln>
          </p:spPr>
        </p:sp>
        <p:sp>
          <p:nvSpPr>
            <p:cNvPr id="125" name="text-115"/>
            <p:cNvSpPr>
              <a:spLocks noGrp="1"/>
            </p:cNvSpPr>
            <p:nvPr/>
          </p:nvSpPr>
          <p:spPr>
            <a:xfrm>
              <a:off x="5070" y="7328"/>
              <a:ext cx="540" cy="3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M1a</a:t>
              </a:r>
              <a:endPara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5250180" y="4987290"/>
            <a:ext cx="762000" cy="285750"/>
            <a:chOff x="4740" y="8088"/>
            <a:chExt cx="1200" cy="450"/>
          </a:xfrm>
        </p:grpSpPr>
        <p:sp>
          <p:nvSpPr>
            <p:cNvPr id="126" name="rect-116"/>
            <p:cNvSpPr>
              <a:spLocks noGrp="1"/>
            </p:cNvSpPr>
            <p:nvPr/>
          </p:nvSpPr>
          <p:spPr>
            <a:xfrm>
              <a:off x="4740" y="8088"/>
              <a:ext cx="1200" cy="450"/>
            </a:xfrm>
            <a:prstGeom prst="roundRect">
              <a:avLst>
                <a:gd name="adj" fmla="val 20000"/>
              </a:avLst>
            </a:prstGeom>
            <a:solidFill>
              <a:srgbClr val="ECFDF5"/>
            </a:solidFill>
            <a:ln w="13335">
              <a:solidFill>
                <a:srgbClr val="34D399"/>
              </a:solidFill>
              <a:prstDash val="solid"/>
            </a:ln>
          </p:spPr>
        </p:sp>
        <p:sp>
          <p:nvSpPr>
            <p:cNvPr id="127" name="text-117"/>
            <p:cNvSpPr>
              <a:spLocks noGrp="1"/>
            </p:cNvSpPr>
            <p:nvPr/>
          </p:nvSpPr>
          <p:spPr>
            <a:xfrm>
              <a:off x="5070" y="8151"/>
              <a:ext cx="540" cy="30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M1b</a:t>
              </a:r>
              <a:endParaRPr sz="120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58" name="组合 257"/>
          <p:cNvGrpSpPr/>
          <p:nvPr/>
        </p:nvGrpSpPr>
        <p:grpSpPr>
          <a:xfrm>
            <a:off x="6539865" y="4617720"/>
            <a:ext cx="762000" cy="369570"/>
            <a:chOff x="10065" y="7338"/>
            <a:chExt cx="1200" cy="570"/>
          </a:xfrm>
        </p:grpSpPr>
        <p:sp>
          <p:nvSpPr>
            <p:cNvPr id="128" name="rect-118"/>
            <p:cNvSpPr>
              <a:spLocks noGrp="1"/>
            </p:cNvSpPr>
            <p:nvPr/>
          </p:nvSpPr>
          <p:spPr>
            <a:xfrm>
              <a:off x="10065" y="7338"/>
              <a:ext cx="1200" cy="570"/>
            </a:xfrm>
            <a:prstGeom prst="roundRect">
              <a:avLst>
                <a:gd name="adj" fmla="val 15789"/>
              </a:avLst>
            </a:prstGeom>
            <a:solidFill>
              <a:srgbClr val="FEF9C3"/>
            </a:solidFill>
            <a:ln w="14288">
              <a:solidFill>
                <a:srgbClr val="EAB308"/>
              </a:solidFill>
              <a:prstDash val="solid"/>
            </a:ln>
          </p:spPr>
        </p:sp>
        <p:sp>
          <p:nvSpPr>
            <p:cNvPr id="129" name="text-119"/>
            <p:cNvSpPr>
              <a:spLocks noGrp="1"/>
            </p:cNvSpPr>
            <p:nvPr/>
          </p:nvSpPr>
          <p:spPr>
            <a:xfrm>
              <a:off x="10395" y="7484"/>
              <a:ext cx="540" cy="29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75" b="1">
                  <a:solidFill>
                    <a:srgbClr val="854D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854D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M2</a:t>
              </a:r>
              <a:endParaRPr sz="1200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134" name="text-121"/>
          <p:cNvSpPr>
            <a:spLocks noGrp="1"/>
          </p:cNvSpPr>
          <p:nvPr/>
        </p:nvSpPr>
        <p:spPr>
          <a:xfrm>
            <a:off x="635000" y="5273040"/>
            <a:ext cx="1437640" cy="24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Trajectory</a:t>
            </a:r>
            <a:endParaRPr lang="en-US"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6" name="text-146"/>
          <p:cNvSpPr>
            <a:spLocks noGrp="1"/>
          </p:cNvSpPr>
          <p:nvPr/>
        </p:nvSpPr>
        <p:spPr>
          <a:xfrm>
            <a:off x="634365" y="6520180"/>
            <a:ext cx="1438275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Evaluation</a:t>
            </a:r>
            <a:endParaRPr lang="en-US"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0" name="rect-157"/>
          <p:cNvSpPr>
            <a:spLocks noGrp="1"/>
          </p:cNvSpPr>
          <p:nvPr/>
        </p:nvSpPr>
        <p:spPr>
          <a:xfrm>
            <a:off x="8058150" y="3754755"/>
            <a:ext cx="6572250" cy="524891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pic>
        <p:nvPicPr>
          <p:cNvPr id="435" name="图片 4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0" y="3830955"/>
            <a:ext cx="228600" cy="228600"/>
          </a:xfrm>
          <a:prstGeom prst="rect">
            <a:avLst/>
          </a:prstGeom>
        </p:spPr>
      </p:pic>
      <p:sp>
        <p:nvSpPr>
          <p:cNvPr id="182" name="text-159"/>
          <p:cNvSpPr>
            <a:spLocks noGrp="1"/>
          </p:cNvSpPr>
          <p:nvPr/>
        </p:nvSpPr>
        <p:spPr>
          <a:xfrm>
            <a:off x="8458200" y="3818382"/>
            <a:ext cx="326517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Uncertainty-adaptive review loop</a:t>
            </a:r>
            <a:endParaRPr sz="16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3" name="rect-160"/>
          <p:cNvSpPr>
            <a:spLocks noGrp="1"/>
          </p:cNvSpPr>
          <p:nvPr/>
        </p:nvSpPr>
        <p:spPr>
          <a:xfrm>
            <a:off x="8191500" y="4116705"/>
            <a:ext cx="1438275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4" name="text-161"/>
          <p:cNvSpPr>
            <a:spLocks noGrp="1"/>
          </p:cNvSpPr>
          <p:nvPr/>
        </p:nvSpPr>
        <p:spPr>
          <a:xfrm>
            <a:off x="8305800" y="4180904"/>
            <a:ext cx="1222058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evidence</a:t>
            </a:r>
            <a:endParaRPr sz="97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5" name="text-162"/>
          <p:cNvSpPr>
            <a:spLocks noGrp="1"/>
          </p:cNvSpPr>
          <p:nvPr/>
        </p:nvSpPr>
        <p:spPr>
          <a:xfrm>
            <a:off x="8305800" y="4371785"/>
            <a:ext cx="1389221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S, u, frontier gap,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6" name="text-163"/>
          <p:cNvSpPr>
            <a:spLocks noGrp="1"/>
          </p:cNvSpPr>
          <p:nvPr/>
        </p:nvSpPr>
        <p:spPr>
          <a:xfrm>
            <a:off x="8305800" y="4505135"/>
            <a:ext cx="118491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minefield signal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7" name="rect-164"/>
          <p:cNvSpPr>
            <a:spLocks noGrp="1"/>
          </p:cNvSpPr>
          <p:nvPr/>
        </p:nvSpPr>
        <p:spPr>
          <a:xfrm>
            <a:off x="9744075" y="4116705"/>
            <a:ext cx="1438275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8" name="text-165"/>
          <p:cNvSpPr>
            <a:spLocks noGrp="1"/>
          </p:cNvSpPr>
          <p:nvPr/>
        </p:nvSpPr>
        <p:spPr>
          <a:xfrm>
            <a:off x="9858375" y="4180904"/>
            <a:ext cx="739140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Diagnose</a:t>
            </a:r>
            <a:endParaRPr sz="97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9" name="text-166"/>
          <p:cNvSpPr>
            <a:spLocks noGrp="1"/>
          </p:cNvSpPr>
          <p:nvPr/>
        </p:nvSpPr>
        <p:spPr>
          <a:xfrm>
            <a:off x="9858375" y="4371785"/>
            <a:ext cx="1389221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pass / warn / fail;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0" name="text-167"/>
          <p:cNvSpPr>
            <a:spLocks noGrp="1"/>
          </p:cNvSpPr>
          <p:nvPr/>
        </p:nvSpPr>
        <p:spPr>
          <a:xfrm>
            <a:off x="9858375" y="4505135"/>
            <a:ext cx="1116806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ambiguity check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1" name="rect-168"/>
          <p:cNvSpPr>
            <a:spLocks noGrp="1"/>
          </p:cNvSpPr>
          <p:nvPr/>
        </p:nvSpPr>
        <p:spPr>
          <a:xfrm>
            <a:off x="11296650" y="4116705"/>
            <a:ext cx="1438275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2" name="text-169"/>
          <p:cNvSpPr>
            <a:spLocks noGrp="1"/>
          </p:cNvSpPr>
          <p:nvPr/>
        </p:nvSpPr>
        <p:spPr>
          <a:xfrm>
            <a:off x="11410950" y="4180904"/>
            <a:ext cx="1061085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Adapt policy</a:t>
            </a:r>
            <a:endParaRPr sz="97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3" name="text-170"/>
          <p:cNvSpPr>
            <a:spLocks noGrp="1"/>
          </p:cNvSpPr>
          <p:nvPr/>
        </p:nvSpPr>
        <p:spPr>
          <a:xfrm>
            <a:off x="11410950" y="4371785"/>
            <a:ext cx="1321118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select judge tier;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4" name="text-171"/>
          <p:cNvSpPr>
            <a:spLocks noGrp="1"/>
          </p:cNvSpPr>
          <p:nvPr/>
        </p:nvSpPr>
        <p:spPr>
          <a:xfrm>
            <a:off x="11410950" y="4505135"/>
            <a:ext cx="1048703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update weights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5" name="rect-172"/>
          <p:cNvSpPr>
            <a:spLocks noGrp="1"/>
          </p:cNvSpPr>
          <p:nvPr/>
        </p:nvSpPr>
        <p:spPr>
          <a:xfrm>
            <a:off x="12849225" y="4116705"/>
            <a:ext cx="1647825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6" name="text-173"/>
          <p:cNvSpPr>
            <a:spLocks noGrp="1"/>
          </p:cNvSpPr>
          <p:nvPr/>
        </p:nvSpPr>
        <p:spPr>
          <a:xfrm>
            <a:off x="12963525" y="4180904"/>
            <a:ext cx="1222058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Control action</a:t>
            </a:r>
            <a:endParaRPr sz="97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7" name="text-174"/>
          <p:cNvSpPr>
            <a:spLocks noGrp="1"/>
          </p:cNvSpPr>
          <p:nvPr/>
        </p:nvSpPr>
        <p:spPr>
          <a:xfrm>
            <a:off x="12963525" y="4371785"/>
            <a:ext cx="1321118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advance, escalate,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8" name="text-175"/>
          <p:cNvSpPr>
            <a:spLocks noGrp="1"/>
          </p:cNvSpPr>
          <p:nvPr/>
        </p:nvSpPr>
        <p:spPr>
          <a:xfrm>
            <a:off x="12963525" y="4505135"/>
            <a:ext cx="1116806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or halt rollout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9" name="poly-1015-458"/>
          <p:cNvSpPr>
            <a:spLocks noGrp="1"/>
          </p:cNvSpPr>
          <p:nvPr/>
        </p:nvSpPr>
        <p:spPr>
          <a:xfrm>
            <a:off x="9629775" y="4497705"/>
            <a:ext cx="95250" cy="9525"/>
          </a:xfrm>
          <a:custGeom>
            <a:avLst/>
            <a:gdLst/>
            <a:ahLst/>
            <a:cxnLst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20955">
            <a:solidFill>
              <a:srgbClr val="059669"/>
            </a:solidFill>
            <a:prstDash val="solid"/>
          </a:ln>
        </p:spPr>
      </p:sp>
      <p:sp>
        <p:nvSpPr>
          <p:cNvPr id="200" name="poly-1017-454"/>
          <p:cNvSpPr>
            <a:spLocks noGrp="1"/>
          </p:cNvSpPr>
          <p:nvPr/>
        </p:nvSpPr>
        <p:spPr>
          <a:xfrm>
            <a:off x="9651683" y="4459986"/>
            <a:ext cx="73343" cy="75438"/>
          </a:xfrm>
          <a:custGeom>
            <a:avLst/>
            <a:gdLst/>
            <a:ahLst/>
            <a:cxnLst/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>
            <a:srgbClr val="059669"/>
          </a:solidFill>
          <a:ln w="4763">
            <a:solidFill>
              <a:srgbClr val="059669"/>
            </a:solidFill>
            <a:prstDash val="solid"/>
          </a:ln>
        </p:spPr>
      </p:sp>
      <p:sp>
        <p:nvSpPr>
          <p:cNvPr id="201" name="poly-1178-458"/>
          <p:cNvSpPr>
            <a:spLocks noGrp="1"/>
          </p:cNvSpPr>
          <p:nvPr/>
        </p:nvSpPr>
        <p:spPr>
          <a:xfrm>
            <a:off x="11182350" y="4497705"/>
            <a:ext cx="95250" cy="9525"/>
          </a:xfrm>
          <a:custGeom>
            <a:avLst/>
            <a:gdLst/>
            <a:ahLst/>
            <a:cxnLst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20955">
            <a:solidFill>
              <a:srgbClr val="059669"/>
            </a:solidFill>
            <a:prstDash val="solid"/>
          </a:ln>
        </p:spPr>
      </p:sp>
      <p:sp>
        <p:nvSpPr>
          <p:cNvPr id="202" name="poly-1180-454"/>
          <p:cNvSpPr>
            <a:spLocks noGrp="1"/>
          </p:cNvSpPr>
          <p:nvPr/>
        </p:nvSpPr>
        <p:spPr>
          <a:xfrm>
            <a:off x="11204258" y="4459986"/>
            <a:ext cx="73343" cy="75438"/>
          </a:xfrm>
          <a:custGeom>
            <a:avLst/>
            <a:gdLst/>
            <a:ahLst/>
            <a:cxnLst/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>
            <a:srgbClr val="059669"/>
          </a:solidFill>
          <a:ln w="4763">
            <a:solidFill>
              <a:srgbClr val="059669"/>
            </a:solidFill>
            <a:prstDash val="solid"/>
          </a:ln>
        </p:spPr>
      </p:sp>
      <p:sp>
        <p:nvSpPr>
          <p:cNvPr id="203" name="poly-1341-458"/>
          <p:cNvSpPr>
            <a:spLocks noGrp="1"/>
          </p:cNvSpPr>
          <p:nvPr/>
        </p:nvSpPr>
        <p:spPr>
          <a:xfrm>
            <a:off x="12734925" y="4497705"/>
            <a:ext cx="95250" cy="9525"/>
          </a:xfrm>
          <a:custGeom>
            <a:avLst/>
            <a:gdLst/>
            <a:ahLst/>
            <a:cxnLst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20955">
            <a:solidFill>
              <a:srgbClr val="059669"/>
            </a:solidFill>
            <a:prstDash val="solid"/>
          </a:ln>
        </p:spPr>
      </p:sp>
      <p:sp>
        <p:nvSpPr>
          <p:cNvPr id="204" name="poly-1343-454"/>
          <p:cNvSpPr>
            <a:spLocks noGrp="1"/>
          </p:cNvSpPr>
          <p:nvPr/>
        </p:nvSpPr>
        <p:spPr>
          <a:xfrm>
            <a:off x="12756833" y="4459986"/>
            <a:ext cx="73343" cy="75438"/>
          </a:xfrm>
          <a:custGeom>
            <a:avLst/>
            <a:gdLst/>
            <a:ahLst/>
            <a:cxnLst/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>
            <a:srgbClr val="059669"/>
          </a:solidFill>
          <a:ln w="4763">
            <a:solidFill>
              <a:srgbClr val="059669"/>
            </a:solidFill>
            <a:prstDash val="solid"/>
          </a:ln>
        </p:spPr>
      </p:sp>
      <p:sp>
        <p:nvSpPr>
          <p:cNvPr id="205" name="poly-951-498"/>
          <p:cNvSpPr>
            <a:spLocks noGrp="1"/>
          </p:cNvSpPr>
          <p:nvPr/>
        </p:nvSpPr>
        <p:spPr>
          <a:xfrm>
            <a:off x="9020175" y="4878705"/>
            <a:ext cx="4648200" cy="321469"/>
          </a:xfrm>
          <a:custGeom>
            <a:avLst/>
            <a:gdLst/>
            <a:ahLst/>
            <a:cxnLst/>
            <a:pathLst>
              <a:path w="4648200" h="321469">
                <a:moveTo>
                  <a:pt x="4648200" y="0"/>
                </a:moveTo>
                <a:lnTo>
                  <a:pt x="4595999" y="73684"/>
                </a:lnTo>
                <a:lnTo>
                  <a:pt x="4448473" y="137629"/>
                </a:lnTo>
                <a:lnTo>
                  <a:pt x="4219240" y="191919"/>
                </a:lnTo>
                <a:lnTo>
                  <a:pt x="3921919" y="236637"/>
                </a:lnTo>
                <a:lnTo>
                  <a:pt x="3570126" y="271867"/>
                </a:lnTo>
                <a:lnTo>
                  <a:pt x="3177480" y="297693"/>
                </a:lnTo>
                <a:lnTo>
                  <a:pt x="2757599" y="314199"/>
                </a:lnTo>
                <a:lnTo>
                  <a:pt x="2324100" y="321469"/>
                </a:lnTo>
                <a:lnTo>
                  <a:pt x="1890601" y="319585"/>
                </a:lnTo>
                <a:lnTo>
                  <a:pt x="1470720" y="308632"/>
                </a:lnTo>
                <a:lnTo>
                  <a:pt x="1078074" y="288694"/>
                </a:lnTo>
                <a:lnTo>
                  <a:pt x="726281" y="259854"/>
                </a:lnTo>
                <a:lnTo>
                  <a:pt x="428960" y="222196"/>
                </a:lnTo>
                <a:lnTo>
                  <a:pt x="199727" y="175803"/>
                </a:lnTo>
                <a:lnTo>
                  <a:pt x="52201" y="120760"/>
                </a:lnTo>
                <a:lnTo>
                  <a:pt x="0" y="57150"/>
                </a:lnTo>
              </a:path>
            </a:pathLst>
          </a:custGeom>
          <a:noFill/>
          <a:ln w="17145">
            <a:solidFill>
              <a:srgbClr val="7E22CE"/>
            </a:solidFill>
            <a:prstDash val="dash"/>
          </a:ln>
        </p:spPr>
      </p:sp>
      <p:sp>
        <p:nvSpPr>
          <p:cNvPr id="206" name="poly-951-504"/>
          <p:cNvSpPr>
            <a:spLocks noGrp="1"/>
          </p:cNvSpPr>
          <p:nvPr/>
        </p:nvSpPr>
        <p:spPr>
          <a:xfrm>
            <a:off x="9020175" y="4935855"/>
            <a:ext cx="61924" cy="65965"/>
          </a:xfrm>
          <a:custGeom>
            <a:avLst/>
            <a:gdLst/>
            <a:ahLst/>
            <a:cxnLst/>
            <a:pathLst>
              <a:path w="61924" h="65965">
                <a:moveTo>
                  <a:pt x="0" y="0"/>
                </a:moveTo>
                <a:lnTo>
                  <a:pt x="61924" y="26810"/>
                </a:lnTo>
                <a:lnTo>
                  <a:pt x="14211" y="65965"/>
                </a:lnTo>
                <a:lnTo>
                  <a:pt x="0" y="0"/>
                </a:lnTo>
              </a:path>
            </a:pathLst>
          </a:custGeom>
          <a:solidFill>
            <a:srgbClr val="7E22CE"/>
          </a:solidFill>
          <a:ln w="4763">
            <a:solidFill>
              <a:srgbClr val="7E22CE"/>
            </a:solidFill>
            <a:prstDash val="solid"/>
          </a:ln>
        </p:spPr>
      </p:sp>
      <p:sp>
        <p:nvSpPr>
          <p:cNvPr id="207" name="text-180"/>
          <p:cNvSpPr>
            <a:spLocks noGrp="1"/>
          </p:cNvSpPr>
          <p:nvPr/>
        </p:nvSpPr>
        <p:spPr>
          <a:xfrm>
            <a:off x="9900523" y="5214430"/>
            <a:ext cx="2887504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next stage uses updated w and judge level</a:t>
            </a:r>
            <a:endParaRPr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8" name="rect-181"/>
          <p:cNvSpPr>
            <a:spLocks noGrp="1"/>
          </p:cNvSpPr>
          <p:nvPr/>
        </p:nvSpPr>
        <p:spPr>
          <a:xfrm>
            <a:off x="8191500" y="5469255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209" name="text-182"/>
          <p:cNvSpPr>
            <a:spLocks noGrp="1"/>
          </p:cNvSpPr>
          <p:nvPr/>
        </p:nvSpPr>
        <p:spPr>
          <a:xfrm>
            <a:off x="8305800" y="5542788"/>
            <a:ext cx="441960" cy="202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PASS</a:t>
            </a:r>
            <a:endParaRPr sz="105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0" name="text-183"/>
          <p:cNvSpPr>
            <a:spLocks noGrp="1"/>
          </p:cNvSpPr>
          <p:nvPr/>
        </p:nvSpPr>
        <p:spPr>
          <a:xfrm>
            <a:off x="8305800" y="5781485"/>
            <a:ext cx="1253014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High score, low u</a:t>
            </a:r>
            <a:endParaRPr sz="82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1" name="text-184"/>
          <p:cNvSpPr>
            <a:spLocks noGrp="1"/>
          </p:cNvSpPr>
          <p:nvPr/>
        </p:nvSpPr>
        <p:spPr>
          <a:xfrm>
            <a:off x="8305800" y="5952935"/>
            <a:ext cx="118491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Keep cheap judge</a:t>
            </a:r>
            <a:endParaRPr sz="82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2" name="text-185"/>
          <p:cNvSpPr>
            <a:spLocks noGrp="1"/>
          </p:cNvSpPr>
          <p:nvPr/>
        </p:nvSpPr>
        <p:spPr>
          <a:xfrm>
            <a:off x="8305800" y="6171819"/>
            <a:ext cx="128397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Advance frontier</a:t>
            </a:r>
            <a:endParaRPr sz="900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3" name="rect-186"/>
          <p:cNvSpPr>
            <a:spLocks noGrp="1"/>
          </p:cNvSpPr>
          <p:nvPr/>
        </p:nvSpPr>
        <p:spPr>
          <a:xfrm>
            <a:off x="10210800" y="5469255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FDF4FF"/>
          </a:solidFill>
          <a:ln w="9525">
            <a:solidFill>
              <a:srgbClr val="F0ABFC"/>
            </a:solidFill>
            <a:prstDash val="solid"/>
          </a:ln>
        </p:spPr>
      </p:sp>
      <p:sp>
        <p:nvSpPr>
          <p:cNvPr id="214" name="text-187"/>
          <p:cNvSpPr>
            <a:spLocks noGrp="1"/>
          </p:cNvSpPr>
          <p:nvPr/>
        </p:nvSpPr>
        <p:spPr>
          <a:xfrm>
            <a:off x="10325100" y="5542788"/>
            <a:ext cx="528638" cy="202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050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ADAPT</a:t>
            </a:r>
            <a:endParaRPr sz="1050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5" name="text-188"/>
          <p:cNvSpPr>
            <a:spLocks noGrp="1"/>
          </p:cNvSpPr>
          <p:nvPr/>
        </p:nvSpPr>
        <p:spPr>
          <a:xfrm>
            <a:off x="10325100" y="5781485"/>
            <a:ext cx="1321118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Low score / high u</a:t>
            </a:r>
            <a:endParaRPr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6" name="text-189"/>
          <p:cNvSpPr>
            <a:spLocks noGrp="1"/>
          </p:cNvSpPr>
          <p:nvPr/>
        </p:nvSpPr>
        <p:spPr>
          <a:xfrm>
            <a:off x="10325100" y="5952935"/>
            <a:ext cx="1661636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Escalate weak dimension</a:t>
            </a:r>
            <a:endParaRPr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7" name="text-190"/>
          <p:cNvSpPr>
            <a:spLocks noGrp="1"/>
          </p:cNvSpPr>
          <p:nvPr/>
        </p:nvSpPr>
        <p:spPr>
          <a:xfrm>
            <a:off x="10325100" y="6171819"/>
            <a:ext cx="106108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A21C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A21C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Update policy</a:t>
            </a:r>
            <a:endParaRPr sz="900" b="1">
              <a:solidFill>
                <a:srgbClr val="A21C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8" name="rect-191"/>
          <p:cNvSpPr>
            <a:spLocks noGrp="1"/>
          </p:cNvSpPr>
          <p:nvPr/>
        </p:nvSpPr>
        <p:spPr>
          <a:xfrm>
            <a:off x="12230100" y="5469255"/>
            <a:ext cx="2266950" cy="9525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9050">
            <a:solidFill>
              <a:srgbClr val="FCA5A5"/>
            </a:solidFill>
            <a:prstDash val="solid"/>
          </a:ln>
        </p:spPr>
      </p:sp>
      <p:pic>
        <p:nvPicPr>
          <p:cNvPr id="473" name="图片 4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63450" y="5545455"/>
            <a:ext cx="171450" cy="171450"/>
          </a:xfrm>
          <a:prstGeom prst="rect">
            <a:avLst/>
          </a:prstGeom>
        </p:spPr>
      </p:pic>
      <p:sp>
        <p:nvSpPr>
          <p:cNvPr id="220" name="text-193"/>
          <p:cNvSpPr>
            <a:spLocks noGrp="1"/>
          </p:cNvSpPr>
          <p:nvPr/>
        </p:nvSpPr>
        <p:spPr>
          <a:xfrm>
            <a:off x="12611100" y="5542788"/>
            <a:ext cx="441960" cy="202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HALT</a:t>
            </a:r>
            <a:endParaRPr sz="10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1" name="text-194"/>
          <p:cNvSpPr>
            <a:spLocks noGrp="1"/>
          </p:cNvSpPr>
          <p:nvPr/>
        </p:nvSpPr>
        <p:spPr>
          <a:xfrm>
            <a:off x="12344400" y="5770880"/>
            <a:ext cx="2070100" cy="36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indent="0" algn="l" fontAlgn="auto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Stagnation, safety violation,</a:t>
            </a:r>
            <a:r>
              <a:rPr lang="en-US"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endParaRPr lang="en-US" sz="825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 fontAlgn="auto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>
                <a:sym typeface="+mn-ea"/>
              </a:rPr>
              <a:t>or unrecoverable quality</a:t>
            </a:r>
            <a:endParaRPr lang="en-US" sz="825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3" name="text-196"/>
          <p:cNvSpPr>
            <a:spLocks noGrp="1"/>
          </p:cNvSpPr>
          <p:nvPr/>
        </p:nvSpPr>
        <p:spPr>
          <a:xfrm>
            <a:off x="12344400" y="6209919"/>
            <a:ext cx="172974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Stop early with report</a:t>
            </a:r>
            <a:endParaRPr sz="900" b="1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4" name="rect-197"/>
          <p:cNvSpPr>
            <a:spLocks noGrp="1"/>
          </p:cNvSpPr>
          <p:nvPr/>
        </p:nvSpPr>
        <p:spPr>
          <a:xfrm>
            <a:off x="8191500" y="6536055"/>
            <a:ext cx="2857500" cy="140970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79" name="图片 4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6650355"/>
            <a:ext cx="171450" cy="171450"/>
          </a:xfrm>
          <a:prstGeom prst="rect">
            <a:avLst/>
          </a:prstGeom>
        </p:spPr>
      </p:pic>
      <p:sp>
        <p:nvSpPr>
          <p:cNvPr id="226" name="text-199"/>
          <p:cNvSpPr>
            <a:spLocks noGrp="1"/>
          </p:cNvSpPr>
          <p:nvPr/>
        </p:nvSpPr>
        <p:spPr>
          <a:xfrm>
            <a:off x="8553450" y="6647815"/>
            <a:ext cx="1810385" cy="202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0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Dynamic Multi-level </a:t>
            </a:r>
            <a:r>
              <a:rPr sz="10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Judge</a:t>
            </a:r>
            <a:endParaRPr sz="10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7" name="rect-200"/>
          <p:cNvSpPr>
            <a:spLocks noGrp="1"/>
          </p:cNvSpPr>
          <p:nvPr/>
        </p:nvSpPr>
        <p:spPr>
          <a:xfrm>
            <a:off x="8305800" y="6917055"/>
            <a:ext cx="2590800" cy="209550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228" name="text-201"/>
          <p:cNvSpPr>
            <a:spLocks noGrp="1"/>
          </p:cNvSpPr>
          <p:nvPr/>
        </p:nvSpPr>
        <p:spPr>
          <a:xfrm>
            <a:off x="8401050" y="6953060"/>
            <a:ext cx="2002155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</a:t>
            </a:r>
            <a:r>
              <a:rPr sz="8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heap - deterministic rules</a:t>
            </a:r>
            <a:endParaRPr sz="825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9" name="rect-202"/>
          <p:cNvSpPr>
            <a:spLocks noGrp="1"/>
          </p:cNvSpPr>
          <p:nvPr/>
        </p:nvSpPr>
        <p:spPr>
          <a:xfrm>
            <a:off x="8305800" y="7183755"/>
            <a:ext cx="2590800" cy="20955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0" name="text-203"/>
          <p:cNvSpPr>
            <a:spLocks noGrp="1"/>
          </p:cNvSpPr>
          <p:nvPr/>
        </p:nvSpPr>
        <p:spPr>
          <a:xfrm>
            <a:off x="8401050" y="7219760"/>
            <a:ext cx="1797844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Standard</a:t>
            </a: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- unified LLM review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1" name="rect-204"/>
          <p:cNvSpPr>
            <a:spLocks noGrp="1"/>
          </p:cNvSpPr>
          <p:nvPr/>
        </p:nvSpPr>
        <p:spPr>
          <a:xfrm>
            <a:off x="8305800" y="7450455"/>
            <a:ext cx="2590800" cy="209550"/>
          </a:xfrm>
          <a:prstGeom prst="roundRect">
            <a:avLst>
              <a:gd name="adj" fmla="val 22727"/>
            </a:avLst>
          </a:prstGeom>
          <a:solidFill>
            <a:srgbClr val="FDF4FF"/>
          </a:solidFill>
          <a:ln w="9525">
            <a:solidFill>
              <a:srgbClr val="F0ABFC"/>
            </a:solidFill>
            <a:prstDash val="solid"/>
          </a:ln>
        </p:spPr>
      </p:sp>
      <p:sp>
        <p:nvSpPr>
          <p:cNvPr id="232" name="text-205"/>
          <p:cNvSpPr>
            <a:spLocks noGrp="1"/>
          </p:cNvSpPr>
          <p:nvPr/>
        </p:nvSpPr>
        <p:spPr>
          <a:xfrm>
            <a:off x="8401050" y="7486650"/>
            <a:ext cx="249555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Expensive</a:t>
            </a: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-</a:t>
            </a: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specialist review</a:t>
            </a: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for each dimension</a:t>
            </a:r>
            <a:endParaRPr lang="en-US"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3" name="text-206"/>
          <p:cNvSpPr>
            <a:spLocks noGrp="1"/>
          </p:cNvSpPr>
          <p:nvPr/>
        </p:nvSpPr>
        <p:spPr>
          <a:xfrm>
            <a:off x="8305800" y="7734110"/>
            <a:ext cx="2751296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Weak / ambiguous stage escalates upward</a:t>
            </a:r>
            <a:endParaRPr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4" name="rect-207"/>
          <p:cNvSpPr>
            <a:spLocks noGrp="1"/>
          </p:cNvSpPr>
          <p:nvPr/>
        </p:nvSpPr>
        <p:spPr>
          <a:xfrm>
            <a:off x="11182350" y="6533515"/>
            <a:ext cx="3314700" cy="140970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89" name="图片 4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96650" y="6650355"/>
            <a:ext cx="171450" cy="171450"/>
          </a:xfrm>
          <a:prstGeom prst="rect">
            <a:avLst/>
          </a:prstGeom>
        </p:spPr>
      </p:pic>
      <p:sp>
        <p:nvSpPr>
          <p:cNvPr id="236" name="text-209"/>
          <p:cNvSpPr>
            <a:spLocks noGrp="1"/>
          </p:cNvSpPr>
          <p:nvPr/>
        </p:nvSpPr>
        <p:spPr>
          <a:xfrm>
            <a:off x="11544300" y="6647688"/>
            <a:ext cx="2088833" cy="202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10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Dimension weight update</a:t>
            </a:r>
            <a:endParaRPr sz="10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7" name="text-210"/>
          <p:cNvSpPr>
            <a:spLocks noGrp="1"/>
          </p:cNvSpPr>
          <p:nvPr/>
        </p:nvSpPr>
        <p:spPr>
          <a:xfrm>
            <a:off x="11296650" y="6889750"/>
            <a:ext cx="78930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</a:t>
            </a:r>
            <a:endParaRPr sz="82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8" name="rect-211"/>
          <p:cNvSpPr>
            <a:spLocks noGrp="1"/>
          </p:cNvSpPr>
          <p:nvPr/>
        </p:nvSpPr>
        <p:spPr>
          <a:xfrm>
            <a:off x="12106275" y="6926580"/>
            <a:ext cx="1333500" cy="85725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0">
            <a:noFill/>
            <a:prstDash val="solid"/>
          </a:ln>
        </p:spPr>
      </p:sp>
      <p:sp>
        <p:nvSpPr>
          <p:cNvPr id="239" name="rect-212"/>
          <p:cNvSpPr>
            <a:spLocks noGrp="1"/>
          </p:cNvSpPr>
          <p:nvPr/>
        </p:nvSpPr>
        <p:spPr>
          <a:xfrm>
            <a:off x="12106275" y="6926580"/>
            <a:ext cx="838200" cy="8572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240" name="text-213"/>
          <p:cNvSpPr>
            <a:spLocks noGrp="1"/>
          </p:cNvSpPr>
          <p:nvPr/>
        </p:nvSpPr>
        <p:spPr>
          <a:xfrm>
            <a:off x="11297285" y="7112635"/>
            <a:ext cx="78867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Efficiency</a:t>
            </a:r>
            <a:endParaRPr sz="82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1" name="rect-214"/>
          <p:cNvSpPr>
            <a:spLocks noGrp="1"/>
          </p:cNvSpPr>
          <p:nvPr/>
        </p:nvSpPr>
        <p:spPr>
          <a:xfrm>
            <a:off x="12106275" y="7155180"/>
            <a:ext cx="1333500" cy="85725"/>
          </a:xfrm>
          <a:prstGeom prst="roundRect">
            <a:avLst>
              <a:gd name="adj" fmla="val 50000"/>
            </a:avLst>
          </a:prstGeom>
          <a:solidFill>
            <a:srgbClr val="A7F3D0"/>
          </a:solidFill>
          <a:ln w="0">
            <a:noFill/>
            <a:prstDash val="solid"/>
          </a:ln>
        </p:spPr>
      </p:sp>
      <p:sp>
        <p:nvSpPr>
          <p:cNvPr id="242" name="rect-215"/>
          <p:cNvSpPr>
            <a:spLocks noGrp="1"/>
          </p:cNvSpPr>
          <p:nvPr/>
        </p:nvSpPr>
        <p:spPr>
          <a:xfrm>
            <a:off x="12106275" y="7155180"/>
            <a:ext cx="1066800" cy="8572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243" name="text-216"/>
          <p:cNvSpPr>
            <a:spLocks noGrp="1"/>
          </p:cNvSpPr>
          <p:nvPr/>
        </p:nvSpPr>
        <p:spPr>
          <a:xfrm>
            <a:off x="11296650" y="7347585"/>
            <a:ext cx="78867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Safety</a:t>
            </a:r>
            <a:endParaRPr sz="82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4" name="rect-217"/>
          <p:cNvSpPr>
            <a:spLocks noGrp="1"/>
          </p:cNvSpPr>
          <p:nvPr/>
        </p:nvSpPr>
        <p:spPr>
          <a:xfrm>
            <a:off x="12106275" y="7383780"/>
            <a:ext cx="1333500" cy="85725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noFill/>
            <a:prstDash val="solid"/>
          </a:ln>
        </p:spPr>
      </p:sp>
      <p:sp>
        <p:nvSpPr>
          <p:cNvPr id="245" name="rect-218"/>
          <p:cNvSpPr>
            <a:spLocks noGrp="1"/>
          </p:cNvSpPr>
          <p:nvPr/>
        </p:nvSpPr>
        <p:spPr>
          <a:xfrm>
            <a:off x="12106275" y="7383780"/>
            <a:ext cx="1200150" cy="857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50" name="text-220"/>
          <p:cNvSpPr>
            <a:spLocks noGrp="1"/>
          </p:cNvSpPr>
          <p:nvPr/>
        </p:nvSpPr>
        <p:spPr>
          <a:xfrm>
            <a:off x="11296650" y="7686675"/>
            <a:ext cx="279908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Low score / high u increases weight for next stage</a:t>
            </a:r>
            <a:endParaRPr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1" name="rect-221"/>
          <p:cNvSpPr>
            <a:spLocks noGrp="1"/>
          </p:cNvSpPr>
          <p:nvPr/>
        </p:nvSpPr>
        <p:spPr>
          <a:xfrm>
            <a:off x="8191500" y="8060055"/>
            <a:ext cx="630555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06" name="图片 50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8193405"/>
            <a:ext cx="190500" cy="190500"/>
          </a:xfrm>
          <a:prstGeom prst="rect">
            <a:avLst/>
          </a:prstGeom>
        </p:spPr>
      </p:pic>
      <p:sp>
        <p:nvSpPr>
          <p:cNvPr id="253" name="text-223"/>
          <p:cNvSpPr>
            <a:spLocks noGrp="1"/>
          </p:cNvSpPr>
          <p:nvPr/>
        </p:nvSpPr>
        <p:spPr>
          <a:xfrm>
            <a:off x="8591550" y="8162354"/>
            <a:ext cx="2107406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Auditable decision report</a:t>
            </a:r>
            <a:endParaRPr sz="97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4" name="text-224"/>
          <p:cNvSpPr>
            <a:spLocks noGrp="1"/>
          </p:cNvSpPr>
          <p:nvPr/>
        </p:nvSpPr>
        <p:spPr>
          <a:xfrm>
            <a:off x="8591550" y="8391335"/>
            <a:ext cx="6292691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closed action - dominator anchor - stage score - uncertainty - updated policy - stop reason</a:t>
            </a:r>
            <a:endParaRPr sz="825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2555855" y="1370330"/>
            <a:ext cx="382905" cy="20129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2555855" y="1571625"/>
            <a:ext cx="382905" cy="18161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3500100" y="1370330"/>
            <a:ext cx="393065" cy="19748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3500100" y="1567815"/>
            <a:ext cx="393065" cy="18542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59" idx="3"/>
            <a:endCxn id="80" idx="1"/>
          </p:cNvCxnSpPr>
          <p:nvPr/>
        </p:nvCxnSpPr>
        <p:spPr>
          <a:xfrm>
            <a:off x="10817860" y="1572260"/>
            <a:ext cx="984250" cy="0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22" idx="3"/>
            <a:endCxn id="59" idx="1"/>
          </p:cNvCxnSpPr>
          <p:nvPr/>
        </p:nvCxnSpPr>
        <p:spPr>
          <a:xfrm>
            <a:off x="7988935" y="1572260"/>
            <a:ext cx="758825" cy="0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6" idx="3"/>
            <a:endCxn id="22" idx="1"/>
          </p:cNvCxnSpPr>
          <p:nvPr/>
        </p:nvCxnSpPr>
        <p:spPr>
          <a:xfrm flipV="1">
            <a:off x="2820035" y="1572260"/>
            <a:ext cx="1114425" cy="635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25" name="组合 224"/>
          <p:cNvGrpSpPr/>
          <p:nvPr/>
        </p:nvGrpSpPr>
        <p:grpSpPr>
          <a:xfrm>
            <a:off x="455295" y="243840"/>
            <a:ext cx="289560" cy="289560"/>
            <a:chOff x="717" y="384"/>
            <a:chExt cx="456" cy="456"/>
          </a:xfrm>
        </p:grpSpPr>
        <p:sp>
          <p:nvSpPr>
            <p:cNvPr id="3" name="circle-3"/>
            <p:cNvSpPr>
              <a:spLocks noGrp="1"/>
            </p:cNvSpPr>
            <p:nvPr/>
          </p:nvSpPr>
          <p:spPr>
            <a:xfrm>
              <a:off x="717" y="384"/>
              <a:ext cx="456" cy="456"/>
            </a:xfrm>
            <a:prstGeom prst="ellipse">
              <a:avLst/>
            </a:prstGeom>
            <a:solidFill>
              <a:srgbClr val="2563EB"/>
            </a:solidFill>
            <a:ln w="0">
              <a:noFill/>
              <a:prstDash val="solid"/>
            </a:ln>
          </p:spPr>
        </p:sp>
        <p:sp>
          <p:nvSpPr>
            <p:cNvPr id="219" name="text-97"/>
            <p:cNvSpPr>
              <a:spLocks noGrp="1"/>
            </p:cNvSpPr>
            <p:nvPr/>
          </p:nvSpPr>
          <p:spPr>
            <a:xfrm>
              <a:off x="717" y="384"/>
              <a:ext cx="456" cy="45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defRPr sz="105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80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8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>
            <a:off x="455295" y="3322320"/>
            <a:ext cx="289560" cy="289560"/>
            <a:chOff x="717" y="384"/>
            <a:chExt cx="456" cy="456"/>
          </a:xfrm>
        </p:grpSpPr>
        <p:sp>
          <p:nvSpPr>
            <p:cNvPr id="252" name="circle-3"/>
            <p:cNvSpPr>
              <a:spLocks noGrp="1"/>
            </p:cNvSpPr>
            <p:nvPr/>
          </p:nvSpPr>
          <p:spPr>
            <a:xfrm>
              <a:off x="717" y="384"/>
              <a:ext cx="456" cy="456"/>
            </a:xfrm>
            <a:prstGeom prst="ellipse">
              <a:avLst/>
            </a:prstGeom>
            <a:solidFill>
              <a:srgbClr val="10B980"/>
            </a:solidFill>
            <a:ln w="0">
              <a:noFill/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" name="text-97"/>
            <p:cNvSpPr>
              <a:spLocks noGrp="1"/>
            </p:cNvSpPr>
            <p:nvPr/>
          </p:nvSpPr>
          <p:spPr>
            <a:xfrm>
              <a:off x="717" y="384"/>
              <a:ext cx="456" cy="45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defRPr sz="105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80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8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257" name="下箭头 256"/>
          <p:cNvSpPr/>
          <p:nvPr/>
        </p:nvSpPr>
        <p:spPr>
          <a:xfrm>
            <a:off x="7548245" y="2799080"/>
            <a:ext cx="647700" cy="381000"/>
          </a:xfrm>
          <a:prstGeom prst="downArrow">
            <a:avLst/>
          </a:prstGeom>
          <a:solidFill>
            <a:srgbClr val="1665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866390" y="1233805"/>
            <a:ext cx="97345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LLM Simulation</a:t>
            </a:r>
            <a:endParaRPr lang="en-US" altLang="zh-CN" b="1"/>
          </a:p>
        </p:txBody>
      </p:sp>
      <p:sp>
        <p:nvSpPr>
          <p:cNvPr id="21" name="文本框 20"/>
          <p:cNvSpPr txBox="1"/>
          <p:nvPr/>
        </p:nvSpPr>
        <p:spPr>
          <a:xfrm>
            <a:off x="10902950" y="1233805"/>
            <a:ext cx="64135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Merge</a:t>
            </a:r>
            <a:endParaRPr lang="en-US" altLang="zh-CN" b="1"/>
          </a:p>
        </p:txBody>
      </p:sp>
      <p:cxnSp>
        <p:nvCxnSpPr>
          <p:cNvPr id="106" name="直接箭头连接符 105"/>
          <p:cNvCxnSpPr>
            <a:stCxn id="122" idx="3"/>
            <a:endCxn id="124" idx="1"/>
          </p:cNvCxnSpPr>
          <p:nvPr/>
        </p:nvCxnSpPr>
        <p:spPr>
          <a:xfrm flipV="1">
            <a:off x="2526030" y="4608830"/>
            <a:ext cx="1146175" cy="19748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124" idx="3"/>
            <a:endCxn id="128" idx="1"/>
          </p:cNvCxnSpPr>
          <p:nvPr/>
        </p:nvCxnSpPr>
        <p:spPr>
          <a:xfrm>
            <a:off x="4434205" y="4608830"/>
            <a:ext cx="2105660" cy="19367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126" idx="3"/>
            <a:endCxn id="128" idx="1"/>
          </p:cNvCxnSpPr>
          <p:nvPr/>
        </p:nvCxnSpPr>
        <p:spPr>
          <a:xfrm flipV="1">
            <a:off x="6012180" y="4802505"/>
            <a:ext cx="527685" cy="32766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9" name="直接连接符 298"/>
          <p:cNvCxnSpPr>
            <a:stCxn id="124" idx="2"/>
            <a:endCxn id="142" idx="0"/>
          </p:cNvCxnSpPr>
          <p:nvPr/>
        </p:nvCxnSpPr>
        <p:spPr>
          <a:xfrm flipH="1">
            <a:off x="4045585" y="4751705"/>
            <a:ext cx="7620" cy="901700"/>
          </a:xfrm>
          <a:prstGeom prst="line">
            <a:avLst/>
          </a:prstGeom>
          <a:ln>
            <a:solidFill>
              <a:srgbClr val="60A5FA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3" name="组合 262"/>
          <p:cNvGrpSpPr/>
          <p:nvPr/>
        </p:nvGrpSpPr>
        <p:grpSpPr>
          <a:xfrm rot="0">
            <a:off x="6468024" y="5614055"/>
            <a:ext cx="495824" cy="495824"/>
            <a:chOff x="8024" y="10076"/>
            <a:chExt cx="688" cy="688"/>
          </a:xfrm>
        </p:grpSpPr>
        <p:sp>
          <p:nvSpPr>
            <p:cNvPr id="146" name="circle-133"/>
            <p:cNvSpPr>
              <a:spLocks noGrp="1"/>
            </p:cNvSpPr>
            <p:nvPr/>
          </p:nvSpPr>
          <p:spPr>
            <a:xfrm>
              <a:off x="8024" y="10076"/>
              <a:ext cx="688" cy="688"/>
            </a:xfrm>
            <a:prstGeom prst="ellipse">
              <a:avLst/>
            </a:prstGeom>
            <a:solidFill>
              <a:srgbClr val="FEE2E2"/>
            </a:solidFill>
            <a:ln w="20955">
              <a:solidFill>
                <a:srgbClr val="EF4444"/>
              </a:solidFill>
              <a:prstDash val="solid"/>
            </a:ln>
          </p:spPr>
        </p:sp>
        <p:sp>
          <p:nvSpPr>
            <p:cNvPr id="147" name="text-134"/>
            <p:cNvSpPr>
              <a:spLocks noGrp="1"/>
            </p:cNvSpPr>
            <p:nvPr/>
          </p:nvSpPr>
          <p:spPr>
            <a:xfrm>
              <a:off x="8118" y="10289"/>
              <a:ext cx="540" cy="22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75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STOP</a:t>
              </a:r>
              <a:endParaRPr sz="12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 rot="0">
            <a:off x="1824990" y="5636895"/>
            <a:ext cx="726440" cy="697230"/>
            <a:chOff x="2136" y="10098"/>
            <a:chExt cx="1008" cy="968"/>
          </a:xfrm>
        </p:grpSpPr>
        <p:sp>
          <p:nvSpPr>
            <p:cNvPr id="138" name="circle-125"/>
            <p:cNvSpPr>
              <a:spLocks noGrp="1"/>
            </p:cNvSpPr>
            <p:nvPr/>
          </p:nvSpPr>
          <p:spPr>
            <a:xfrm>
              <a:off x="2325" y="10098"/>
              <a:ext cx="630" cy="630"/>
            </a:xfrm>
            <a:prstGeom prst="ellipse">
              <a:avLst/>
            </a:prstGeom>
            <a:solidFill>
              <a:srgbClr val="DCFCE7"/>
            </a:solidFill>
            <a:ln w="20955">
              <a:solidFill>
                <a:srgbClr val="22C55E"/>
              </a:solidFill>
              <a:prstDash val="solid"/>
            </a:ln>
          </p:spPr>
        </p:sp>
        <p:sp>
          <p:nvSpPr>
            <p:cNvPr id="139" name="text-126"/>
            <p:cNvSpPr>
              <a:spLocks noGrp="1"/>
            </p:cNvSpPr>
            <p:nvPr/>
          </p:nvSpPr>
          <p:spPr>
            <a:xfrm>
              <a:off x="2465" y="10269"/>
              <a:ext cx="390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t1</a:t>
              </a:r>
              <a:endPara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59" name="text-139"/>
            <p:cNvSpPr>
              <a:spLocks noGrp="1"/>
            </p:cNvSpPr>
            <p:nvPr/>
          </p:nvSpPr>
          <p:spPr>
            <a:xfrm>
              <a:off x="2136" y="10815"/>
              <a:ext cx="1008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get time</a:t>
              </a:r>
              <a:endPara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 rot="0">
            <a:off x="2995930" y="5653405"/>
            <a:ext cx="411480" cy="675640"/>
            <a:chOff x="4740" y="10128"/>
            <a:chExt cx="571" cy="938"/>
          </a:xfrm>
        </p:grpSpPr>
        <p:sp>
          <p:nvSpPr>
            <p:cNvPr id="140" name="circle-127"/>
            <p:cNvSpPr>
              <a:spLocks noGrp="1"/>
            </p:cNvSpPr>
            <p:nvPr/>
          </p:nvSpPr>
          <p:spPr>
            <a:xfrm>
              <a:off x="4741" y="10128"/>
              <a:ext cx="570" cy="57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60A5FA"/>
              </a:solidFill>
              <a:prstDash val="solid"/>
            </a:ln>
          </p:spPr>
        </p:sp>
        <p:sp>
          <p:nvSpPr>
            <p:cNvPr id="141" name="text-128"/>
            <p:cNvSpPr>
              <a:spLocks noGrp="1"/>
            </p:cNvSpPr>
            <p:nvPr/>
          </p:nvSpPr>
          <p:spPr>
            <a:xfrm>
              <a:off x="4837" y="10284"/>
              <a:ext cx="375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t2</a:t>
              </a:r>
              <a:endPara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60" name="text-140"/>
            <p:cNvSpPr>
              <a:spLocks noGrp="1"/>
            </p:cNvSpPr>
            <p:nvPr/>
          </p:nvSpPr>
          <p:spPr>
            <a:xfrm>
              <a:off x="4740" y="10815"/>
              <a:ext cx="570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prepare</a:t>
              </a:r>
              <a:endParaRPr lang="en-US"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 rot="0">
            <a:off x="3839845" y="5653405"/>
            <a:ext cx="410845" cy="675640"/>
            <a:chOff x="5819" y="10128"/>
            <a:chExt cx="570" cy="938"/>
          </a:xfrm>
        </p:grpSpPr>
        <p:sp>
          <p:nvSpPr>
            <p:cNvPr id="142" name="circle-129"/>
            <p:cNvSpPr>
              <a:spLocks noGrp="1"/>
            </p:cNvSpPr>
            <p:nvPr/>
          </p:nvSpPr>
          <p:spPr>
            <a:xfrm>
              <a:off x="5819" y="10128"/>
              <a:ext cx="570" cy="57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60A5FA"/>
              </a:solidFill>
              <a:prstDash val="solid"/>
            </a:ln>
          </p:spPr>
        </p:sp>
        <p:sp>
          <p:nvSpPr>
            <p:cNvPr id="143" name="text-130"/>
            <p:cNvSpPr>
              <a:spLocks noGrp="1"/>
            </p:cNvSpPr>
            <p:nvPr/>
          </p:nvSpPr>
          <p:spPr>
            <a:xfrm>
              <a:off x="5877" y="10282"/>
              <a:ext cx="470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t3</a:t>
              </a:r>
              <a:endPara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61" name="text-141"/>
            <p:cNvSpPr>
              <a:spLocks noGrp="1"/>
            </p:cNvSpPr>
            <p:nvPr/>
          </p:nvSpPr>
          <p:spPr>
            <a:xfrm>
              <a:off x="5819" y="10815"/>
              <a:ext cx="570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search</a:t>
              </a:r>
              <a:endPara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rot="0">
            <a:off x="5430520" y="5653405"/>
            <a:ext cx="411480" cy="657225"/>
            <a:chOff x="7803" y="10128"/>
            <a:chExt cx="571" cy="912"/>
          </a:xfrm>
        </p:grpSpPr>
        <p:sp>
          <p:nvSpPr>
            <p:cNvPr id="144" name="circle-131"/>
            <p:cNvSpPr>
              <a:spLocks noGrp="1"/>
            </p:cNvSpPr>
            <p:nvPr/>
          </p:nvSpPr>
          <p:spPr>
            <a:xfrm>
              <a:off x="7804" y="10128"/>
              <a:ext cx="570" cy="57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60A5FA"/>
              </a:solidFill>
              <a:prstDash val="solid"/>
            </a:ln>
          </p:spPr>
        </p:sp>
        <p:sp>
          <p:nvSpPr>
            <p:cNvPr id="145" name="text-132"/>
            <p:cNvSpPr>
              <a:spLocks noGrp="1"/>
            </p:cNvSpPr>
            <p:nvPr/>
          </p:nvSpPr>
          <p:spPr>
            <a:xfrm>
              <a:off x="7913" y="10284"/>
              <a:ext cx="352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tN</a:t>
              </a:r>
              <a:endParaRPr lang="en-US"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62" name="text-142"/>
            <p:cNvSpPr>
              <a:spLocks noGrp="1"/>
            </p:cNvSpPr>
            <p:nvPr/>
          </p:nvSpPr>
          <p:spPr>
            <a:xfrm>
              <a:off x="7803" y="10815"/>
              <a:ext cx="571" cy="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filter</a:t>
              </a:r>
              <a:endParaRPr lang="en-US"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 rot="0">
            <a:off x="699135" y="5636895"/>
            <a:ext cx="726440" cy="697315"/>
            <a:chOff x="2136" y="10098"/>
            <a:chExt cx="1008" cy="968"/>
          </a:xfrm>
        </p:grpSpPr>
        <p:sp>
          <p:nvSpPr>
            <p:cNvPr id="273" name="circle-125"/>
            <p:cNvSpPr>
              <a:spLocks noGrp="1"/>
            </p:cNvSpPr>
            <p:nvPr/>
          </p:nvSpPr>
          <p:spPr>
            <a:xfrm>
              <a:off x="2325" y="10098"/>
              <a:ext cx="630" cy="63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0955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4" name="text-126"/>
            <p:cNvSpPr>
              <a:spLocks noGrp="1"/>
            </p:cNvSpPr>
            <p:nvPr/>
          </p:nvSpPr>
          <p:spPr>
            <a:xfrm>
              <a:off x="2370" y="10269"/>
              <a:ext cx="540" cy="2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start</a:t>
              </a:r>
              <a:endParaRPr lang="en-US"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75" name="text-139"/>
            <p:cNvSpPr>
              <a:spLocks noGrp="1"/>
            </p:cNvSpPr>
            <p:nvPr/>
          </p:nvSpPr>
          <p:spPr>
            <a:xfrm>
              <a:off x="2136" y="10815"/>
              <a:ext cx="1008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825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2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__start__</a:t>
              </a:r>
              <a:endParaRPr lang="en-US"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4606290" y="5653405"/>
            <a:ext cx="410210" cy="410210"/>
            <a:chOff x="7254" y="10141"/>
            <a:chExt cx="646" cy="646"/>
          </a:xfrm>
        </p:grpSpPr>
        <p:sp>
          <p:nvSpPr>
            <p:cNvPr id="281" name="circle-131"/>
            <p:cNvSpPr>
              <a:spLocks noGrp="1"/>
            </p:cNvSpPr>
            <p:nvPr/>
          </p:nvSpPr>
          <p:spPr>
            <a:xfrm>
              <a:off x="7254" y="10141"/>
              <a:ext cx="647" cy="647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60A5FA"/>
              </a:solidFill>
              <a:prstDash val="solid"/>
            </a:ln>
          </p:spPr>
        </p:sp>
        <p:sp>
          <p:nvSpPr>
            <p:cNvPr id="282" name="text-132"/>
            <p:cNvSpPr>
              <a:spLocks noGrp="1"/>
            </p:cNvSpPr>
            <p:nvPr/>
          </p:nvSpPr>
          <p:spPr>
            <a:xfrm>
              <a:off x="7334" y="10316"/>
              <a:ext cx="517" cy="31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/>
            <a:p>
              <a:pPr algn="ctr">
                <a:defRPr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900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……</a:t>
              </a:r>
              <a:endParaRPr lang="en-US"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cxnSp>
        <p:nvCxnSpPr>
          <p:cNvPr id="288" name="直接箭头连接符 287"/>
          <p:cNvCxnSpPr/>
          <p:nvPr/>
        </p:nvCxnSpPr>
        <p:spPr>
          <a:xfrm>
            <a:off x="1289685" y="5864225"/>
            <a:ext cx="67183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9" name="直接箭头连接符 288"/>
          <p:cNvCxnSpPr>
            <a:endCxn id="140" idx="2"/>
          </p:cNvCxnSpPr>
          <p:nvPr/>
        </p:nvCxnSpPr>
        <p:spPr>
          <a:xfrm flipV="1">
            <a:off x="2415540" y="5859145"/>
            <a:ext cx="581025" cy="508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0" name="直接箭头连接符 289"/>
          <p:cNvCxnSpPr>
            <a:stCxn id="140" idx="6"/>
            <a:endCxn id="142" idx="2"/>
          </p:cNvCxnSpPr>
          <p:nvPr/>
        </p:nvCxnSpPr>
        <p:spPr>
          <a:xfrm>
            <a:off x="3407410" y="5859145"/>
            <a:ext cx="432435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1" name="直接箭头连接符 290"/>
          <p:cNvCxnSpPr/>
          <p:nvPr/>
        </p:nvCxnSpPr>
        <p:spPr>
          <a:xfrm>
            <a:off x="4297680" y="5859145"/>
            <a:ext cx="30861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2" name="直接箭头连接符 291"/>
          <p:cNvCxnSpPr>
            <a:endCxn id="144" idx="2"/>
          </p:cNvCxnSpPr>
          <p:nvPr/>
        </p:nvCxnSpPr>
        <p:spPr>
          <a:xfrm>
            <a:off x="5017135" y="5859145"/>
            <a:ext cx="41402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>
            <a:stCxn id="144" idx="6"/>
          </p:cNvCxnSpPr>
          <p:nvPr/>
        </p:nvCxnSpPr>
        <p:spPr>
          <a:xfrm>
            <a:off x="5842000" y="5859145"/>
            <a:ext cx="626110" cy="317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/>
        </p:nvSpPr>
        <p:spPr>
          <a:xfrm>
            <a:off x="13452475" y="6889115"/>
            <a:ext cx="368300" cy="1600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90000"/>
              </a:lnSpc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</a:t>
            </a: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↓</a:t>
            </a:r>
            <a:endParaRPr lang="en-US"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13452475" y="7112000"/>
            <a:ext cx="368300" cy="1600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90000"/>
              </a:lnSpc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</a:t>
            </a: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-</a:t>
            </a:r>
            <a:endParaRPr lang="en-US"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13452475" y="7347585"/>
            <a:ext cx="368300" cy="1600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90000"/>
              </a:lnSpc>
            </a:pPr>
            <a:r>
              <a:rPr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</a:t>
            </a:r>
            <a:r>
              <a:rPr lang="en-US" sz="82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↑</a:t>
            </a:r>
            <a:endParaRPr lang="en-US" sz="82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298" name="直接连接符 297"/>
          <p:cNvCxnSpPr>
            <a:stCxn id="122" idx="2"/>
            <a:endCxn id="138" idx="0"/>
          </p:cNvCxnSpPr>
          <p:nvPr/>
        </p:nvCxnSpPr>
        <p:spPr>
          <a:xfrm flipH="1">
            <a:off x="2188845" y="4987290"/>
            <a:ext cx="3810" cy="64960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122" idx="3"/>
            <a:endCxn id="126" idx="1"/>
          </p:cNvCxnSpPr>
          <p:nvPr/>
        </p:nvCxnSpPr>
        <p:spPr>
          <a:xfrm>
            <a:off x="2526030" y="4806315"/>
            <a:ext cx="2724150" cy="32385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>
            <a:off x="5631180" y="5273040"/>
            <a:ext cx="5715" cy="38036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5" name="rect-112"/>
          <p:cNvSpPr>
            <a:spLocks noGrp="1"/>
          </p:cNvSpPr>
          <p:nvPr/>
        </p:nvSpPr>
        <p:spPr>
          <a:xfrm>
            <a:off x="852170" y="6793230"/>
            <a:ext cx="1340485" cy="831215"/>
          </a:xfrm>
          <a:prstGeom prst="roundRect">
            <a:avLst>
              <a:gd name="adj" fmla="val 8096"/>
            </a:avLst>
          </a:prstGeom>
          <a:solidFill>
            <a:srgbClr val="DCFCE7"/>
          </a:solidFill>
          <a:ln w="15240">
            <a:solidFill>
              <a:srgbClr val="22C55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06" name="text-113"/>
          <p:cNvSpPr>
            <a:spLocks noGrp="1"/>
          </p:cNvSpPr>
          <p:nvPr/>
        </p:nvSpPr>
        <p:spPr>
          <a:xfrm>
            <a:off x="918845" y="6843395"/>
            <a:ext cx="12839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Start→M0:  Pass</a:t>
            </a:r>
            <a:endParaRPr lang="zh-CN" altLang="en-US" sz="1200" b="1">
              <a:solidFill>
                <a:srgbClr val="166534"/>
              </a:solidFill>
              <a:latin typeface="Segoe UI" panose="020B0502040204020203"/>
              <a:ea typeface="宋体" panose="02010600030101010101" pitchFamily="2" charset="-122"/>
              <a:cs typeface="Segoe UI" panose="020B0502040204020203"/>
            </a:endParaRPr>
          </a:p>
        </p:txBody>
      </p:sp>
      <p:grpSp>
        <p:nvGrpSpPr>
          <p:cNvPr id="321" name="组合 320"/>
          <p:cNvGrpSpPr/>
          <p:nvPr/>
        </p:nvGrpSpPr>
        <p:grpSpPr>
          <a:xfrm>
            <a:off x="908685" y="7031355"/>
            <a:ext cx="1191895" cy="574040"/>
            <a:chOff x="1341" y="11696"/>
            <a:chExt cx="1877" cy="904"/>
          </a:xfrm>
        </p:grpSpPr>
        <p:sp>
          <p:nvSpPr>
            <p:cNvPr id="307" name="text-210"/>
            <p:cNvSpPr>
              <a:spLocks noGrp="1"/>
            </p:cNvSpPr>
            <p:nvPr/>
          </p:nvSpPr>
          <p:spPr>
            <a:xfrm>
              <a:off x="1350" y="11696"/>
              <a:ext cx="95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Correctness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08" name="rect-211"/>
            <p:cNvSpPr>
              <a:spLocks noGrp="1"/>
            </p:cNvSpPr>
            <p:nvPr/>
          </p:nvSpPr>
          <p:spPr>
            <a:xfrm>
              <a:off x="2262" y="11775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BFDBFE"/>
            </a:solidFill>
            <a:ln w="0">
              <a:noFill/>
              <a:prstDash val="solid"/>
            </a:ln>
          </p:spPr>
        </p:sp>
        <p:sp>
          <p:nvSpPr>
            <p:cNvPr id="309" name="rect-212"/>
            <p:cNvSpPr>
              <a:spLocks noGrp="1"/>
            </p:cNvSpPr>
            <p:nvPr/>
          </p:nvSpPr>
          <p:spPr>
            <a:xfrm>
              <a:off x="2262" y="11775"/>
              <a:ext cx="854" cy="135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 w="0">
              <a:noFill/>
              <a:prstDash val="solid"/>
            </a:ln>
          </p:spPr>
        </p:sp>
        <p:sp>
          <p:nvSpPr>
            <p:cNvPr id="310" name="text-213"/>
            <p:cNvSpPr>
              <a:spLocks noGrp="1"/>
            </p:cNvSpPr>
            <p:nvPr/>
          </p:nvSpPr>
          <p:spPr>
            <a:xfrm>
              <a:off x="1351" y="11923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Efficiency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11" name="rect-214"/>
            <p:cNvSpPr>
              <a:spLocks noGrp="1"/>
            </p:cNvSpPr>
            <p:nvPr/>
          </p:nvSpPr>
          <p:spPr>
            <a:xfrm>
              <a:off x="2262" y="11990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A7F3D0"/>
            </a:solidFill>
            <a:ln w="0">
              <a:noFill/>
              <a:prstDash val="solid"/>
            </a:ln>
          </p:spPr>
        </p:sp>
        <p:sp>
          <p:nvSpPr>
            <p:cNvPr id="312" name="rect-215"/>
            <p:cNvSpPr>
              <a:spLocks noGrp="1"/>
            </p:cNvSpPr>
            <p:nvPr/>
          </p:nvSpPr>
          <p:spPr>
            <a:xfrm>
              <a:off x="2262" y="11990"/>
              <a:ext cx="696" cy="13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  <a:prstDash val="solid"/>
            </a:ln>
          </p:spPr>
        </p:sp>
        <p:sp>
          <p:nvSpPr>
            <p:cNvPr id="313" name="text-216"/>
            <p:cNvSpPr>
              <a:spLocks noGrp="1"/>
            </p:cNvSpPr>
            <p:nvPr/>
          </p:nvSpPr>
          <p:spPr>
            <a:xfrm>
              <a:off x="1341" y="12149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Safety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15" name="rect-217"/>
            <p:cNvSpPr>
              <a:spLocks noGrp="1"/>
            </p:cNvSpPr>
            <p:nvPr/>
          </p:nvSpPr>
          <p:spPr>
            <a:xfrm>
              <a:off x="2253" y="12206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FECACA"/>
            </a:solidFill>
            <a:ln w="0">
              <a:noFill/>
              <a:prstDash val="solid"/>
            </a:ln>
          </p:spPr>
        </p:sp>
        <p:sp>
          <p:nvSpPr>
            <p:cNvPr id="316" name="rect-218"/>
            <p:cNvSpPr>
              <a:spLocks noGrp="1"/>
            </p:cNvSpPr>
            <p:nvPr/>
          </p:nvSpPr>
          <p:spPr>
            <a:xfrm>
              <a:off x="2253" y="12206"/>
              <a:ext cx="860" cy="135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 w="0">
              <a:noFill/>
              <a:prstDash val="solid"/>
            </a:ln>
          </p:spPr>
        </p:sp>
        <p:sp>
          <p:nvSpPr>
            <p:cNvPr id="320" name="text-216"/>
            <p:cNvSpPr>
              <a:spLocks noGrp="1"/>
            </p:cNvSpPr>
            <p:nvPr/>
          </p:nvSpPr>
          <p:spPr>
            <a:xfrm>
              <a:off x="1342" y="12349"/>
              <a:ext cx="187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……</a:t>
              </a:r>
              <a:endParaRPr lang="en-US"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322" name="rect-112"/>
          <p:cNvSpPr>
            <a:spLocks noGrp="1"/>
          </p:cNvSpPr>
          <p:nvPr/>
        </p:nvSpPr>
        <p:spPr>
          <a:xfrm>
            <a:off x="2237105" y="7085330"/>
            <a:ext cx="1819910" cy="831215"/>
          </a:xfrm>
          <a:prstGeom prst="roundRect">
            <a:avLst>
              <a:gd name="adj" fmla="val 8096"/>
            </a:avLst>
          </a:prstGeom>
          <a:solidFill>
            <a:srgbClr val="EFF6FF"/>
          </a:solidFill>
          <a:ln w="13335">
            <a:solidFill>
              <a:srgbClr val="60A5FA"/>
            </a:solidFill>
            <a:prstDash val="solid"/>
          </a:ln>
        </p:spPr>
      </p:sp>
      <p:sp>
        <p:nvSpPr>
          <p:cNvPr id="323" name="text-113"/>
          <p:cNvSpPr>
            <a:spLocks noGrp="1"/>
          </p:cNvSpPr>
          <p:nvPr/>
        </p:nvSpPr>
        <p:spPr>
          <a:xfrm>
            <a:off x="2301875" y="7114540"/>
            <a:ext cx="1190625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M0→M1a:  Pass</a:t>
            </a:r>
            <a:endParaRPr lang="en-US" altLang="en-US"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grpSp>
        <p:nvGrpSpPr>
          <p:cNvPr id="324" name="组合 323"/>
          <p:cNvGrpSpPr/>
          <p:nvPr/>
        </p:nvGrpSpPr>
        <p:grpSpPr>
          <a:xfrm>
            <a:off x="2296160" y="7323455"/>
            <a:ext cx="1191895" cy="574040"/>
            <a:chOff x="1341" y="11696"/>
            <a:chExt cx="1877" cy="904"/>
          </a:xfrm>
        </p:grpSpPr>
        <p:sp>
          <p:nvSpPr>
            <p:cNvPr id="325" name="text-210"/>
            <p:cNvSpPr>
              <a:spLocks noGrp="1"/>
            </p:cNvSpPr>
            <p:nvPr/>
          </p:nvSpPr>
          <p:spPr>
            <a:xfrm>
              <a:off x="1350" y="11696"/>
              <a:ext cx="95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C0000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Correctness</a:t>
              </a:r>
              <a:endParaRPr sz="8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26" name="rect-211"/>
            <p:cNvSpPr>
              <a:spLocks noGrp="1"/>
            </p:cNvSpPr>
            <p:nvPr/>
          </p:nvSpPr>
          <p:spPr>
            <a:xfrm>
              <a:off x="2262" y="11775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BFDBFE"/>
            </a:solidFill>
            <a:ln w="0">
              <a:noFill/>
              <a:prstDash val="solid"/>
            </a:ln>
          </p:spPr>
        </p:sp>
        <p:sp>
          <p:nvSpPr>
            <p:cNvPr id="327" name="rect-212"/>
            <p:cNvSpPr>
              <a:spLocks noGrp="1"/>
            </p:cNvSpPr>
            <p:nvPr/>
          </p:nvSpPr>
          <p:spPr>
            <a:xfrm>
              <a:off x="2262" y="11775"/>
              <a:ext cx="580" cy="135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 w="0">
              <a:noFill/>
              <a:prstDash val="solid"/>
            </a:ln>
          </p:spPr>
        </p:sp>
        <p:sp>
          <p:nvSpPr>
            <p:cNvPr id="328" name="text-213"/>
            <p:cNvSpPr>
              <a:spLocks noGrp="1"/>
            </p:cNvSpPr>
            <p:nvPr/>
          </p:nvSpPr>
          <p:spPr>
            <a:xfrm>
              <a:off x="1351" y="11923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Efficiency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29" name="rect-214"/>
            <p:cNvSpPr>
              <a:spLocks noGrp="1"/>
            </p:cNvSpPr>
            <p:nvPr/>
          </p:nvSpPr>
          <p:spPr>
            <a:xfrm>
              <a:off x="2262" y="11990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A7F3D0"/>
            </a:solidFill>
            <a:ln w="0">
              <a:noFill/>
              <a:prstDash val="solid"/>
            </a:ln>
          </p:spPr>
        </p:sp>
        <p:sp>
          <p:nvSpPr>
            <p:cNvPr id="330" name="rect-215"/>
            <p:cNvSpPr>
              <a:spLocks noGrp="1"/>
            </p:cNvSpPr>
            <p:nvPr/>
          </p:nvSpPr>
          <p:spPr>
            <a:xfrm>
              <a:off x="2262" y="11990"/>
              <a:ext cx="866" cy="13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  <a:prstDash val="solid"/>
            </a:ln>
          </p:spPr>
        </p:sp>
        <p:sp>
          <p:nvSpPr>
            <p:cNvPr id="331" name="text-216"/>
            <p:cNvSpPr>
              <a:spLocks noGrp="1"/>
            </p:cNvSpPr>
            <p:nvPr/>
          </p:nvSpPr>
          <p:spPr>
            <a:xfrm>
              <a:off x="1341" y="12149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Safety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32" name="rect-217"/>
            <p:cNvSpPr>
              <a:spLocks noGrp="1"/>
            </p:cNvSpPr>
            <p:nvPr/>
          </p:nvSpPr>
          <p:spPr>
            <a:xfrm>
              <a:off x="2253" y="12206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FECACA"/>
            </a:solidFill>
            <a:ln w="0">
              <a:noFill/>
              <a:prstDash val="solid"/>
            </a:ln>
          </p:spPr>
        </p:sp>
        <p:sp>
          <p:nvSpPr>
            <p:cNvPr id="333" name="rect-218"/>
            <p:cNvSpPr>
              <a:spLocks noGrp="1"/>
            </p:cNvSpPr>
            <p:nvPr/>
          </p:nvSpPr>
          <p:spPr>
            <a:xfrm>
              <a:off x="2253" y="12206"/>
              <a:ext cx="781" cy="135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 w="0">
              <a:noFill/>
              <a:prstDash val="solid"/>
            </a:ln>
          </p:spPr>
        </p:sp>
        <p:sp>
          <p:nvSpPr>
            <p:cNvPr id="334" name="text-216"/>
            <p:cNvSpPr>
              <a:spLocks noGrp="1"/>
            </p:cNvSpPr>
            <p:nvPr/>
          </p:nvSpPr>
          <p:spPr>
            <a:xfrm>
              <a:off x="1342" y="12349"/>
              <a:ext cx="187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……</a:t>
              </a:r>
              <a:endParaRPr lang="en-US"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337" name="rect-112"/>
          <p:cNvSpPr>
            <a:spLocks noGrp="1"/>
          </p:cNvSpPr>
          <p:nvPr/>
        </p:nvSpPr>
        <p:spPr>
          <a:xfrm>
            <a:off x="2232025" y="8060055"/>
            <a:ext cx="3399155" cy="831215"/>
          </a:xfrm>
          <a:prstGeom prst="roundRect">
            <a:avLst>
              <a:gd name="adj" fmla="val 8096"/>
            </a:avLst>
          </a:prstGeom>
          <a:solidFill>
            <a:srgbClr val="FEE2E2"/>
          </a:solidFill>
          <a:ln w="20955">
            <a:solidFill>
              <a:srgbClr val="EF4444"/>
            </a:solidFill>
            <a:prstDash val="solid"/>
          </a:ln>
        </p:spPr>
      </p:sp>
      <p:sp>
        <p:nvSpPr>
          <p:cNvPr id="338" name="text-113"/>
          <p:cNvSpPr>
            <a:spLocks noGrp="1"/>
          </p:cNvSpPr>
          <p:nvPr/>
        </p:nvSpPr>
        <p:spPr>
          <a:xfrm>
            <a:off x="2296795" y="8089265"/>
            <a:ext cx="1190625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2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M0→M1b:  Fail</a:t>
            </a:r>
            <a:endParaRPr lang="en-US" altLang="en-US" sz="1200" b="1">
              <a:solidFill>
                <a:srgbClr val="C0000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350" name="直接连接符 349"/>
          <p:cNvCxnSpPr/>
          <p:nvPr/>
        </p:nvCxnSpPr>
        <p:spPr>
          <a:xfrm>
            <a:off x="5632450" y="6346825"/>
            <a:ext cx="4445" cy="1757680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9" name="组合 338"/>
          <p:cNvGrpSpPr/>
          <p:nvPr/>
        </p:nvGrpSpPr>
        <p:grpSpPr>
          <a:xfrm>
            <a:off x="2291080" y="8298180"/>
            <a:ext cx="1191895" cy="574040"/>
            <a:chOff x="1341" y="11696"/>
            <a:chExt cx="1877" cy="904"/>
          </a:xfrm>
        </p:grpSpPr>
        <p:sp>
          <p:nvSpPr>
            <p:cNvPr id="340" name="text-210"/>
            <p:cNvSpPr>
              <a:spLocks noGrp="1"/>
            </p:cNvSpPr>
            <p:nvPr/>
          </p:nvSpPr>
          <p:spPr>
            <a:xfrm>
              <a:off x="1350" y="11696"/>
              <a:ext cx="95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C0000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Correctness</a:t>
              </a:r>
              <a:endParaRPr sz="8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41" name="rect-211"/>
            <p:cNvSpPr>
              <a:spLocks noGrp="1"/>
            </p:cNvSpPr>
            <p:nvPr/>
          </p:nvSpPr>
          <p:spPr>
            <a:xfrm>
              <a:off x="2262" y="11775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BFDBFE"/>
            </a:solidFill>
            <a:ln w="0">
              <a:noFill/>
              <a:prstDash val="solid"/>
            </a:ln>
          </p:spPr>
        </p:sp>
        <p:sp>
          <p:nvSpPr>
            <p:cNvPr id="342" name="rect-212"/>
            <p:cNvSpPr>
              <a:spLocks noGrp="1"/>
            </p:cNvSpPr>
            <p:nvPr/>
          </p:nvSpPr>
          <p:spPr>
            <a:xfrm>
              <a:off x="2262" y="11775"/>
              <a:ext cx="454" cy="135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 w="0">
              <a:noFill/>
              <a:prstDash val="solid"/>
            </a:ln>
          </p:spPr>
        </p:sp>
        <p:sp>
          <p:nvSpPr>
            <p:cNvPr id="343" name="text-213"/>
            <p:cNvSpPr>
              <a:spLocks noGrp="1"/>
            </p:cNvSpPr>
            <p:nvPr/>
          </p:nvSpPr>
          <p:spPr>
            <a:xfrm>
              <a:off x="1351" y="11923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Efficiency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44" name="rect-214"/>
            <p:cNvSpPr>
              <a:spLocks noGrp="1"/>
            </p:cNvSpPr>
            <p:nvPr/>
          </p:nvSpPr>
          <p:spPr>
            <a:xfrm>
              <a:off x="2262" y="11990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A7F3D0"/>
            </a:solidFill>
            <a:ln w="0">
              <a:noFill/>
              <a:prstDash val="solid"/>
            </a:ln>
          </p:spPr>
        </p:sp>
        <p:sp>
          <p:nvSpPr>
            <p:cNvPr id="345" name="rect-215"/>
            <p:cNvSpPr>
              <a:spLocks noGrp="1"/>
            </p:cNvSpPr>
            <p:nvPr/>
          </p:nvSpPr>
          <p:spPr>
            <a:xfrm>
              <a:off x="2262" y="11990"/>
              <a:ext cx="551" cy="13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  <a:prstDash val="solid"/>
            </a:ln>
          </p:spPr>
        </p:sp>
        <p:sp>
          <p:nvSpPr>
            <p:cNvPr id="346" name="text-216"/>
            <p:cNvSpPr>
              <a:spLocks noGrp="1"/>
            </p:cNvSpPr>
            <p:nvPr/>
          </p:nvSpPr>
          <p:spPr>
            <a:xfrm>
              <a:off x="1341" y="12149"/>
              <a:ext cx="954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Safety</a:t>
              </a:r>
              <a:endPara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47" name="rect-217"/>
            <p:cNvSpPr>
              <a:spLocks noGrp="1"/>
            </p:cNvSpPr>
            <p:nvPr/>
          </p:nvSpPr>
          <p:spPr>
            <a:xfrm>
              <a:off x="2253" y="12206"/>
              <a:ext cx="956" cy="135"/>
            </a:xfrm>
            <a:prstGeom prst="roundRect">
              <a:avLst>
                <a:gd name="adj" fmla="val 50000"/>
              </a:avLst>
            </a:prstGeom>
            <a:solidFill>
              <a:srgbClr val="FECACA"/>
            </a:solidFill>
            <a:ln w="0">
              <a:noFill/>
              <a:prstDash val="solid"/>
            </a:ln>
          </p:spPr>
        </p:sp>
        <p:sp>
          <p:nvSpPr>
            <p:cNvPr id="348" name="rect-218"/>
            <p:cNvSpPr>
              <a:spLocks noGrp="1"/>
            </p:cNvSpPr>
            <p:nvPr/>
          </p:nvSpPr>
          <p:spPr>
            <a:xfrm>
              <a:off x="2253" y="12206"/>
              <a:ext cx="846" cy="135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 w="0">
              <a:noFill/>
              <a:prstDash val="solid"/>
            </a:ln>
          </p:spPr>
        </p:sp>
        <p:sp>
          <p:nvSpPr>
            <p:cNvPr id="349" name="text-216"/>
            <p:cNvSpPr>
              <a:spLocks noGrp="1"/>
            </p:cNvSpPr>
            <p:nvPr/>
          </p:nvSpPr>
          <p:spPr>
            <a:xfrm>
              <a:off x="1342" y="12349"/>
              <a:ext cx="1875" cy="25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80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……</a:t>
              </a:r>
              <a:endParaRPr lang="en-US"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cxnSp>
        <p:nvCxnSpPr>
          <p:cNvPr id="351" name="直接连接符 350"/>
          <p:cNvCxnSpPr/>
          <p:nvPr/>
        </p:nvCxnSpPr>
        <p:spPr>
          <a:xfrm>
            <a:off x="4045585" y="6346825"/>
            <a:ext cx="5080" cy="720090"/>
          </a:xfrm>
          <a:prstGeom prst="line">
            <a:avLst/>
          </a:prstGeom>
          <a:ln>
            <a:solidFill>
              <a:srgbClr val="60A5FA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>
            <a:off x="2188845" y="6362700"/>
            <a:ext cx="1270" cy="41592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4" name="曲线连接符 353"/>
          <p:cNvCxnSpPr>
            <a:stCxn id="305" idx="2"/>
          </p:cNvCxnSpPr>
          <p:nvPr/>
        </p:nvCxnSpPr>
        <p:spPr>
          <a:xfrm rot="5400000" flipV="1">
            <a:off x="1825625" y="7320915"/>
            <a:ext cx="90170" cy="69659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5" name="曲线连接符 354"/>
          <p:cNvCxnSpPr>
            <a:stCxn id="322" idx="3"/>
          </p:cNvCxnSpPr>
          <p:nvPr/>
        </p:nvCxnSpPr>
        <p:spPr>
          <a:xfrm>
            <a:off x="4057015" y="7501255"/>
            <a:ext cx="466725" cy="5734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6" name="文本框 355"/>
          <p:cNvSpPr txBox="1"/>
          <p:nvPr/>
        </p:nvSpPr>
        <p:spPr>
          <a:xfrm>
            <a:off x="842010" y="7733030"/>
            <a:ext cx="1377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rgbClr val="7E22CE"/>
                </a:solidFill>
              </a:rPr>
              <a:t>Dynamic Adjust: </a:t>
            </a:r>
            <a:endParaRPr lang="en-US" altLang="zh-CN" sz="1000" b="1">
              <a:solidFill>
                <a:srgbClr val="7E22CE"/>
              </a:solidFill>
            </a:endParaRPr>
          </a:p>
          <a:p>
            <a:r>
              <a:rPr lang="en-US" altLang="zh-CN" sz="1000">
                <a:solidFill>
                  <a:srgbClr val="475569"/>
                </a:solidFill>
              </a:rPr>
              <a:t>Weight of Efficiency ↑</a:t>
            </a:r>
            <a:endParaRPr lang="en-US" altLang="zh-CN" sz="1000">
              <a:solidFill>
                <a:srgbClr val="475569"/>
              </a:solidFill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4163695" y="6994525"/>
            <a:ext cx="15303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rgbClr val="7E22CE"/>
                </a:solidFill>
              </a:rPr>
              <a:t>Dynamic Adjust: </a:t>
            </a:r>
            <a:endParaRPr lang="en-US" altLang="zh-CN" sz="1000" b="1">
              <a:solidFill>
                <a:srgbClr val="7E22CE"/>
              </a:solidFill>
            </a:endParaRPr>
          </a:p>
          <a:p>
            <a:r>
              <a:rPr lang="en-US" altLang="zh-CN" sz="1000">
                <a:solidFill>
                  <a:srgbClr val="475569"/>
                </a:solidFill>
              </a:rPr>
              <a:t>Focus on Correctness</a:t>
            </a:r>
            <a:endParaRPr lang="en-US" altLang="zh-CN" sz="1000">
              <a:solidFill>
                <a:srgbClr val="475569"/>
              </a:solidFill>
            </a:endParaRPr>
          </a:p>
          <a:p>
            <a:r>
              <a:rPr lang="en-US" altLang="zh-CN" sz="1000">
                <a:solidFill>
                  <a:srgbClr val="475569"/>
                </a:solidFill>
              </a:rPr>
              <a:t>weight↑ &amp; Judge level ↑</a:t>
            </a:r>
            <a:endParaRPr lang="en-US" altLang="zh-CN" sz="1000">
              <a:solidFill>
                <a:srgbClr val="475569"/>
              </a:solidFill>
            </a:endParaRPr>
          </a:p>
        </p:txBody>
      </p:sp>
      <p:sp>
        <p:nvSpPr>
          <p:cNvPr id="358" name="text-194"/>
          <p:cNvSpPr>
            <a:spLocks noGrp="1"/>
          </p:cNvSpPr>
          <p:nvPr/>
        </p:nvSpPr>
        <p:spPr>
          <a:xfrm>
            <a:off x="3803650" y="8147050"/>
            <a:ext cx="1689100" cy="433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indent="0" algn="l" fontAlgn="auto" latinLnBrk="1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repeatedly call unnecessary</a:t>
            </a:r>
            <a:endParaRPr lang="en-US"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 fontAlgn="auto" latinLnBrk="1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tools for filter and get false filter</a:t>
            </a:r>
            <a:endParaRPr lang="en-US"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 fontAlgn="auto" latinLnBrk="1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results …… </a:t>
            </a:r>
            <a:endParaRPr lang="en-US"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9" name="text-194"/>
          <p:cNvSpPr>
            <a:spLocks noGrp="1"/>
          </p:cNvSpPr>
          <p:nvPr/>
        </p:nvSpPr>
        <p:spPr>
          <a:xfrm>
            <a:off x="3803650" y="8570595"/>
            <a:ext cx="14497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indent="0" algn="l" fontAlgn="auto" latinLnBrk="1">
              <a:lnSpc>
                <a:spcPct val="115000"/>
              </a:lnSpc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200" b="1">
                <a:solidFill>
                  <a:srgbClr val="EF44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Early Stop !</a:t>
            </a:r>
            <a:endParaRPr lang="en-US" sz="1200" b="1">
              <a:solidFill>
                <a:srgbClr val="EF444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363" name="直接箭头连接符 362"/>
          <p:cNvCxnSpPr>
            <a:stCxn id="109" idx="3"/>
            <a:endCxn id="180" idx="1"/>
          </p:cNvCxnSpPr>
          <p:nvPr/>
        </p:nvCxnSpPr>
        <p:spPr>
          <a:xfrm>
            <a:off x="7548245" y="6379210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5" name="直接箭头连接符 364"/>
          <p:cNvCxnSpPr/>
          <p:nvPr/>
        </p:nvCxnSpPr>
        <p:spPr>
          <a:xfrm>
            <a:off x="7548245" y="7574280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8" name="直接箭头连接符 367"/>
          <p:cNvCxnSpPr/>
          <p:nvPr/>
        </p:nvCxnSpPr>
        <p:spPr>
          <a:xfrm>
            <a:off x="7548245" y="5188585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93" name="组合 92"/>
          <p:cNvGrpSpPr/>
          <p:nvPr/>
        </p:nvGrpSpPr>
        <p:grpSpPr>
          <a:xfrm>
            <a:off x="1333500" y="2238375"/>
            <a:ext cx="12573000" cy="5190490"/>
            <a:chOff x="2100" y="3525"/>
            <a:chExt cx="19800" cy="8174"/>
          </a:xfrm>
        </p:grpSpPr>
        <p:sp>
          <p:nvSpPr>
            <p:cNvPr id="79" name="panel-60-115"/>
            <p:cNvSpPr>
              <a:spLocks noGrp="1"/>
            </p:cNvSpPr>
            <p:nvPr/>
          </p:nvSpPr>
          <p:spPr>
            <a:xfrm>
              <a:off x="2100" y="3525"/>
              <a:ext cx="9450" cy="8175"/>
            </a:xfrm>
            <a:prstGeom prst="roundRect">
              <a:avLst>
                <a:gd name="adj" fmla="val 2936"/>
              </a:avLst>
            </a:prstGeom>
            <a:solidFill>
              <a:srgbClr val="FFF5F5"/>
            </a:solidFill>
            <a:ln w="19050">
              <a:solidFill>
                <a:srgbClr val="FECACA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10">
              <a:srgbClr val="FFFFFF"/>
            </a:effectRef>
            <a:fontRef idx="major"/>
          </p:style>
        </p:sp>
        <p:sp>
          <p:nvSpPr>
            <p:cNvPr id="2" name="panel-60-115"/>
            <p:cNvSpPr>
              <a:spLocks noGrp="1"/>
            </p:cNvSpPr>
            <p:nvPr/>
          </p:nvSpPr>
          <p:spPr>
            <a:xfrm>
              <a:off x="2100" y="3525"/>
              <a:ext cx="9450" cy="780"/>
            </a:xfrm>
            <a:prstGeom prst="roundRect">
              <a:avLst>
                <a:gd name="adj" fmla="val 30769"/>
              </a:avLst>
            </a:prstGeom>
            <a:solidFill>
              <a:srgbClr val="FEE2E2"/>
            </a:solidFill>
            <a:ln w="9525">
              <a:solidFill>
                <a:srgbClr val="FECACA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10">
              <a:srgbClr val="FFFFFF"/>
            </a:effectRef>
            <a:fontRef idx="major"/>
          </p:style>
        </p:sp>
        <p:sp>
          <p:nvSpPr>
            <p:cNvPr id="3" name="circle-80-129"/>
            <p:cNvSpPr>
              <a:spLocks noGrp="1"/>
            </p:cNvSpPr>
            <p:nvPr/>
          </p:nvSpPr>
          <p:spPr>
            <a:xfrm>
              <a:off x="2400" y="3758"/>
              <a:ext cx="360" cy="360"/>
            </a:xfrm>
            <a:prstGeom prst="ellipse">
              <a:avLst/>
            </a:prstGeom>
            <a:solidFill>
              <a:srgbClr val="EF4444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/>
            <a:p>
              <a:pPr algn="ctr">
                <a:buNone/>
                <a:defRPr sz="975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75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✕</a:t>
              </a:r>
              <a:endPara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-114-123"/>
            <p:cNvSpPr>
              <a:spLocks noGrp="1"/>
            </p:cNvSpPr>
            <p:nvPr/>
          </p:nvSpPr>
          <p:spPr>
            <a:xfrm>
              <a:off x="2880" y="3758"/>
              <a:ext cx="855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24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40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(a) Conventional: Untargeted Full-Trajectory &amp; Single-Reference</a:t>
              </a:r>
              <a:endParaRPr sz="14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card-84-187"/>
            <p:cNvSpPr>
              <a:spLocks noGrp="1"/>
            </p:cNvSpPr>
            <p:nvPr/>
          </p:nvSpPr>
          <p:spPr>
            <a:xfrm>
              <a:off x="2460" y="4605"/>
              <a:ext cx="8730" cy="20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FED7D7"/>
              </a:solidFill>
              <a:prstDash val="solid"/>
            </a:ln>
          </p:spPr>
        </p:sp>
        <p:sp>
          <p:nvSpPr>
            <p:cNvPr id="6" name="text-100-195"/>
            <p:cNvSpPr>
              <a:spLocks noGrp="1"/>
            </p:cNvSpPr>
            <p:nvPr/>
          </p:nvSpPr>
          <p:spPr>
            <a:xfrm>
              <a:off x="2700" y="472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1. Granularity Gap in Trajectory Evaluation</a:t>
              </a:r>
              <a:endPara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text-100-215"/>
            <p:cNvSpPr>
              <a:spLocks noGrp="1"/>
            </p:cNvSpPr>
            <p:nvPr/>
          </p:nvSpPr>
          <p:spPr>
            <a:xfrm>
              <a:off x="2700" y="5025"/>
              <a:ext cx="82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825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Full-trajectory review hides failures; atomic steps lose context and flag benign events.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" name="card-100-239"/>
            <p:cNvSpPr>
              <a:spLocks noGrp="1"/>
            </p:cNvSpPr>
            <p:nvPr/>
          </p:nvSpPr>
          <p:spPr>
            <a:xfrm>
              <a:off x="2700" y="5385"/>
              <a:ext cx="4065" cy="915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  <a:prstDash val="solid"/>
            </a:ln>
          </p:spPr>
        </p:sp>
        <p:sp>
          <p:nvSpPr>
            <p:cNvPr id="9" name="text-112-260"/>
            <p:cNvSpPr>
              <a:spLocks noGrp="1"/>
            </p:cNvSpPr>
            <p:nvPr/>
          </p:nvSpPr>
          <p:spPr>
            <a:xfrm>
              <a:off x="2880" y="5459"/>
              <a:ext cx="3300" cy="2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790" b="1">
                  <a:solidFill>
                    <a:srgbClr val="33415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33415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Full-trajectory: Too Coarse</a:t>
              </a:r>
              <a:endPara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card-112-276"/>
            <p:cNvSpPr>
              <a:spLocks noGrp="1"/>
            </p:cNvSpPr>
            <p:nvPr/>
          </p:nvSpPr>
          <p:spPr>
            <a:xfrm>
              <a:off x="2886" y="5799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>
              <a:solidFill>
                <a:srgbClr val="94A3B8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S1</a:t>
              </a:r>
              <a:endPara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1" name="card-138-276"/>
            <p:cNvSpPr>
              <a:spLocks noGrp="1"/>
            </p:cNvSpPr>
            <p:nvPr/>
          </p:nvSpPr>
          <p:spPr>
            <a:xfrm>
              <a:off x="3276" y="5799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>
              <a:solidFill>
                <a:srgbClr val="94A3B8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S2</a:t>
              </a:r>
              <a:endPara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2" name="card-164-276"/>
            <p:cNvSpPr>
              <a:spLocks noGrp="1"/>
            </p:cNvSpPr>
            <p:nvPr/>
          </p:nvSpPr>
          <p:spPr>
            <a:xfrm>
              <a:off x="3666" y="5799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E3</a:t>
              </a:r>
              <a:endPara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3" name="card-190-276"/>
            <p:cNvSpPr>
              <a:spLocks noGrp="1"/>
            </p:cNvSpPr>
            <p:nvPr/>
          </p:nvSpPr>
          <p:spPr>
            <a:xfrm>
              <a:off x="4056" y="5799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R4</a:t>
              </a:r>
              <a:endPara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4" name="card-216-276"/>
            <p:cNvSpPr>
              <a:spLocks noGrp="1"/>
            </p:cNvSpPr>
            <p:nvPr/>
          </p:nvSpPr>
          <p:spPr>
            <a:xfrm>
              <a:off x="4446" y="5799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>
              <a:solidFill>
                <a:srgbClr val="94A3B8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O5</a:t>
              </a:r>
              <a:endPara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5" name="card-242-276"/>
            <p:cNvSpPr>
              <a:spLocks noGrp="1"/>
            </p:cNvSpPr>
            <p:nvPr/>
          </p:nvSpPr>
          <p:spPr>
            <a:xfrm>
              <a:off x="4836" y="5799"/>
              <a:ext cx="470" cy="270"/>
            </a:xfrm>
            <a:prstGeom prst="roundRect">
              <a:avLst>
                <a:gd name="adj" fmla="val 16667"/>
              </a:avLst>
            </a:prstGeom>
            <a:solidFill>
              <a:srgbClr val="D1FAE5"/>
            </a:solidFill>
            <a:ln w="9525">
              <a:solidFill>
                <a:srgbClr val="10B981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Goal</a:t>
              </a:r>
              <a:endParaRPr sz="56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card-287-272"/>
            <p:cNvSpPr>
              <a:spLocks noGrp="1"/>
            </p:cNvSpPr>
            <p:nvPr/>
          </p:nvSpPr>
          <p:spPr>
            <a:xfrm>
              <a:off x="5752" y="5739"/>
              <a:ext cx="864" cy="420"/>
            </a:xfrm>
            <a:prstGeom prst="roundRect">
              <a:avLst>
                <a:gd name="adj" fmla="val 17857"/>
              </a:avLst>
            </a:prstGeom>
            <a:solidFill>
              <a:srgbClr val="FEF2F2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lnSpc>
                  <a:spcPct val="105000"/>
                </a:lnSpc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Score 1.0</a:t>
              </a:r>
              <a:endPara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ctr">
                <a:lnSpc>
                  <a:spcPct val="105000"/>
                </a:lnSpc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post-hoc</a:t>
              </a:r>
              <a:endPara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8" name="text-112-309"/>
            <p:cNvSpPr>
              <a:spLocks noGrp="1"/>
            </p:cNvSpPr>
            <p:nvPr/>
          </p:nvSpPr>
          <p:spPr>
            <a:xfrm>
              <a:off x="2701" y="6330"/>
              <a:ext cx="3931" cy="1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64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First failure (E3) is buried in the aggregate trace.</a:t>
              </a:r>
              <a:endParaRPr sz="8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0" name="card-391-239"/>
            <p:cNvSpPr>
              <a:spLocks noGrp="1"/>
            </p:cNvSpPr>
            <p:nvPr/>
          </p:nvSpPr>
          <p:spPr>
            <a:xfrm>
              <a:off x="7065" y="5385"/>
              <a:ext cx="3885" cy="915"/>
            </a:xfrm>
            <a:prstGeom prst="roundRect">
              <a:avLst>
                <a:gd name="adj" fmla="val 11429"/>
              </a:avLst>
            </a:prstGeom>
            <a:solidFill>
              <a:srgbClr val="FFFBEF"/>
            </a:solidFill>
            <a:ln w="9525">
              <a:solidFill>
                <a:srgbClr val="FDE68A"/>
              </a:solidFill>
              <a:prstDash val="solid"/>
            </a:ln>
          </p:spPr>
        </p:sp>
        <p:sp>
          <p:nvSpPr>
            <p:cNvPr id="21" name="text-403-260"/>
            <p:cNvSpPr>
              <a:spLocks noGrp="1"/>
            </p:cNvSpPr>
            <p:nvPr/>
          </p:nvSpPr>
          <p:spPr>
            <a:xfrm>
              <a:off x="7237" y="5459"/>
              <a:ext cx="3450" cy="2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790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Atomic-step: Too Fine</a:t>
              </a:r>
              <a:endParaRPr sz="1000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8" name="card-593-274"/>
            <p:cNvSpPr>
              <a:spLocks noGrp="1"/>
            </p:cNvSpPr>
            <p:nvPr/>
          </p:nvSpPr>
          <p:spPr>
            <a:xfrm>
              <a:off x="10116" y="5769"/>
              <a:ext cx="736" cy="330"/>
            </a:xfrm>
            <a:prstGeom prst="roundRect">
              <a:avLst>
                <a:gd name="adj" fmla="val 13636"/>
              </a:avLst>
            </a:prstGeom>
            <a:solidFill>
              <a:srgbClr val="FEF2F2"/>
            </a:solidFill>
            <a:ln w="9525">
              <a:solidFill>
                <a:srgbClr val="EF4444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>
                  <a:solidFill>
                    <a:srgbClr val="DC2626"/>
                  </a:solidFill>
                  <a:sym typeface="+mn-ea"/>
                </a:rPr>
                <a:t>⚠</a:t>
              </a:r>
              <a:r>
                <a:rPr lang="en-US">
                  <a:solidFill>
                    <a:srgbClr val="DC2626"/>
                  </a:solidFill>
                  <a:sym typeface="+mn-ea"/>
                </a:rPr>
                <a:t>   </a:t>
              </a:r>
              <a:endParaRPr lang="en-US">
                <a:solidFill>
                  <a:srgbClr val="DC2626"/>
                </a:solidFill>
                <a:sym typeface="+mn-ea"/>
              </a:endParaRPr>
            </a:p>
            <a:p>
              <a:pPr algn="ctr"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565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High Cost!</a:t>
              </a:r>
              <a:endParaRPr lang="en-US" sz="565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text-403-309"/>
            <p:cNvSpPr>
              <a:spLocks noGrp="1"/>
            </p:cNvSpPr>
            <p:nvPr/>
          </p:nvSpPr>
          <p:spPr>
            <a:xfrm>
              <a:off x="7207" y="6330"/>
              <a:ext cx="3600" cy="1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64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Missing context</a:t>
              </a:r>
              <a:r>
                <a:rPr lang="en-US" sz="8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 &amp; High cost</a:t>
              </a:r>
              <a:endParaRPr lang="en-US" sz="8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0" name="card-84-337"/>
            <p:cNvSpPr>
              <a:spLocks noGrp="1"/>
            </p:cNvSpPr>
            <p:nvPr/>
          </p:nvSpPr>
          <p:spPr>
            <a:xfrm>
              <a:off x="2460" y="6855"/>
              <a:ext cx="8730" cy="20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FED7D7"/>
              </a:solidFill>
              <a:prstDash val="solid"/>
            </a:ln>
          </p:spPr>
        </p:sp>
        <p:sp>
          <p:nvSpPr>
            <p:cNvPr id="31" name="text-100-345"/>
            <p:cNvSpPr>
              <a:spLocks noGrp="1"/>
            </p:cNvSpPr>
            <p:nvPr/>
          </p:nvSpPr>
          <p:spPr>
            <a:xfrm>
              <a:off x="2700" y="697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2. Single-Reference Bias (Penalizing Valid Exploration)</a:t>
              </a:r>
              <a:endPara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2" name="text-100-365"/>
            <p:cNvSpPr>
              <a:spLocks noGrp="1"/>
            </p:cNvSpPr>
            <p:nvPr/>
          </p:nvSpPr>
          <p:spPr>
            <a:xfrm>
              <a:off x="2700" y="7273"/>
              <a:ext cx="82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Agent discovers an alternative, highly efficient valid path not in the single reference trace.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3" name="text-116-392"/>
            <p:cNvSpPr>
              <a:spLocks noGrp="1"/>
            </p:cNvSpPr>
            <p:nvPr/>
          </p:nvSpPr>
          <p:spPr>
            <a:xfrm>
              <a:off x="2940" y="7800"/>
              <a:ext cx="480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82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30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Ref: Search(Name) ➔ Call(Phone)</a:t>
              </a:r>
              <a:endParaRPr sz="93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4" name="text-116-424"/>
            <p:cNvSpPr>
              <a:spLocks noGrp="1"/>
            </p:cNvSpPr>
            <p:nvPr/>
          </p:nvSpPr>
          <p:spPr>
            <a:xfrm>
              <a:off x="2940" y="8280"/>
              <a:ext cx="480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825" b="1">
                  <a:solidFill>
                    <a:srgbClr val="2563E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30" b="1">
                  <a:solidFill>
                    <a:srgbClr val="2563E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Agent: Filter(Date) ➔ Call(Phone)</a:t>
              </a:r>
              <a:endParaRPr sz="930" b="1">
                <a:solidFill>
                  <a:srgbClr val="2563E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5" name="card-449-400"/>
            <p:cNvSpPr>
              <a:spLocks noGrp="1"/>
            </p:cNvSpPr>
            <p:nvPr/>
          </p:nvSpPr>
          <p:spPr>
            <a:xfrm>
              <a:off x="7353" y="7800"/>
              <a:ext cx="3599" cy="854"/>
            </a:xfrm>
            <a:prstGeom prst="roundRect">
              <a:avLst>
                <a:gd name="adj" fmla="val 11538"/>
              </a:avLst>
            </a:prstGeom>
            <a:solidFill>
              <a:srgbClr val="FEF2F2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lIns="95250" tIns="19050" rIns="47625" bIns="19050" anchor="ctr">
              <a:noAutofit/>
            </a:bodyPr>
            <a:lstStyle/>
            <a:p>
              <a:pPr algn="l">
                <a:lnSpc>
                  <a:spcPct val="120000"/>
                </a:lnSpc>
                <a:buNone/>
                <a:defRPr sz="71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Trajectory Sim = 0.12 (Fail!)</a:t>
              </a:r>
              <a:endParaRPr sz="10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20000"/>
                </a:lnSpc>
                <a:buNone/>
                <a:defRPr sz="71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20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⚠</a:t>
              </a:r>
              <a:r>
                <a:rPr lang="en-US" sz="820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  </a:t>
              </a:r>
              <a:r>
                <a:rPr sz="820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Correct outcome rejected</a:t>
              </a:r>
              <a:r>
                <a:rPr lang="en-US" sz="820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 </a:t>
              </a:r>
              <a:r>
                <a:rPr sz="820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due to rigid single-path alignment</a:t>
              </a:r>
              <a:endPara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6" name="card-84-487"/>
            <p:cNvSpPr>
              <a:spLocks noGrp="1"/>
            </p:cNvSpPr>
            <p:nvPr/>
          </p:nvSpPr>
          <p:spPr>
            <a:xfrm>
              <a:off x="2460" y="9105"/>
              <a:ext cx="8730" cy="21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FED7D7"/>
              </a:solidFill>
              <a:prstDash val="solid"/>
            </a:ln>
          </p:spPr>
        </p:sp>
        <p:sp>
          <p:nvSpPr>
            <p:cNvPr id="37" name="text-100-495"/>
            <p:cNvSpPr>
              <a:spLocks noGrp="1"/>
            </p:cNvSpPr>
            <p:nvPr/>
          </p:nvSpPr>
          <p:spPr>
            <a:xfrm>
              <a:off x="2700" y="922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3. Delayed Evaluation &amp; Wasteful Execution Runout</a:t>
              </a:r>
              <a:endPara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8" name="text-100-515"/>
            <p:cNvSpPr>
              <a:spLocks noGrp="1"/>
            </p:cNvSpPr>
            <p:nvPr/>
          </p:nvSpPr>
          <p:spPr>
            <a:xfrm>
              <a:off x="2700" y="9541"/>
              <a:ext cx="82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Agent derails into infinite parameter loops at turn 18, but harness runs blindly to turn 100.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9" name="card-100-569"/>
            <p:cNvSpPr>
              <a:spLocks noGrp="1"/>
            </p:cNvSpPr>
            <p:nvPr/>
          </p:nvSpPr>
          <p:spPr>
            <a:xfrm>
              <a:off x="4191" y="10260"/>
              <a:ext cx="6749" cy="419"/>
            </a:xfrm>
            <a:prstGeom prst="roundRect">
              <a:avLst>
                <a:gd name="adj" fmla="val 33333"/>
              </a:avLst>
            </a:prstGeom>
            <a:solidFill>
              <a:srgbClr val="FEF2F2"/>
            </a:solidFill>
            <a:ln w="14288">
              <a:solidFill>
                <a:srgbClr val="EF4444"/>
              </a:solidFill>
              <a:prstDash val="dash"/>
            </a:ln>
          </p:spPr>
        </p:sp>
        <p:sp>
          <p:nvSpPr>
            <p:cNvPr id="40" name="card-100-569"/>
            <p:cNvSpPr>
              <a:spLocks noGrp="1"/>
            </p:cNvSpPr>
            <p:nvPr/>
          </p:nvSpPr>
          <p:spPr>
            <a:xfrm>
              <a:off x="2700" y="10335"/>
              <a:ext cx="1500" cy="270"/>
            </a:xfrm>
            <a:prstGeom prst="roundRect">
              <a:avLst>
                <a:gd name="adj" fmla="val 33333"/>
              </a:avLst>
            </a:prstGeom>
            <a:solidFill>
              <a:srgbClr val="FCA5A5"/>
            </a:solidFill>
            <a:ln w="0">
              <a:noFill/>
              <a:prstDash val="solid"/>
            </a:ln>
          </p:spPr>
        </p:sp>
        <p:sp>
          <p:nvSpPr>
            <p:cNvPr id="43" name="text-180-597"/>
            <p:cNvSpPr>
              <a:spLocks noGrp="1"/>
            </p:cNvSpPr>
            <p:nvPr/>
          </p:nvSpPr>
          <p:spPr>
            <a:xfrm>
              <a:off x="3900" y="10755"/>
              <a:ext cx="1350" cy="2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5000"/>
                </a:lnSpc>
                <a:buNone/>
                <a:defRPr sz="75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750" b="1">
                  <a:solidFill>
                    <a:srgbClr val="B91C1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Step 18 (Stuck)</a:t>
              </a:r>
              <a:endPara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4" name="text-260-572"/>
            <p:cNvSpPr>
              <a:spLocks noGrp="1"/>
            </p:cNvSpPr>
            <p:nvPr/>
          </p:nvSpPr>
          <p:spPr>
            <a:xfrm>
              <a:off x="5196" y="10335"/>
              <a:ext cx="5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5000"/>
                </a:lnSpc>
                <a:buNone/>
                <a:defRPr sz="750" b="1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Wasteful Prefix: 82 turns, 185s, 32k tokens squandered</a:t>
              </a:r>
              <a:endParaRPr sz="100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6" name="panel-750-115"/>
            <p:cNvSpPr>
              <a:spLocks noGrp="1"/>
            </p:cNvSpPr>
            <p:nvPr/>
          </p:nvSpPr>
          <p:spPr>
            <a:xfrm>
              <a:off x="12450" y="3525"/>
              <a:ext cx="9450" cy="8175"/>
            </a:xfrm>
            <a:prstGeom prst="roundRect">
              <a:avLst>
                <a:gd name="adj" fmla="val 2936"/>
              </a:avLst>
            </a:prstGeom>
            <a:solidFill>
              <a:srgbClr val="F0FDF4"/>
            </a:solidFill>
            <a:ln w="19050">
              <a:solidFill>
                <a:srgbClr val="BBF7D0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10">
              <a:srgbClr val="FFFFFF"/>
            </a:effectRef>
            <a:fontRef idx="major"/>
          </p:style>
        </p:sp>
        <p:sp>
          <p:nvSpPr>
            <p:cNvPr id="47" name="panel-750-115"/>
            <p:cNvSpPr>
              <a:spLocks noGrp="1"/>
            </p:cNvSpPr>
            <p:nvPr/>
          </p:nvSpPr>
          <p:spPr>
            <a:xfrm>
              <a:off x="12450" y="3525"/>
              <a:ext cx="9450" cy="780"/>
            </a:xfrm>
            <a:prstGeom prst="roundRect">
              <a:avLst>
                <a:gd name="adj" fmla="val 30769"/>
              </a:avLst>
            </a:prstGeom>
            <a:solidFill>
              <a:srgbClr val="DCFCE7"/>
            </a:solidFill>
            <a:ln w="9525">
              <a:solidFill>
                <a:srgbClr val="BBF7D0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10">
              <a:srgbClr val="FFFFFF"/>
            </a:effectRef>
            <a:fontRef idx="major"/>
          </p:style>
        </p:sp>
        <p:sp>
          <p:nvSpPr>
            <p:cNvPr id="48" name="circle-770-129"/>
            <p:cNvSpPr>
              <a:spLocks noGrp="1"/>
            </p:cNvSpPr>
            <p:nvPr/>
          </p:nvSpPr>
          <p:spPr>
            <a:xfrm>
              <a:off x="12750" y="3735"/>
              <a:ext cx="360" cy="360"/>
            </a:xfrm>
            <a:prstGeom prst="ellipse">
              <a:avLst/>
            </a:prstGeom>
            <a:solidFill>
              <a:srgbClr val="10B981"/>
            </a:solidFill>
            <a:ln w="14288">
              <a:solidFill>
                <a:srgbClr val="10B981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/>
            <a:p>
              <a:pPr algn="ctr">
                <a:buNone/>
                <a:defRPr sz="975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75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</a:t>
              </a:r>
              <a:endPara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9" name="text-804-123"/>
            <p:cNvSpPr>
              <a:spLocks noGrp="1"/>
            </p:cNvSpPr>
            <p:nvPr/>
          </p:nvSpPr>
          <p:spPr>
            <a:xfrm>
              <a:off x="13260" y="3735"/>
              <a:ext cx="855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24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4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(b) DynSTEER: Targeted Stage Review &amp; Proactive Control</a:t>
              </a:r>
              <a:endParaRPr sz="14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0" name="card-774-187"/>
            <p:cNvSpPr>
              <a:spLocks noGrp="1"/>
            </p:cNvSpPr>
            <p:nvPr/>
          </p:nvSpPr>
          <p:spPr>
            <a:xfrm>
              <a:off x="12810" y="4605"/>
              <a:ext cx="8730" cy="20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BBF7D0"/>
              </a:solidFill>
              <a:prstDash val="solid"/>
            </a:ln>
          </p:spPr>
        </p:sp>
        <p:sp>
          <p:nvSpPr>
            <p:cNvPr id="51" name="text-790-195"/>
            <p:cNvSpPr>
              <a:spLocks noGrp="1"/>
            </p:cNvSpPr>
            <p:nvPr/>
          </p:nvSpPr>
          <p:spPr>
            <a:xfrm>
              <a:off x="13050" y="472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1. Targeted Stage-wise Review with Rich Trajectory Context</a:t>
              </a:r>
              <a:endPara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2" name="text-790-215"/>
            <p:cNvSpPr>
              <a:spLocks noGrp="1"/>
            </p:cNvSpPr>
            <p:nvPr/>
          </p:nvSpPr>
          <p:spPr>
            <a:xfrm>
              <a:off x="13050" y="5025"/>
              <a:ext cx="8250" cy="5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Focuses on essential milestones with adequate context; 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lang="en-US"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</a:t>
              </a: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ynamically adapts strategy toward weak links.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3" name="card-790-272"/>
            <p:cNvSpPr>
              <a:spLocks noGrp="1"/>
            </p:cNvSpPr>
            <p:nvPr/>
          </p:nvSpPr>
          <p:spPr>
            <a:xfrm>
              <a:off x="13050" y="5610"/>
              <a:ext cx="1800" cy="660"/>
            </a:xfrm>
            <a:prstGeom prst="roundRect">
              <a:avLst>
                <a:gd name="adj" fmla="val 13636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  <a:prstDash val="solid"/>
            </a:ln>
          </p:spPr>
          <p:txBody>
            <a:bodyPr lIns="95250" tIns="19050" rIns="38100" bIns="19050" anchor="ctr">
              <a:noAutofit/>
            </a:bodyPr>
            <a:lstStyle/>
            <a:p>
              <a:pPr algn="l">
                <a:lnSpc>
                  <a:spcPct val="120000"/>
                </a:lnSpc>
                <a:buNone/>
                <a:defRPr sz="750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50" b="1">
                  <a:solidFill>
                    <a:srgbClr val="33415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Stage 1 [s0 ➔ M1]</a:t>
              </a:r>
              <a:endParaRPr sz="8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20000"/>
                </a:lnSpc>
                <a:buNone/>
                <a:defRPr sz="750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50">
                  <a:solidFill>
                    <a:srgbClr val="10B981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Correctness: 1.0 ✓</a:t>
              </a:r>
              <a:endParaRPr sz="850">
                <a:solidFill>
                  <a:srgbClr val="10B981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4" name="card-945-272"/>
            <p:cNvSpPr>
              <a:spLocks noGrp="1"/>
            </p:cNvSpPr>
            <p:nvPr/>
          </p:nvSpPr>
          <p:spPr>
            <a:xfrm>
              <a:off x="15375" y="5610"/>
              <a:ext cx="2989" cy="660"/>
            </a:xfrm>
            <a:prstGeom prst="roundRect">
              <a:avLst>
                <a:gd name="adj" fmla="val 13636"/>
              </a:avLst>
            </a:prstGeom>
            <a:solidFill>
              <a:srgbClr val="FEF2F2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lIns="76200" tIns="19050" rIns="38100" bIns="19050" anchor="ctr">
              <a:noAutofit/>
            </a:bodyPr>
            <a:lstStyle/>
            <a:p>
              <a:pPr algn="l">
                <a:lnSpc>
                  <a:spcPct val="120000"/>
                </a:lnSpc>
                <a:buNone/>
                <a:defRPr sz="71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20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Stage 2 [M1 ➔ M2] (Targeted)</a:t>
              </a:r>
              <a:endParaRPr sz="82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20000"/>
                </a:lnSpc>
                <a:buNone/>
                <a:defRPr sz="71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820" b="1">
                  <a:solidFill>
                    <a:srgbClr val="DC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⚠️ First Error Isolated at Step 3!</a:t>
              </a:r>
              <a:endParaRPr sz="82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5" name="card-1125-272"/>
            <p:cNvSpPr>
              <a:spLocks noGrp="1"/>
            </p:cNvSpPr>
            <p:nvPr/>
          </p:nvSpPr>
          <p:spPr>
            <a:xfrm>
              <a:off x="18570" y="5610"/>
              <a:ext cx="2745" cy="720"/>
            </a:xfrm>
            <a:prstGeom prst="roundRect">
              <a:avLst>
                <a:gd name="adj" fmla="val 12500"/>
              </a:avLst>
            </a:prstGeom>
            <a:solidFill>
              <a:srgbClr val="F0FDF4"/>
            </a:solidFill>
            <a:ln w="14288">
              <a:solidFill>
                <a:srgbClr val="10B981"/>
              </a:solidFill>
              <a:prstDash val="solid"/>
            </a:ln>
          </p:spPr>
          <p:txBody>
            <a:bodyPr lIns="95250" tIns="19050" rIns="47625" bIns="19050" anchor="ctr">
              <a:noAutofit/>
            </a:bodyPr>
            <a:lstStyle/>
            <a:p>
              <a:pPr algn="l">
                <a:lnSpc>
                  <a:spcPct val="120000"/>
                </a:lnSpc>
                <a:buNone/>
                <a:defRPr sz="67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Dynamic Strategy Escalation</a:t>
              </a:r>
              <a:endPara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20000"/>
                </a:lnSpc>
                <a:buNone/>
                <a:defRPr sz="675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680">
                  <a:solidFill>
                    <a:srgbClr val="047857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 Focuses on agent's weak link
Sufficient Context: Avoids Step Noise</a:t>
              </a:r>
              <a:endParaRPr sz="68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cxnSp>
          <p:nvCxnSpPr>
            <p:cNvPr id="270" name="直接箭头连接符 201"/>
            <p:cNvCxnSpPr>
              <a:stCxn id="53" idx="3"/>
              <a:endCxn id="54" idx="1"/>
            </p:cNvCxnSpPr>
            <p:nvPr/>
          </p:nvCxnSpPr>
          <p:spPr>
            <a:xfrm>
              <a:off x="14850" y="5940"/>
              <a:ext cx="525" cy="0"/>
            </a:xfrm>
            <a:prstGeom prst="straightConnector1">
              <a:avLst/>
            </a:prstGeom>
            <a:ln w="19050">
              <a:solidFill>
                <a:srgbClr val="10B981"/>
              </a:solidFill>
              <a:prstDash val="solid"/>
              <a:headEnd type="triangle" w="sm" len="sm"/>
              <a:tailEnd type="none" w="med" len="med"/>
            </a:ln>
          </p:spPr>
        </p:cxnSp>
        <p:sp>
          <p:nvSpPr>
            <p:cNvPr id="57" name="card-774-337"/>
            <p:cNvSpPr>
              <a:spLocks noGrp="1"/>
            </p:cNvSpPr>
            <p:nvPr/>
          </p:nvSpPr>
          <p:spPr>
            <a:xfrm>
              <a:off x="12810" y="6855"/>
              <a:ext cx="8730" cy="20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BBF7D0"/>
              </a:solidFill>
              <a:prstDash val="solid"/>
            </a:ln>
          </p:spPr>
        </p:sp>
        <p:sp>
          <p:nvSpPr>
            <p:cNvPr id="58" name="text-790-345"/>
            <p:cNvSpPr>
              <a:spLocks noGrp="1"/>
            </p:cNvSpPr>
            <p:nvPr/>
          </p:nvSpPr>
          <p:spPr>
            <a:xfrm>
              <a:off x="13050" y="697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2. Path-Tolerant Milestone DAG (Simulated Planning)</a:t>
              </a:r>
              <a:endPara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9" name="text-790-365"/>
            <p:cNvSpPr>
              <a:spLocks noGrp="1"/>
            </p:cNvSpPr>
            <p:nvPr/>
          </p:nvSpPr>
          <p:spPr>
            <a:xfrm>
              <a:off x="13050" y="7275"/>
              <a:ext cx="82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Aggregates multiple public candidates; respects diverse valid exploratory branches.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0" name="circle-841-409"/>
            <p:cNvSpPr>
              <a:spLocks noGrp="1"/>
            </p:cNvSpPr>
            <p:nvPr/>
          </p:nvSpPr>
          <p:spPr>
            <a:xfrm>
              <a:off x="13701" y="7935"/>
              <a:ext cx="420" cy="420"/>
            </a:xfrm>
            <a:prstGeom prst="ellipse">
              <a:avLst/>
            </a:prstGeom>
            <a:solidFill>
              <a:srgbClr val="E2E8F0"/>
            </a:solidFill>
            <a:ln w="14288">
              <a:solidFill>
                <a:srgbClr val="94A3B8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/>
            <a:p>
              <a:pPr algn="ctr">
                <a:buNone/>
                <a:defRPr sz="750" b="1">
                  <a:solidFill>
                    <a:srgbClr val="33415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750" b="1">
                  <a:solidFill>
                    <a:srgbClr val="33415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s0</a:t>
              </a:r>
              <a:endPara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1" name="card-901-399"/>
            <p:cNvSpPr>
              <a:spLocks noGrp="1"/>
            </p:cNvSpPr>
            <p:nvPr/>
          </p:nvSpPr>
          <p:spPr>
            <a:xfrm>
              <a:off x="14715" y="7727"/>
              <a:ext cx="1425" cy="36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>
              <a:solidFill>
                <a:srgbClr val="3B82F6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67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675" b="1">
                  <a:solidFill>
                    <a:srgbClr val="1E40A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Search(Name)</a:t>
              </a:r>
              <a:endPara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2" name="card-901-427"/>
            <p:cNvSpPr>
              <a:spLocks noGrp="1"/>
            </p:cNvSpPr>
            <p:nvPr/>
          </p:nvSpPr>
          <p:spPr>
            <a:xfrm>
              <a:off x="14722" y="8294"/>
              <a:ext cx="1425" cy="36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  <a:ln w="9525">
              <a:solidFill>
                <a:srgbClr val="10B981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67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67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Filter(Date)</a:t>
              </a:r>
              <a:endParaRPr sz="67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3" name="circle-1006-409"/>
            <p:cNvSpPr>
              <a:spLocks noGrp="1"/>
            </p:cNvSpPr>
            <p:nvPr/>
          </p:nvSpPr>
          <p:spPr>
            <a:xfrm>
              <a:off x="16876" y="7935"/>
              <a:ext cx="420" cy="420"/>
            </a:xfrm>
            <a:prstGeom prst="ellipse">
              <a:avLst/>
            </a:prstGeom>
            <a:solidFill>
              <a:srgbClr val="D1FAE5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/>
            <a:p>
              <a:pPr algn="ctr">
                <a:buNone/>
                <a:defRPr sz="750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750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Call</a:t>
              </a:r>
              <a:endPara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4" name="card-1055-405"/>
            <p:cNvSpPr>
              <a:spLocks noGrp="1"/>
            </p:cNvSpPr>
            <p:nvPr/>
          </p:nvSpPr>
          <p:spPr>
            <a:xfrm>
              <a:off x="18691" y="7875"/>
              <a:ext cx="2656" cy="660"/>
            </a:xfrm>
            <a:prstGeom prst="roundRect">
              <a:avLst>
                <a:gd name="adj" fmla="val 13636"/>
              </a:avLst>
            </a:prstGeom>
            <a:solidFill>
              <a:srgbClr val="F0FDF4"/>
            </a:solidFill>
            <a:ln w="14288">
              <a:solidFill>
                <a:srgbClr val="10B981"/>
              </a:solidFill>
              <a:prstDash val="solid"/>
            </a:ln>
          </p:spPr>
          <p:txBody>
            <a:bodyPr lIns="95250" tIns="19050" rIns="47625" bIns="19050" anchor="ctr">
              <a:noAutofit/>
            </a:bodyPr>
            <a:lstStyle/>
            <a:p>
              <a:pPr algn="l">
                <a:lnSpc>
                  <a:spcPct val="120000"/>
                </a:lnSpc>
                <a:buNone/>
                <a:defRPr sz="750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900" b="1">
                  <a:solidFill>
                    <a:srgbClr val="16653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Both Paths Accepted (Pass!)</a:t>
              </a:r>
              <a:endPara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  <a:p>
              <a:pPr algn="l">
                <a:lnSpc>
                  <a:spcPct val="120000"/>
                </a:lnSpc>
                <a:buNone/>
                <a:defRPr sz="750"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750">
                  <a:solidFill>
                    <a:srgbClr val="047857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 Preserves LLM agent exploration</a:t>
              </a:r>
              <a:endParaRPr sz="75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9" name="card-774-487"/>
            <p:cNvSpPr>
              <a:spLocks noGrp="1"/>
            </p:cNvSpPr>
            <p:nvPr/>
          </p:nvSpPr>
          <p:spPr>
            <a:xfrm>
              <a:off x="12810" y="9105"/>
              <a:ext cx="8730" cy="21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BBF7D0"/>
              </a:solidFill>
              <a:prstDash val="solid"/>
            </a:ln>
          </p:spPr>
        </p:sp>
        <p:sp>
          <p:nvSpPr>
            <p:cNvPr id="70" name="text-790-495"/>
            <p:cNvSpPr>
              <a:spLocks noGrp="1"/>
            </p:cNvSpPr>
            <p:nvPr/>
          </p:nvSpPr>
          <p:spPr>
            <a:xfrm>
              <a:off x="13050" y="9225"/>
              <a:ext cx="82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105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200" b="1">
                  <a:solidFill>
                    <a:srgbClr val="15803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3. Proactive Execution Control: Adaptive Early Termination</a:t>
              </a:r>
              <a:endPara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1" name="text-790-515"/>
            <p:cNvSpPr>
              <a:spLocks noGrp="1"/>
            </p:cNvSpPr>
            <p:nvPr/>
          </p:nvSpPr>
          <p:spPr>
            <a:xfrm>
              <a:off x="13050" y="9525"/>
              <a:ext cx="82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9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>
                  <a:solidFill>
                    <a:srgbClr val="64748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Halts deadlocks &amp; fatal violations during execution; surfaces failure diagnostics immediately.</a:t>
              </a:r>
              <a:endPara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2" name="card-790-569"/>
            <p:cNvSpPr>
              <a:spLocks noGrp="1"/>
            </p:cNvSpPr>
            <p:nvPr/>
          </p:nvSpPr>
          <p:spPr>
            <a:xfrm>
              <a:off x="13050" y="10335"/>
              <a:ext cx="8014" cy="270"/>
            </a:xfrm>
            <a:prstGeom prst="roundRect">
              <a:avLst>
                <a:gd name="adj" fmla="val 33333"/>
              </a:avLst>
            </a:prstGeom>
            <a:solidFill>
              <a:srgbClr val="F1F5F9"/>
            </a:solidFill>
            <a:ln w="0">
              <a:noFill/>
              <a:prstDash val="solid"/>
            </a:ln>
          </p:spPr>
        </p:sp>
        <p:sp>
          <p:nvSpPr>
            <p:cNvPr id="73" name="card-790-569"/>
            <p:cNvSpPr>
              <a:spLocks noGrp="1"/>
            </p:cNvSpPr>
            <p:nvPr/>
          </p:nvSpPr>
          <p:spPr>
            <a:xfrm>
              <a:off x="13050" y="10335"/>
              <a:ext cx="1500" cy="270"/>
            </a:xfrm>
            <a:prstGeom prst="roundRect">
              <a:avLst>
                <a:gd name="adj" fmla="val 33333"/>
              </a:avLst>
            </a:prstGeom>
            <a:solidFill>
              <a:srgbClr val="10B981"/>
            </a:solidFill>
            <a:ln w="0">
              <a:noFill/>
              <a:prstDash val="solid"/>
            </a:ln>
          </p:spPr>
        </p:sp>
        <p:sp>
          <p:nvSpPr>
            <p:cNvPr id="75" name="card-845-541"/>
            <p:cNvSpPr>
              <a:spLocks noGrp="1"/>
            </p:cNvSpPr>
            <p:nvPr/>
          </p:nvSpPr>
          <p:spPr>
            <a:xfrm>
              <a:off x="13875" y="9915"/>
              <a:ext cx="1539" cy="270"/>
            </a:xfrm>
            <a:prstGeom prst="roundRect">
              <a:avLst>
                <a:gd name="adj" fmla="val 22222"/>
              </a:avLst>
            </a:prstGeom>
            <a:solidFill>
              <a:srgbClr val="059669"/>
            </a:solidFill>
            <a:ln w="0">
              <a:noFill/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75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750" b="1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STOP AT STEP 18</a:t>
              </a:r>
              <a:endParaRPr sz="7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6" name="card-905-564"/>
            <p:cNvSpPr>
              <a:spLocks noGrp="1"/>
            </p:cNvSpPr>
            <p:nvPr/>
          </p:nvSpPr>
          <p:spPr>
            <a:xfrm>
              <a:off x="14775" y="10260"/>
              <a:ext cx="6572" cy="420"/>
            </a:xfrm>
            <a:prstGeom prst="roundRect">
              <a:avLst>
                <a:gd name="adj" fmla="val 21429"/>
              </a:avLst>
            </a:prstGeom>
            <a:solidFill>
              <a:srgbClr val="ECFDF5"/>
            </a:solidFill>
            <a:ln w="14288">
              <a:solidFill>
                <a:srgbClr val="10B981"/>
              </a:solidFill>
              <a:prstDash val="dash"/>
            </a:ln>
          </p:spPr>
        </p:sp>
        <p:sp>
          <p:nvSpPr>
            <p:cNvPr id="77" name="text-925-571"/>
            <p:cNvSpPr>
              <a:spLocks noGrp="1"/>
            </p:cNvSpPr>
            <p:nvPr/>
          </p:nvSpPr>
          <p:spPr>
            <a:xfrm>
              <a:off x="15075" y="10365"/>
              <a:ext cx="600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825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065F4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⚡ SAVED 82 TURNS (82% Execution Time &amp; 32k Tokens Saved)</a:t>
              </a:r>
              <a:endParaRPr sz="100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8" name="text-800-599"/>
            <p:cNvSpPr>
              <a:spLocks noGrp="1"/>
            </p:cNvSpPr>
            <p:nvPr/>
          </p:nvSpPr>
          <p:spPr>
            <a:xfrm>
              <a:off x="13200" y="10785"/>
              <a:ext cx="6750" cy="2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825" b="1">
                  <a:solidFill>
                    <a:srgbClr val="0F172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1000" b="1">
                  <a:solidFill>
                    <a:srgbClr val="0F172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Reason: Frontier Deadlock detected across ready milestones.</a:t>
              </a:r>
              <a:endParaRPr sz="1000" b="1">
                <a:solidFill>
                  <a:srgbClr val="0F172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4550" y="10185"/>
              <a:ext cx="0" cy="575"/>
            </a:xfrm>
            <a:prstGeom prst="line">
              <a:avLst/>
            </a:prstGeom>
            <a:ln w="27305">
              <a:solidFill>
                <a:srgbClr val="05966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60" idx="6"/>
              <a:endCxn id="61" idx="1"/>
            </p:cNvCxnSpPr>
            <p:nvPr/>
          </p:nvCxnSpPr>
          <p:spPr>
            <a:xfrm flipV="1">
              <a:off x="14121" y="7907"/>
              <a:ext cx="594" cy="238"/>
            </a:xfrm>
            <a:prstGeom prst="straightConnector1">
              <a:avLst/>
            </a:prstGeom>
            <a:ln w="14288">
              <a:solidFill>
                <a:srgbClr val="3B82F6"/>
              </a:solidFill>
              <a:prstDash val="solid"/>
              <a:headEnd type="none" w="sm" len="sm"/>
              <a:tailEnd type="triangle" w="med" len="med"/>
            </a:ln>
          </p:spPr>
        </p:cxnSp>
        <p:cxnSp>
          <p:nvCxnSpPr>
            <p:cNvPr id="66" name="直接箭头连接符 65"/>
            <p:cNvCxnSpPr>
              <a:stCxn id="60" idx="6"/>
              <a:endCxn id="62" idx="1"/>
            </p:cNvCxnSpPr>
            <p:nvPr/>
          </p:nvCxnSpPr>
          <p:spPr>
            <a:xfrm>
              <a:off x="14121" y="8145"/>
              <a:ext cx="601" cy="329"/>
            </a:xfrm>
            <a:prstGeom prst="straightConnector1">
              <a:avLst/>
            </a:prstGeom>
            <a:ln w="14288">
              <a:solidFill>
                <a:srgbClr val="10B981"/>
              </a:solidFill>
              <a:prstDash val="solid"/>
              <a:headEnd type="none" w="sm" len="sm"/>
              <a:tailEnd type="triangle" w="med" len="med"/>
            </a:ln>
          </p:spPr>
        </p:cxnSp>
        <p:cxnSp>
          <p:nvCxnSpPr>
            <p:cNvPr id="67" name="直接箭头连接符 66"/>
            <p:cNvCxnSpPr>
              <a:stCxn id="61" idx="3"/>
              <a:endCxn id="63" idx="2"/>
            </p:cNvCxnSpPr>
            <p:nvPr/>
          </p:nvCxnSpPr>
          <p:spPr>
            <a:xfrm>
              <a:off x="16140" y="7907"/>
              <a:ext cx="736" cy="238"/>
            </a:xfrm>
            <a:prstGeom prst="straightConnector1">
              <a:avLst/>
            </a:prstGeom>
            <a:ln w="14288">
              <a:solidFill>
                <a:srgbClr val="3B82F6"/>
              </a:solidFill>
              <a:prstDash val="solid"/>
              <a:headEnd type="none" w="sm" len="sm"/>
              <a:tailEnd type="triangle" w="med" len="med"/>
            </a:ln>
          </p:spPr>
        </p:cxnSp>
        <p:cxnSp>
          <p:nvCxnSpPr>
            <p:cNvPr id="68" name="直接箭头连接符 67"/>
            <p:cNvCxnSpPr>
              <a:stCxn id="62" idx="3"/>
              <a:endCxn id="63" idx="2"/>
            </p:cNvCxnSpPr>
            <p:nvPr/>
          </p:nvCxnSpPr>
          <p:spPr>
            <a:xfrm flipV="1">
              <a:off x="16147" y="8145"/>
              <a:ext cx="729" cy="329"/>
            </a:xfrm>
            <a:prstGeom prst="straightConnector1">
              <a:avLst/>
            </a:prstGeom>
            <a:ln w="14288">
              <a:solidFill>
                <a:srgbClr val="10B981"/>
              </a:solidFill>
              <a:prstDash val="solid"/>
              <a:headEnd type="none" w="sm" len="sm"/>
              <a:tailEnd type="triangle" w="med" len="med"/>
            </a:ln>
          </p:spPr>
        </p:cxnSp>
        <p:cxnSp>
          <p:nvCxnSpPr>
            <p:cNvPr id="80" name="直接连接符 79"/>
            <p:cNvCxnSpPr/>
            <p:nvPr/>
          </p:nvCxnSpPr>
          <p:spPr>
            <a:xfrm>
              <a:off x="4176" y="10185"/>
              <a:ext cx="0" cy="575"/>
            </a:xfrm>
            <a:prstGeom prst="line">
              <a:avLst/>
            </a:prstGeom>
            <a:ln w="27305">
              <a:solidFill>
                <a:srgbClr val="B91C1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7691" y="5739"/>
              <a:ext cx="0" cy="435"/>
            </a:xfrm>
            <a:prstGeom prst="line">
              <a:avLst/>
            </a:prstGeom>
            <a:ln w="12700">
              <a:solidFill>
                <a:srgbClr val="F59E0B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8258" y="5739"/>
              <a:ext cx="0" cy="435"/>
            </a:xfrm>
            <a:prstGeom prst="line">
              <a:avLst/>
            </a:prstGeom>
            <a:ln w="12700">
              <a:solidFill>
                <a:srgbClr val="F59E0B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8825" y="5724"/>
              <a:ext cx="0" cy="435"/>
            </a:xfrm>
            <a:prstGeom prst="line">
              <a:avLst/>
            </a:prstGeom>
            <a:ln w="12700">
              <a:solidFill>
                <a:srgbClr val="F59E0B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5" name="右箭头 84"/>
            <p:cNvSpPr/>
            <p:nvPr/>
          </p:nvSpPr>
          <p:spPr>
            <a:xfrm>
              <a:off x="5423" y="5880"/>
              <a:ext cx="227" cy="119"/>
            </a:xfrm>
            <a:prstGeom prst="rightArrow">
              <a:avLst>
                <a:gd name="adj1" fmla="val 32773"/>
                <a:gd name="adj2" fmla="val 49579"/>
              </a:avLst>
            </a:prstGeom>
            <a:solidFill>
              <a:srgbClr val="94A3B8"/>
            </a:solidFill>
            <a:ln w="12700">
              <a:solidFill>
                <a:srgbClr val="94A3B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card-112-276"/>
            <p:cNvSpPr>
              <a:spLocks noGrp="1"/>
            </p:cNvSpPr>
            <p:nvPr/>
          </p:nvSpPr>
          <p:spPr>
            <a:xfrm>
              <a:off x="7237" y="5814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>
              <a:solidFill>
                <a:srgbClr val="94A3B8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S1</a:t>
              </a:r>
              <a:endPara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7" name="card-138-276"/>
            <p:cNvSpPr>
              <a:spLocks noGrp="1"/>
            </p:cNvSpPr>
            <p:nvPr/>
          </p:nvSpPr>
          <p:spPr>
            <a:xfrm>
              <a:off x="7804" y="5814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>
              <a:solidFill>
                <a:srgbClr val="94A3B8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47556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S2</a:t>
              </a:r>
              <a:endPara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8" name="card-164-276"/>
            <p:cNvSpPr>
              <a:spLocks noGrp="1"/>
            </p:cNvSpPr>
            <p:nvPr/>
          </p:nvSpPr>
          <p:spPr>
            <a:xfrm>
              <a:off x="8371" y="5814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 w="14288">
              <a:solidFill>
                <a:srgbClr val="EF4444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91B1B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E3</a:t>
              </a:r>
              <a:endPara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9" name="card-190-276"/>
            <p:cNvSpPr>
              <a:spLocks noGrp="1"/>
            </p:cNvSpPr>
            <p:nvPr/>
          </p:nvSpPr>
          <p:spPr>
            <a:xfrm>
              <a:off x="8938" y="5814"/>
              <a:ext cx="360" cy="27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9525">
              <a:solidFill>
                <a:srgbClr val="F59E0B"/>
              </a:solidFill>
              <a:prstDash val="solid"/>
            </a:ln>
          </p:spPr>
          <p:txBody>
            <a:bodyPr wrap="square" lIns="57150" tIns="9525" rIns="38100" bIns="9525" anchor="ctr">
              <a:noAutofit/>
            </a:bodyPr>
            <a:lstStyle/>
            <a:p>
              <a:pPr algn="ctr">
                <a:buNone/>
                <a:defRPr sz="565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defRPr>
              </a:pPr>
              <a:r>
                <a:rPr sz="565" b="1">
                  <a:solidFill>
                    <a:srgbClr val="92400E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R4</a:t>
              </a:r>
              <a:endPara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9392" y="5724"/>
              <a:ext cx="0" cy="435"/>
            </a:xfrm>
            <a:prstGeom prst="line">
              <a:avLst/>
            </a:prstGeom>
            <a:ln w="12700">
              <a:solidFill>
                <a:srgbClr val="F59E0B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2" name="文本框 91"/>
            <p:cNvSpPr txBox="1"/>
            <p:nvPr/>
          </p:nvSpPr>
          <p:spPr>
            <a:xfrm>
              <a:off x="9505" y="5814"/>
              <a:ext cx="340" cy="2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 fontAlgn="auto">
                <a:lnSpc>
                  <a:spcPct val="50000"/>
                </a:lnSpc>
              </a:pPr>
              <a:r>
                <a:rPr lang="en-US" altLang="zh-CN" sz="1200"/>
                <a:t>…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51294" dir="4091915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3567</Words>
  <Application>WPS 演示</Application>
  <PresentationFormat>Converted Presentation</PresentationFormat>
  <Paragraphs>354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Segoe UI</vt:lpstr>
      <vt:lpstr>Calibri</vt:lpstr>
      <vt:lpstr>微软雅黑</vt:lpstr>
      <vt:lpstr>Arial Unicode MS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某石</cp:lastModifiedBy>
  <cp:revision>139</cp:revision>
  <dcterms:created xsi:type="dcterms:W3CDTF">2026-09-22T17:26:00Z</dcterms:created>
  <dcterms:modified xsi:type="dcterms:W3CDTF">2026-09-23T16:49:22Z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03C558085EB9403792955B5E0EE86CDD_12</vt:lpwstr>
  </property>
  <property fmtid="{D5CDD505-2E9C-101B-9397-08002B2CF9AE}" pid="3" name="KSOProductBuildVer">
    <vt:lpwstr>2052-12.1.0.28505</vt:lpwstr>
  </property>
</Properties>
</file>